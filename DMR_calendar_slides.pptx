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32"/>
  </p:notesMasterIdLst>
  <p:sldIdLst>
    <p:sldId id="315" r:id="rId6"/>
    <p:sldId id="316" r:id="rId7"/>
    <p:sldId id="367" r:id="rId8"/>
    <p:sldId id="347" r:id="rId9"/>
    <p:sldId id="348" r:id="rId10"/>
    <p:sldId id="356" r:id="rId11"/>
    <p:sldId id="355" r:id="rId12"/>
    <p:sldId id="354" r:id="rId13"/>
    <p:sldId id="353" r:id="rId14"/>
    <p:sldId id="352" r:id="rId15"/>
    <p:sldId id="351" r:id="rId16"/>
    <p:sldId id="350" r:id="rId17"/>
    <p:sldId id="357" r:id="rId18"/>
    <p:sldId id="349" r:id="rId19"/>
    <p:sldId id="358" r:id="rId20"/>
    <p:sldId id="359" r:id="rId21"/>
    <p:sldId id="368" r:id="rId22"/>
    <p:sldId id="363" r:id="rId23"/>
    <p:sldId id="364" r:id="rId24"/>
    <p:sldId id="365" r:id="rId25"/>
    <p:sldId id="360" r:id="rId26"/>
    <p:sldId id="361" r:id="rId27"/>
    <p:sldId id="362" r:id="rId28"/>
    <p:sldId id="366" r:id="rId29"/>
    <p:sldId id="369" r:id="rId30"/>
    <p:sldId id="327" r:id="rId31"/>
  </p:sldIdLst>
  <p:sldSz cx="12192000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401">
          <p15:clr>
            <a:srgbClr val="A4A3A4"/>
          </p15:clr>
        </p15:guide>
        <p15:guide id="2" orient="horz" pos="41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5C5C"/>
    <a:srgbClr val="7D7D7D"/>
    <a:srgbClr val="00CC99"/>
    <a:srgbClr val="AFD7FF"/>
    <a:srgbClr val="D9ECFF"/>
    <a:srgbClr val="99CCFF"/>
    <a:srgbClr val="FFFFCC"/>
    <a:srgbClr val="D3F5EE"/>
    <a:srgbClr val="A50021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Stile chiaro 2 - Color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65" autoAdjust="0"/>
  </p:normalViewPr>
  <p:slideViewPr>
    <p:cSldViewPr snapToGrid="0" showGuides="1">
      <p:cViewPr varScale="1">
        <p:scale>
          <a:sx n="107" d="100"/>
          <a:sy n="107" d="100"/>
        </p:scale>
        <p:origin x="138" y="144"/>
      </p:cViewPr>
      <p:guideLst>
        <p:guide pos="7401"/>
        <p:guide orient="horz" pos="41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54000" cy="54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heme" Target="theme/theme1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C5F835E2-227D-43BA-B3A5-E9E433264387}" type="datetimeFigureOut">
              <a:rPr lang="en-US"/>
              <a:pPr>
                <a:defRPr/>
              </a:pPr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5F5882C-B867-4FE7-97C9-87FBF93DC802}" type="slidenum">
              <a:rPr lang="en-US"/>
              <a:pPr>
                <a:defRPr/>
              </a:pPr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ert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71070" y="2621956"/>
            <a:ext cx="9818337" cy="2782819"/>
          </a:xfrm>
          <a:effectLst/>
        </p:spPr>
        <p:txBody>
          <a:bodyPr lIns="0" tIns="0" rIns="0" bIns="0" anchor="ctr">
            <a:normAutofit/>
          </a:bodyPr>
          <a:lstStyle>
            <a:lvl1pPr>
              <a:lnSpc>
                <a:spcPts val="3600"/>
              </a:lnSpc>
              <a:defRPr sz="3400" b="0" cap="none">
                <a:solidFill>
                  <a:srgbClr val="C0000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it-IT" dirty="0"/>
              <a:t>FARE CLIC PER MODIFICARE LO STILE DEL TITOLO DELLO SCHEMA FARE CLIC PER MODIFICARE LO STILE DEL TITOLO DELLO SCHEMA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84E50FF-EF10-4A0E-8686-237E66B24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84" y="6495314"/>
            <a:ext cx="7481115" cy="179536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400"/>
              </a:lnSpc>
              <a:spcAft>
                <a:spcPts val="200"/>
              </a:spcAft>
              <a:buNone/>
              <a:defRPr sz="11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71492F8-659D-4E4C-A49D-B7C56753911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69185" y="1287956"/>
            <a:ext cx="3689746" cy="216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ts val="1500"/>
              </a:lnSpc>
              <a:spcAft>
                <a:spcPts val="600"/>
              </a:spcAft>
              <a:buNone/>
              <a:defRPr lang="it-IT" sz="1200" dirty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384E50FF-EF10-4A0E-8686-237E66B249C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69184" y="1522956"/>
            <a:ext cx="3689747" cy="1080000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0">
                <a:solidFill>
                  <a:srgbClr val="636462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84E50FF-EF10-4A0E-8686-237E66B249C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69184" y="6297672"/>
            <a:ext cx="7481115" cy="188513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400"/>
              </a:lnSpc>
              <a:spcAft>
                <a:spcPts val="200"/>
              </a:spcAft>
              <a:buNone/>
              <a:defRPr sz="1400" b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A8FC9CB7-7D84-419A-988C-7B8817E18EDB}"/>
              </a:ext>
            </a:extLst>
          </p:cNvPr>
          <p:cNvSpPr/>
          <p:nvPr userDrawn="1"/>
        </p:nvSpPr>
        <p:spPr>
          <a:xfrm>
            <a:off x="463550" y="0"/>
            <a:ext cx="3708400" cy="1089025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F57BA760-D00A-4F5B-B978-07F3F810367F}"/>
              </a:ext>
            </a:extLst>
          </p:cNvPr>
          <p:cNvSpPr/>
          <p:nvPr userDrawn="1"/>
        </p:nvSpPr>
        <p:spPr>
          <a:xfrm>
            <a:off x="4251325" y="0"/>
            <a:ext cx="3706813" cy="1089025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17FA033-79E9-4921-B88E-03D9DAACCE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50841" y="637832"/>
            <a:ext cx="2700000" cy="461927"/>
          </a:xfrm>
          <a:prstGeom prst="rect">
            <a:avLst/>
          </a:prstGeom>
        </p:spPr>
      </p:pic>
      <p:sp>
        <p:nvSpPr>
          <p:cNvPr id="16" name="Rectangle 9">
            <a:extLst>
              <a:ext uri="{FF2B5EF4-FFF2-40B4-BE49-F238E27FC236}">
                <a16:creationId xmlns:a16="http://schemas.microsoft.com/office/drawing/2014/main" id="{821E4C3A-67D5-4B9E-B373-7B560EA0839E}"/>
              </a:ext>
            </a:extLst>
          </p:cNvPr>
          <p:cNvSpPr/>
          <p:nvPr userDrawn="1"/>
        </p:nvSpPr>
        <p:spPr>
          <a:xfrm>
            <a:off x="8037513" y="0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55998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 o elenco punt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201" y="1557338"/>
            <a:ext cx="11264002" cy="4481153"/>
          </a:xfrm>
        </p:spPr>
        <p:txBody>
          <a:bodyPr lIns="0" tIns="0" rIns="0" bIns="0">
            <a:noAutofit/>
          </a:bodyPr>
          <a:lstStyle>
            <a:lvl1pPr marL="285750" indent="-285750">
              <a:spcAft>
                <a:spcPts val="1800"/>
              </a:spcAft>
              <a:buSzPct val="120000"/>
              <a:buFont typeface="Courier New" panose="02070309020205020404" pitchFamily="49" charset="0"/>
              <a:buChar char="o"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2053620-96AC-EF47-823B-D2E90BBCE5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F4E3F12-6C4D-C642-90EC-9F9AE3161A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6BE73488-10D2-46C5-8886-B5262B4036E9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9DFCC48B-BCC3-4AAB-8EE4-592BE912D5A8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2EE5703-F2FA-4A41-8927-030A564B0F80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39054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7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1 colon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201" y="1557338"/>
            <a:ext cx="11264002" cy="447252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6F2967F-3AC1-482F-9FA1-FB5058EE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BB147208-B303-4867-B415-427BFDB712AA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3AC1916D-DE81-4DEB-837D-9B1EBBEBAB9E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EA5C2815-3F5D-4F03-A9B8-AD61D140AB8F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211B9727-26D5-42C6-AA8E-16F0A9551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3DB52600-6114-4FF8-A64F-1419078C06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C98E623A-5D96-4DDD-91E6-E567C5082E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028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6" y="1557338"/>
            <a:ext cx="11276765" cy="4472526"/>
          </a:xfrm>
        </p:spPr>
        <p:txBody>
          <a:bodyPr lIns="0" tIns="0" rIns="0" bIns="0" numCol="2" spcCol="54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85F80FCE-DB62-4AE9-8E37-C5ECE83CEA2A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5337BA55-D4F4-482D-9902-A7DF343CF4BD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1E77F523-A47D-4ED1-A730-DF5462674088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35A5DA5-9B3D-430B-9B7D-12A49C8960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C87520E-C40B-4CBE-A2FA-D2587AA999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98ED1510-B77E-4E58-8FB2-F06301CA45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588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7" y="1557337"/>
            <a:ext cx="11269308" cy="4392613"/>
          </a:xfrm>
        </p:spPr>
        <p:txBody>
          <a:bodyPr lIns="0" tIns="0" rIns="0" bIns="0" numCol="3" spcCol="432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A97EA33F-8FE6-43F7-B87B-F8A75881DC82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4457ED34-8FD7-4334-B58D-DE5268F487BB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DE95361B-2753-4630-8435-D8D6DFA2E2B3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953CB5C-8C23-4943-AA23-507887A04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2EA2B975-3B1B-40A2-9512-420987E41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FD83117-18D4-4F50-B150-B24C3ADCCA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207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+grafico picc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8081963" y="1557338"/>
            <a:ext cx="3653783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7519" y="1557338"/>
            <a:ext cx="7305513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FE997AC-2DEF-4982-9219-0DE8E80C2C1D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162224" y="1696688"/>
            <a:ext cx="3492000" cy="45720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5014FC49-70B3-48C6-AAEA-1B6DEB762B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62222" y="2261938"/>
            <a:ext cx="3492000" cy="36000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BFF0EAD9-FB2A-4B10-AC7E-2867676F5114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4DE85F56-C820-4265-A4F2-F29B8154D702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6D6C4BEC-89CF-43B7-9CD5-49EE71B27928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65B96CC-8D49-494F-9C8A-BD85351377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C1DD249C-FFFA-4674-9CB5-ABEFDF5041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48756CF5-11CA-40E9-BF7A-4F15C16E3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217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piccolo+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4251325" y="1557338"/>
            <a:ext cx="7485063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895" y="1557338"/>
            <a:ext cx="3528947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E25EF9-674A-4A68-B7E8-41ACE37CAFAA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4366950" y="1679423"/>
            <a:ext cx="7253812" cy="457386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CFAF2C-DE26-450A-8C7B-A22A26FF4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66949" y="2165685"/>
            <a:ext cx="7253813" cy="370416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D9D4E6DC-14B8-4843-AA1D-57AA39AE5B3E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91CC3821-0B1E-41AB-852F-4CB74E2EA3CC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75FDA81B-88AF-4AF4-8B43-18134CE8E446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A12972DC-41D2-4C0E-AD61-A73383B82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51A03A1C-8D78-4F26-8F73-B711C52ED0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6C03E07E-3B47-479C-ADF1-A58628B5A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0569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 + colonna libera a des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473075" y="1557338"/>
            <a:ext cx="7485063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07439" y="1560749"/>
            <a:ext cx="3528947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E25EF9-674A-4A68-B7E8-41ACE37CAFAA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588700" y="1679423"/>
            <a:ext cx="7253812" cy="457386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CFAF2C-DE26-450A-8C7B-A22A26FF4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699" y="2165685"/>
            <a:ext cx="7253813" cy="370416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D9D4E6DC-14B8-4843-AA1D-57AA39AE5B3E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91CC3821-0B1E-41AB-852F-4CB74E2EA3CC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75FDA81B-88AF-4AF4-8B43-18134CE8E446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A12972DC-41D2-4C0E-AD61-A73383B82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51A03A1C-8D78-4F26-8F73-B711C52ED0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B3668A3-50F9-4865-BCB1-15BD808B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22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04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testo+metà 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6256216" y="1557338"/>
            <a:ext cx="5472000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6" y="1557338"/>
            <a:ext cx="5472000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BE1843A-CB5F-4920-B032-23C22AAE931F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6376432" y="1684420"/>
            <a:ext cx="5231635" cy="457200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22E57A97-B19C-4884-84CD-94CF8F6244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6432" y="2220577"/>
            <a:ext cx="5231636" cy="3620398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EBDED907-CBCE-4C48-8974-1732296AB56B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1D4BD23-7064-4A1A-B3B8-22936DC971AB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45DD4428-CB25-4CE0-B3BD-9E45A9B024CE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ACFFE7A2-271E-4180-8862-1207E565D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0A34ABB8-E594-41C5-B46B-F19275F5E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EB9757BE-24B5-4D77-9B24-FA598161B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147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immagini affianc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C2F57ACB-1A9A-42A2-B0B9-3C24FCCE916F}"/>
              </a:ext>
            </a:extLst>
          </p:cNvPr>
          <p:cNvSpPr/>
          <p:nvPr userDrawn="1"/>
        </p:nvSpPr>
        <p:spPr>
          <a:xfrm>
            <a:off x="471488" y="1571124"/>
            <a:ext cx="5472112" cy="4392000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0C542E8-A419-4B8E-8AE4-1D0DC75ADF26}"/>
              </a:ext>
            </a:extLst>
          </p:cNvPr>
          <p:cNvSpPr>
            <a:spLocks noGrp="1"/>
          </p:cNvSpPr>
          <p:nvPr>
            <p:ph type="body" sz="half" idx="12" hasCustomPrompt="1"/>
          </p:nvPr>
        </p:nvSpPr>
        <p:spPr>
          <a:xfrm>
            <a:off x="562922" y="1691683"/>
            <a:ext cx="5304733" cy="387373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3F3446B5-6360-4947-B444-A1DBFD65527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562922" y="2172243"/>
            <a:ext cx="5304733" cy="3668732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D17306DB-EF2B-46DB-BE4C-67BA4581EC8A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27663729-5A18-460D-BCC5-1C121255BEC2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9">
            <a:extLst>
              <a:ext uri="{FF2B5EF4-FFF2-40B4-BE49-F238E27FC236}">
                <a16:creationId xmlns:a16="http://schemas.microsoft.com/office/drawing/2014/main" id="{88AE038F-3265-4340-AFAF-203DBF97366C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5203E877-BB68-4C3E-A95D-262A3B3831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DDB77A0D-9AB4-48A1-82C5-A09A7D4F72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ABB3C7F1-D02D-4858-A51B-B1211EF06EF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323469" y="6405108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2E11952F-B65E-4BC4-A306-BA5F2E5E1051}"/>
              </a:ext>
            </a:extLst>
          </p:cNvPr>
          <p:cNvSpPr/>
          <p:nvPr userDrawn="1"/>
        </p:nvSpPr>
        <p:spPr>
          <a:xfrm>
            <a:off x="6256216" y="1557338"/>
            <a:ext cx="5472000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0FF5994-804D-479E-8547-F402AE8DD1DD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6376432" y="1684420"/>
            <a:ext cx="5231635" cy="457200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4C0547B4-6D28-4C23-830C-984AB52D9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6432" y="2220577"/>
            <a:ext cx="5231636" cy="3620398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3205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dascalia+grafico o tavola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6" y="1557338"/>
            <a:ext cx="11283042" cy="66255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786" y="2319687"/>
            <a:ext cx="11283042" cy="3630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D0FB10A6-C138-494B-9E13-24A27B8289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4B33C25-F53C-40FF-87FE-5A1021509E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96897485-CF07-4D6A-ABB8-A29D7DC57109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BC91E05A-8494-49B6-B257-61F68DA8B315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422199A7-2A62-43D5-872A-CD0B9A3D6E61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1B2ED1D9-25D5-4BB7-87C2-D519D933636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9949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18A4B74D-95FF-4ECC-AED0-C183993F87B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8324380-A91B-40DB-8B06-87F1716A8E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376CEDB-6160-4575-AAD8-45EA5C0ED5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22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ngraziamen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3786" y="1796902"/>
            <a:ext cx="11283042" cy="1839433"/>
          </a:xfrm>
          <a:effectLst/>
        </p:spPr>
        <p:txBody>
          <a:bodyPr anchor="ctr">
            <a:noAutofit/>
          </a:bodyPr>
          <a:lstStyle>
            <a:lvl1pPr algn="ctr">
              <a:defRPr sz="7000" b="0" cap="none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94EA2-4831-F84E-BBDE-8E89A3516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96093" y="3683529"/>
            <a:ext cx="5624623" cy="423612"/>
          </a:xfrm>
        </p:spPr>
        <p:txBody>
          <a:bodyPr spcCol="360000" anchor="ctr">
            <a:noAutofit/>
          </a:bodyPr>
          <a:lstStyle>
            <a:lvl1pPr marL="0" indent="0" algn="ctr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02837C0E-8F15-489B-800B-6F1CBBB23F06}"/>
              </a:ext>
            </a:extLst>
          </p:cNvPr>
          <p:cNvSpPr/>
          <p:nvPr userDrawn="1"/>
        </p:nvSpPr>
        <p:spPr>
          <a:xfrm>
            <a:off x="463550" y="5773825"/>
            <a:ext cx="3708400" cy="1089025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1C3885B9-D4F0-42E8-A6EE-EB419237E845}"/>
              </a:ext>
            </a:extLst>
          </p:cNvPr>
          <p:cNvSpPr/>
          <p:nvPr userDrawn="1"/>
        </p:nvSpPr>
        <p:spPr>
          <a:xfrm>
            <a:off x="4251325" y="5773825"/>
            <a:ext cx="3706813" cy="1089025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1F54AFB7-6D67-44BA-975B-F9E2C29BB4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50841" y="6092375"/>
            <a:ext cx="2700000" cy="461927"/>
          </a:xfrm>
          <a:prstGeom prst="rect">
            <a:avLst/>
          </a:prstGeom>
        </p:spPr>
      </p:pic>
      <p:sp>
        <p:nvSpPr>
          <p:cNvPr id="12" name="Rectangle 9">
            <a:extLst>
              <a:ext uri="{FF2B5EF4-FFF2-40B4-BE49-F238E27FC236}">
                <a16:creationId xmlns:a16="http://schemas.microsoft.com/office/drawing/2014/main" id="{B4CD4512-1FFA-4544-ACEE-31F0A9CA9D05}"/>
              </a:ext>
            </a:extLst>
          </p:cNvPr>
          <p:cNvSpPr/>
          <p:nvPr userDrawn="1"/>
        </p:nvSpPr>
        <p:spPr>
          <a:xfrm>
            <a:off x="8037513" y="6790850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47396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508000" y="939800"/>
            <a:ext cx="11204575" cy="53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/>
              <a:t>Fare clic per modificare lo stile del titolo dello schema</a:t>
            </a:r>
            <a:endParaRPr lang="en-US" altLang="it-IT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08000" y="2103438"/>
            <a:ext cx="11204575" cy="356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/>
              <a:t>Fare clic per modificare gli stili del testo dello schema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0" r:id="rId8"/>
    <p:sldLayoutId id="2147483714" r:id="rId9"/>
    <p:sldLayoutId id="2147483716" r:id="rId10"/>
    <p:sldLayoutId id="2147483715" r:id="rId11"/>
    <p:sldLayoutId id="2147483717" r:id="rId12"/>
    <p:sldLayoutId id="2147483718" r:id="rId13"/>
  </p:sldLayoutIdLst>
  <p:hf hdr="0" dt="0"/>
  <p:txStyles>
    <p:titleStyle>
      <a:lvl1pPr algn="l" defTabSz="457200" rtl="0" fontAlgn="base">
        <a:spcBef>
          <a:spcPct val="0"/>
        </a:spcBef>
        <a:spcAft>
          <a:spcPct val="0"/>
        </a:spcAft>
        <a:defRPr sz="2400" b="1" kern="1200">
          <a:solidFill>
            <a:srgbClr val="59595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457200" rtl="0" fontAlgn="t">
        <a:spcBef>
          <a:spcPct val="0"/>
        </a:spcBef>
        <a:spcAft>
          <a:spcPts val="1200"/>
        </a:spcAft>
        <a:buClr>
          <a:srgbClr val="CC2A2A"/>
        </a:buClr>
        <a:buSzPct val="100000"/>
        <a:defRPr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23850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6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28650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4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006475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2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366838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2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0BFAD7-8051-44E7-952E-F8647A1CB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9070" y="2449236"/>
            <a:ext cx="9818337" cy="2782819"/>
          </a:xfrm>
        </p:spPr>
        <p:txBody>
          <a:bodyPr>
            <a:normAutofit/>
          </a:bodyPr>
          <a:lstStyle/>
          <a:p>
            <a:r>
              <a:rPr lang="en-US" sz="4000" b="1" dirty="0"/>
              <a:t>Building calendars for daily seasonal adjustment:</a:t>
            </a:r>
          </a:p>
          <a:p>
            <a:r>
              <a:rPr lang="en-US" sz="2800" b="1" dirty="0"/>
              <a:t>lessons from electronic invoicing and electricity demand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353B436-6816-4A46-BDBE-42E64EB27CB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it-IT" sz="2400" b="1" dirty="0">
                <a:solidFill>
                  <a:schemeClr val="tx1"/>
                </a:solidFill>
              </a:rPr>
              <a:t>COSA MEETING #5</a:t>
            </a:r>
            <a:endParaRPr lang="it-IT" sz="2400" dirty="0">
              <a:solidFill>
                <a:schemeClr val="tx1"/>
              </a:solidFill>
            </a:endParaRP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F54B89B-F96C-4A34-BA9E-083269BE1EC8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69184" y="1287956"/>
            <a:ext cx="4316175" cy="235000"/>
          </a:xfrm>
        </p:spPr>
        <p:txBody>
          <a:bodyPr/>
          <a:lstStyle/>
          <a:p>
            <a:r>
              <a:rPr lang="it-IT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PARIS, December 2026</a:t>
            </a:r>
          </a:p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DFE67CC-0EAE-4BEC-A961-535FE506A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84" y="6231547"/>
            <a:ext cx="11499296" cy="375744"/>
          </a:xfrm>
        </p:spPr>
        <p:txBody>
          <a:bodyPr/>
          <a:lstStyle/>
          <a:p>
            <a:r>
              <a:rPr lang="it-IT" sz="1600" dirty="0"/>
              <a:t>Istat | </a:t>
            </a:r>
            <a:r>
              <a:rPr lang="en-US" sz="1600" dirty="0"/>
              <a:t>Directorate For Methodology and Statistical Process Design</a:t>
            </a:r>
            <a:br>
              <a:rPr lang="en-US" sz="1600" dirty="0"/>
            </a:br>
            <a:endParaRPr lang="it-IT" sz="1600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1D87B255-EFEE-4DEF-9FE3-EB4831764892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469184" y="5888645"/>
            <a:ext cx="7481115" cy="226985"/>
          </a:xfrm>
        </p:spPr>
        <p:txBody>
          <a:bodyPr/>
          <a:lstStyle/>
          <a:p>
            <a:r>
              <a:rPr lang="it-IT" sz="2400" b="1" dirty="0">
                <a:solidFill>
                  <a:schemeClr val="tx1"/>
                </a:solidFill>
              </a:rPr>
              <a:t>ALESSANDRO PIOVANI</a:t>
            </a:r>
            <a:r>
              <a:rPr lang="it-IT" sz="2400" dirty="0">
                <a:solidFill>
                  <a:schemeClr val="tx1"/>
                </a:solidFill>
              </a:rPr>
              <a:t> | alessandro.piovani@istat.it</a:t>
            </a:r>
          </a:p>
        </p:txBody>
      </p:sp>
    </p:spTree>
    <p:extLst>
      <p:ext uri="{BB962C8B-B14F-4D97-AF65-F5344CB8AC3E}">
        <p14:creationId xmlns:p14="http://schemas.microsoft.com/office/powerpoint/2010/main" val="2730702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C192045E-FB8C-4B8C-AEFC-06A390A8A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95" y="494562"/>
            <a:ext cx="11269308" cy="393634"/>
          </a:xfrm>
        </p:spPr>
        <p:txBody>
          <a:bodyPr/>
          <a:lstStyle/>
          <a:p>
            <a:r>
              <a:rPr lang="it-IT" sz="3600" dirty="0" err="1">
                <a:solidFill>
                  <a:srgbClr val="C00000"/>
                </a:solidFill>
              </a:rPr>
              <a:t>Why the calendar matters in daily data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4AD171A-D6C0-40CA-B56A-13604AFE40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8" name="Segnaposto testo 1">
            <a:extLst>
              <a:ext uri="{FF2B5EF4-FFF2-40B4-BE49-F238E27FC236}">
                <a16:creationId xmlns:a16="http://schemas.microsoft.com/office/drawing/2014/main" id="{3C757EAB-927E-4F42-BD79-C4C674080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469" y="1234440"/>
            <a:ext cx="7260336" cy="4206240"/>
          </a:xfrm>
        </p:spPr>
        <p:txBody>
          <a:bodyPr/>
          <a:lstStyle/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Monthly data average special days out; daily data expose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every special day</a:t>
            </a: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: holidays, month end, payment deadlines</a:t>
            </a:r>
          </a:p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Effects are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large</a:t>
            </a: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 and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differ by day of the week</a:t>
            </a:r>
          </a:p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US" sz="2400" b="1" dirty="0"/>
              <a:t>Keep outliers and calendar effects apart:</a:t>
            </a:r>
            <a:r>
              <a:rPr lang="en-US" sz="2400" dirty="0"/>
              <a:t> an outlier on a holiday or a nearby day (e.g. a bridge) signals a </a:t>
            </a:r>
            <a:r>
              <a:rPr lang="en-US" sz="2400" dirty="0" err="1"/>
              <a:t>misspecified</a:t>
            </a:r>
            <a:r>
              <a:rPr lang="en-US" sz="2400" dirty="0"/>
              <a:t> calendar, not an unusual event</a:t>
            </a:r>
          </a:p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Check the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adjusted series</a:t>
            </a: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, not only the coefficients: a significant coefficient can still leave a residual pattern</a:t>
            </a:r>
          </a:p>
        </p:txBody>
      </p:sp>
      <p:sp>
        <p:nvSpPr>
          <p:cNvPr id="20" name="Stat card 1"/>
          <p:cNvSpPr/>
          <p:nvPr/>
        </p:nvSpPr>
        <p:spPr>
          <a:xfrm>
            <a:off x="7726680" y="1463040"/>
            <a:ext cx="397764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Stat value 1"/>
          <p:cNvSpPr txBox="1"/>
          <p:nvPr/>
        </p:nvSpPr>
        <p:spPr>
          <a:xfrm>
            <a:off x="8001000" y="160020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5400" b="1" i="0" dirty="0">
                <a:solidFill>
                  <a:srgbClr val="C00000"/>
                </a:solidFill>
                <a:latin typeface="Arial"/>
                <a:cs typeface="Arial"/>
              </a:rPr>
              <a:t>×8.6</a:t>
            </a:r>
          </a:p>
        </p:txBody>
      </p:sp>
      <p:sp>
        <p:nvSpPr>
          <p:cNvPr id="22" name="Stat label 1"/>
          <p:cNvSpPr txBox="1"/>
          <p:nvPr/>
        </p:nvSpPr>
        <p:spPr>
          <a:xfrm>
            <a:off x="8001000" y="254203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Last day of the month, weekday</a:t>
            </a:r>
          </a:p>
        </p:txBody>
      </p:sp>
      <p:sp>
        <p:nvSpPr>
          <p:cNvPr id="23" name="Stat card 2"/>
          <p:cNvSpPr/>
          <p:nvPr/>
        </p:nvSpPr>
        <p:spPr>
          <a:xfrm>
            <a:off x="7726680" y="3337560"/>
            <a:ext cx="397764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4" name="Stat value 2"/>
          <p:cNvSpPr txBox="1"/>
          <p:nvPr/>
        </p:nvSpPr>
        <p:spPr>
          <a:xfrm>
            <a:off x="8001000" y="347472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5400" b="1" i="0" dirty="0">
                <a:solidFill>
                  <a:srgbClr val="942639"/>
                </a:solidFill>
                <a:latin typeface="Arial"/>
                <a:cs typeface="Arial"/>
              </a:rPr>
              <a:t>×69</a:t>
            </a:r>
          </a:p>
        </p:txBody>
      </p:sp>
      <p:sp>
        <p:nvSpPr>
          <p:cNvPr id="25" name="Stat label 2"/>
          <p:cNvSpPr txBox="1"/>
          <p:nvPr/>
        </p:nvSpPr>
        <p:spPr>
          <a:xfrm>
            <a:off x="8001000" y="441655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Last day of the month, Sunday</a:t>
            </a:r>
          </a:p>
        </p:txBody>
      </p:sp>
      <p:sp>
        <p:nvSpPr>
          <p:cNvPr id="30" name="Stat caption"/>
          <p:cNvSpPr txBox="1"/>
          <p:nvPr/>
        </p:nvSpPr>
        <p:spPr>
          <a:xfrm>
            <a:off x="7726680" y="5285232"/>
            <a:ext cx="3977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E-invoicing, 2019-2025: effect relative to a normal day of the same type</a:t>
            </a:r>
          </a:p>
        </p:txBody>
      </p:sp>
    </p:spTree>
    <p:extLst>
      <p:ext uri="{BB962C8B-B14F-4D97-AF65-F5344CB8AC3E}">
        <p14:creationId xmlns:p14="http://schemas.microsoft.com/office/powerpoint/2010/main" val="4253619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Two daily series, two decompositions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Series name 1"/>
          <p:cNvSpPr txBox="1"/>
          <p:nvPr/>
        </p:nvSpPr>
        <p:spPr>
          <a:xfrm>
            <a:off x="466344" y="1280160"/>
            <a:ext cx="5486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E-invoicing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2019–2025, daily taxable amount</a:t>
            </a:r>
          </a:p>
        </p:txBody>
      </p:sp>
      <p:sp>
        <p:nvSpPr>
          <p:cNvPr id="21" name="Model 1"/>
          <p:cNvSpPr txBox="1"/>
          <p:nvPr/>
        </p:nvSpPr>
        <p:spPr>
          <a:xfrm>
            <a:off x="466344" y="1691640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C00000"/>
                </a:solidFill>
                <a:latin typeface="Arial"/>
                <a:cs typeface="Arial"/>
              </a:rPr>
              <a:t>Multiplicative model (logs)</a:t>
            </a:r>
          </a:p>
        </p:txBody>
      </p:sp>
      <p:pic>
        <p:nvPicPr>
          <p:cNvPr id="22" name="Raw and SA 1" descr="Raw and seasonally and calendar adjusted e-invoicing, 2019-20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2103120"/>
            <a:ext cx="5486400" cy="2741748"/>
          </a:xfrm>
          <a:prstGeom prst="rect">
            <a:avLst/>
          </a:prstGeom>
        </p:spPr>
      </p:pic>
      <p:sp>
        <p:nvSpPr>
          <p:cNvPr id="23" name="Decomposition 1"/>
          <p:cNvSpPr txBox="1"/>
          <p:nvPr/>
        </p:nvSpPr>
        <p:spPr>
          <a:xfrm>
            <a:off x="466344" y="4890588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595959"/>
                </a:solidFill>
                <a:latin typeface="Arial"/>
                <a:cs typeface="Arial"/>
              </a:rPr>
              <a:t>Raw = trend × seasonal × calendar × irregular: the adjustment divides.</a:t>
            </a:r>
          </a:p>
        </p:txBody>
      </p:sp>
      <p:sp>
        <p:nvSpPr>
          <p:cNvPr id="30" name="Series name 2"/>
          <p:cNvSpPr txBox="1"/>
          <p:nvPr/>
        </p:nvSpPr>
        <p:spPr>
          <a:xfrm>
            <a:off x="6236208" y="1280160"/>
            <a:ext cx="5486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Electricity demand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2012–2025, daily MWh</a:t>
            </a:r>
          </a:p>
        </p:txBody>
      </p:sp>
      <p:sp>
        <p:nvSpPr>
          <p:cNvPr id="31" name="Model 2"/>
          <p:cNvSpPr txBox="1"/>
          <p:nvPr/>
        </p:nvSpPr>
        <p:spPr>
          <a:xfrm>
            <a:off x="6236208" y="1691640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C00000"/>
                </a:solidFill>
                <a:latin typeface="Arial"/>
                <a:cs typeface="Arial"/>
              </a:rPr>
              <a:t>Additive model (levels)</a:t>
            </a:r>
          </a:p>
        </p:txBody>
      </p:sp>
      <p:pic>
        <p:nvPicPr>
          <p:cNvPr id="32" name="Raw and SA 2" descr="Raw and seasonally and calendar adjusted electricity demand, 2012-20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103120"/>
            <a:ext cx="5486400" cy="2741748"/>
          </a:xfrm>
          <a:prstGeom prst="rect">
            <a:avLst/>
          </a:prstGeom>
        </p:spPr>
      </p:pic>
      <p:sp>
        <p:nvSpPr>
          <p:cNvPr id="33" name="Decomposition 2"/>
          <p:cNvSpPr txBox="1"/>
          <p:nvPr/>
        </p:nvSpPr>
        <p:spPr>
          <a:xfrm>
            <a:off x="6236208" y="4890588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595959"/>
                </a:solidFill>
                <a:latin typeface="Arial"/>
                <a:cs typeface="Arial"/>
              </a:rPr>
              <a:t>Raw = trend + seasonal + calendar + irregular: the adjustment subtracts.</a:t>
            </a:r>
          </a:p>
        </p:txBody>
      </p:sp>
      <p:sp>
        <p:nvSpPr>
          <p:cNvPr id="50" name="Caption"/>
          <p:cNvSpPr txBox="1"/>
          <p:nvPr/>
        </p:nvSpPr>
        <p:spPr>
          <a:xfrm>
            <a:off x="466344" y="562356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Raw (yellow) and seasonally and calendar adjusted series (green), final calendar. Sequential AMB: weekly, then annual seasonality; logs or levels chosen by AICc.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The Day-to-Month Ratio (DMR)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Formula box"/>
          <p:cNvSpPr/>
          <p:nvPr/>
        </p:nvSpPr>
        <p:spPr>
          <a:xfrm>
            <a:off x="3928735" y="1672119"/>
            <a:ext cx="434881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5715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GB" dirty="0"/>
          </a:p>
        </p:txBody>
      </p:sp>
      <p:sp>
        <p:nvSpPr>
          <p:cNvPr id="21" name="Reading value 1"/>
          <p:cNvSpPr txBox="1"/>
          <p:nvPr/>
        </p:nvSpPr>
        <p:spPr>
          <a:xfrm>
            <a:off x="466344" y="3130476"/>
            <a:ext cx="3520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4400" b="1" i="0" dirty="0">
                <a:solidFill>
                  <a:srgbClr val="595959"/>
                </a:solidFill>
                <a:latin typeface="Arial"/>
                <a:cs typeface="Arial"/>
              </a:rPr>
              <a:t>= 1</a:t>
            </a:r>
          </a:p>
        </p:txBody>
      </p:sp>
      <p:sp>
        <p:nvSpPr>
          <p:cNvPr id="22" name="Reading label 1"/>
          <p:cNvSpPr txBox="1"/>
          <p:nvPr/>
        </p:nvSpPr>
        <p:spPr>
          <a:xfrm>
            <a:off x="466344" y="3907716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No residual calendar effect</a:t>
            </a:r>
          </a:p>
        </p:txBody>
      </p:sp>
      <p:sp>
        <p:nvSpPr>
          <p:cNvPr id="23" name="Reading value 2"/>
          <p:cNvSpPr txBox="1"/>
          <p:nvPr/>
        </p:nvSpPr>
        <p:spPr>
          <a:xfrm>
            <a:off x="4334256" y="3130476"/>
            <a:ext cx="3520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4400" b="1" i="0" dirty="0">
                <a:solidFill>
                  <a:srgbClr val="C00000"/>
                </a:solidFill>
                <a:latin typeface="Arial"/>
                <a:cs typeface="Arial"/>
              </a:rPr>
              <a:t>&gt; 1</a:t>
            </a:r>
          </a:p>
        </p:txBody>
      </p:sp>
      <p:sp>
        <p:nvSpPr>
          <p:cNvPr id="24" name="Reading label 2"/>
          <p:cNvSpPr txBox="1"/>
          <p:nvPr/>
        </p:nvSpPr>
        <p:spPr>
          <a:xfrm>
            <a:off x="4334256" y="3907716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Day still above its month</a:t>
            </a:r>
          </a:p>
        </p:txBody>
      </p:sp>
      <p:sp>
        <p:nvSpPr>
          <p:cNvPr id="25" name="Reading value 3"/>
          <p:cNvSpPr txBox="1"/>
          <p:nvPr/>
        </p:nvSpPr>
        <p:spPr>
          <a:xfrm>
            <a:off x="8202168" y="3130476"/>
            <a:ext cx="3520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4400" b="1" i="0" dirty="0">
                <a:solidFill>
                  <a:srgbClr val="942639"/>
                </a:solidFill>
                <a:latin typeface="Arial"/>
                <a:cs typeface="Arial"/>
              </a:rPr>
              <a:t>&lt; 1</a:t>
            </a:r>
          </a:p>
        </p:txBody>
      </p:sp>
      <p:sp>
        <p:nvSpPr>
          <p:cNvPr id="26" name="Reading label 3"/>
          <p:cNvSpPr txBox="1"/>
          <p:nvPr/>
        </p:nvSpPr>
        <p:spPr>
          <a:xfrm>
            <a:off x="8202168" y="3907716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Day still below its month</a:t>
            </a:r>
          </a:p>
        </p:txBody>
      </p:sp>
      <p:sp>
        <p:nvSpPr>
          <p:cNvPr id="30" name="DMR reading notes"/>
          <p:cNvSpPr txBox="1"/>
          <p:nvPr/>
        </p:nvSpPr>
        <p:spPr>
          <a:xfrm>
            <a:off x="466344" y="4551384"/>
            <a:ext cx="11256264" cy="1514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Median DMR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for each group of days, over the whole sample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Tolerance: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groups within ±5% of 1 are considered adjusted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Medians, not means: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robust to outliers and to unusual months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Above or below 1: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over- or under-correction, depending on the sign of the calendar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6CEF60E-13DE-460C-8E46-6010702A6E7B}"/>
                  </a:ext>
                </a:extLst>
              </p:cNvPr>
              <p:cNvSpPr txBox="1"/>
              <p:nvPr/>
            </p:nvSpPr>
            <p:spPr>
              <a:xfrm>
                <a:off x="4066880" y="1867277"/>
                <a:ext cx="4072525" cy="63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i="0">
                              <a:latin typeface="Cambria Math" panose="02040503050406030204" pitchFamily="18" charset="0"/>
                            </a:rPr>
                            <m:t>DMR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SCA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</a:rPr>
                            <m:t>median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Sup>
                            <m:sSub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SCA</m:t>
                              </m:r>
                            </m:sup>
                          </m:sSub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month</m:t>
                          </m:r>
                          <m: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of</m:t>
                          </m:r>
                          <m: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6CEF60E-13DE-460C-8E46-6010702A6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80" y="1867277"/>
                <a:ext cx="4072525" cy="63158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8E80496D-DCA0-4331-AFFD-6ADFB5ABEB77}"/>
                  </a:ext>
                </a:extLst>
              </p:cNvPr>
              <p:cNvSpPr txBox="1"/>
              <p:nvPr/>
            </p:nvSpPr>
            <p:spPr>
              <a:xfrm>
                <a:off x="461682" y="1156757"/>
                <a:ext cx="6096000" cy="3758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SCA</m:t>
                        </m:r>
                      </m:sup>
                    </m:sSup>
                  </m:oMath>
                </a14:m>
                <a:r>
                  <a:rPr lang="it-IT" dirty="0"/>
                  <a:t>: </a:t>
                </a:r>
                <a:r>
                  <a:rPr lang="it-IT" dirty="0" err="1"/>
                  <a:t>seasonally</a:t>
                </a:r>
                <a:r>
                  <a:rPr lang="it-IT" dirty="0"/>
                  <a:t> and </a:t>
                </a:r>
                <a:r>
                  <a:rPr lang="it-IT" dirty="0" err="1"/>
                  <a:t>calendar</a:t>
                </a:r>
                <a:r>
                  <a:rPr lang="it-IT" dirty="0"/>
                  <a:t> </a:t>
                </a:r>
                <a:r>
                  <a:rPr lang="it-IT" dirty="0" err="1"/>
                  <a:t>adjusted</a:t>
                </a:r>
                <a:r>
                  <a:rPr lang="it-IT" dirty="0"/>
                  <a:t> </a:t>
                </a:r>
                <a:r>
                  <a:rPr lang="it-IT" dirty="0" err="1"/>
                  <a:t>series</a:t>
                </a:r>
                <a:endParaRPr lang="it-IT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8E80496D-DCA0-4331-AFFD-6ADFB5AB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82" y="1156757"/>
                <a:ext cx="6096000" cy="375872"/>
              </a:xfrm>
              <a:prstGeom prst="rect">
                <a:avLst/>
              </a:prstGeom>
              <a:blipFill>
                <a:blip r:embed="rId3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Which DMR charts? The mechanism decides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Step 1 card"/>
          <p:cNvSpPr/>
          <p:nvPr/>
        </p:nvSpPr>
        <p:spPr>
          <a:xfrm>
            <a:off x="466344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Step 1 number"/>
          <p:cNvSpPr/>
          <p:nvPr/>
        </p:nvSpPr>
        <p:spPr>
          <a:xfrm>
            <a:off x="667512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Step 1 heading"/>
          <p:cNvSpPr txBox="1"/>
          <p:nvPr/>
        </p:nvSpPr>
        <p:spPr>
          <a:xfrm>
            <a:off x="667512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Find candidate days</a:t>
            </a:r>
          </a:p>
        </p:txBody>
      </p:sp>
      <p:sp>
        <p:nvSpPr>
          <p:cNvPr id="23" name="Step 1 text"/>
          <p:cNvSpPr txBox="1"/>
          <p:nvPr/>
        </p:nvSpPr>
        <p:spPr>
          <a:xfrm>
            <a:off x="667512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Domain knowledge and the raw data: deadlines, month end, holidays.</a:t>
            </a:r>
          </a:p>
        </p:txBody>
      </p:sp>
      <p:sp>
        <p:nvSpPr>
          <p:cNvPr id="24" name="Step 1 charts"/>
          <p:cNvSpPr txBox="1"/>
          <p:nvPr/>
        </p:nvSpPr>
        <p:spPr>
          <a:xfrm>
            <a:off x="667512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Raw data</a:t>
            </a:r>
          </a:p>
        </p:txBody>
      </p:sp>
      <p:sp>
        <p:nvSpPr>
          <p:cNvPr id="26" name="Step 2 card"/>
          <p:cNvSpPr/>
          <p:nvPr/>
        </p:nvSpPr>
        <p:spPr>
          <a:xfrm>
            <a:off x="3349447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7" name="Step 2 number"/>
          <p:cNvSpPr/>
          <p:nvPr/>
        </p:nvSpPr>
        <p:spPr>
          <a:xfrm>
            <a:off x="3550615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8" name="Step 2 heading"/>
          <p:cNvSpPr txBox="1"/>
          <p:nvPr/>
        </p:nvSpPr>
        <p:spPr>
          <a:xfrm>
            <a:off x="3550615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Group by mechanism</a:t>
            </a:r>
          </a:p>
        </p:txBody>
      </p:sp>
      <p:sp>
        <p:nvSpPr>
          <p:cNvPr id="29" name="Step 2 text"/>
          <p:cNvSpPr txBox="1"/>
          <p:nvPr/>
        </p:nvSpPr>
        <p:spPr>
          <a:xfrm>
            <a:off x="3550615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Fixed dates by day of the month, month end by days to the end, holidays by distance from the holiday. Groups outside ±5% are critical.</a:t>
            </a:r>
          </a:p>
        </p:txBody>
      </p:sp>
      <p:sp>
        <p:nvSpPr>
          <p:cNvPr id="30" name="Step 2 charts"/>
          <p:cNvSpPr txBox="1"/>
          <p:nvPr/>
        </p:nvSpPr>
        <p:spPr>
          <a:xfrm>
            <a:off x="3550615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Slides 6–10</a:t>
            </a:r>
          </a:p>
        </p:txBody>
      </p:sp>
      <p:sp>
        <p:nvSpPr>
          <p:cNvPr id="32" name="Step 3 card"/>
          <p:cNvSpPr/>
          <p:nvPr/>
        </p:nvSpPr>
        <p:spPr>
          <a:xfrm>
            <a:off x="6232550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3" name="Step 3 number"/>
          <p:cNvSpPr/>
          <p:nvPr/>
        </p:nvSpPr>
        <p:spPr>
          <a:xfrm>
            <a:off x="6433718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4" name="Step 3 heading"/>
          <p:cNvSpPr txBox="1"/>
          <p:nvPr/>
        </p:nvSpPr>
        <p:spPr>
          <a:xfrm>
            <a:off x="6433718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Split for interactions</a:t>
            </a:r>
          </a:p>
        </p:txBody>
      </p:sp>
      <p:sp>
        <p:nvSpPr>
          <p:cNvPr id="35" name="Step 3 text"/>
          <p:cNvSpPr txBox="1"/>
          <p:nvPr/>
        </p:nvSpPr>
        <p:spPr>
          <a:xfrm>
            <a:off x="6433718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Split critical days by day type (weekday, Saturday, Sunday): a median close to 1 can hide opposite errors.</a:t>
            </a:r>
          </a:p>
        </p:txBody>
      </p:sp>
      <p:sp>
        <p:nvSpPr>
          <p:cNvPr id="36" name="Step 3 charts"/>
          <p:cNvSpPr txBox="1"/>
          <p:nvPr/>
        </p:nvSpPr>
        <p:spPr>
          <a:xfrm>
            <a:off x="6433718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Slide 11</a:t>
            </a:r>
          </a:p>
        </p:txBody>
      </p:sp>
      <p:sp>
        <p:nvSpPr>
          <p:cNvPr id="38" name="Step 4 card"/>
          <p:cNvSpPr/>
          <p:nvPr/>
        </p:nvSpPr>
        <p:spPr>
          <a:xfrm>
            <a:off x="9115654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9" name="Step 4 number"/>
          <p:cNvSpPr/>
          <p:nvPr/>
        </p:nvSpPr>
        <p:spPr>
          <a:xfrm>
            <a:off x="9316822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40" name="Step 4 heading"/>
          <p:cNvSpPr txBox="1"/>
          <p:nvPr/>
        </p:nvSpPr>
        <p:spPr>
          <a:xfrm>
            <a:off x="9316822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Check, then model</a:t>
            </a:r>
          </a:p>
        </p:txBody>
      </p:sp>
      <p:sp>
        <p:nvSpPr>
          <p:cNvPr id="41" name="Step 4 text"/>
          <p:cNvSpPr txBox="1"/>
          <p:nvPr/>
        </p:nvSpPr>
        <p:spPr>
          <a:xfrm>
            <a:off x="9316822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Test each hypothesis with a dedicated chart before adding a regressor; after each change, redo all charts.</a:t>
            </a:r>
          </a:p>
        </p:txBody>
      </p:sp>
      <p:sp>
        <p:nvSpPr>
          <p:cNvPr id="42" name="Step 4 charts"/>
          <p:cNvSpPr txBox="1"/>
          <p:nvPr/>
        </p:nvSpPr>
        <p:spPr>
          <a:xfrm>
            <a:off x="9316822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Slide 12</a:t>
            </a:r>
          </a:p>
        </p:txBody>
      </p:sp>
      <p:sp>
        <p:nvSpPr>
          <p:cNvPr id="50" name="Key message"/>
          <p:cNvSpPr txBox="1"/>
          <p:nvPr/>
        </p:nvSpPr>
        <p:spPr>
          <a:xfrm>
            <a:off x="466344" y="516636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The denominator is always the monthly median: only the grouping of days changes.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Day of the week: weekends stand out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by day of the week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 about 1.0 on weekdays, about 0.9 on Saturdays and Sundays, with a much wider spread at weekends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Day of the month: peaks on 1, 15 and 20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by day of the month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day 1 = 1.13, day 15 = 1.27, day 20 = 1.09; days 30 and 31 = 0.82 and 0.76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Month end: a dip at the end, a ramp before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by days to the end of the month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last day 0.79, one day before 0.82, three to five days before 1.06–1.11. Wide boxes on the last days mix different weekdays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Holidays: one dummy fails on weekends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on holidays by weekday of the holi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calendar, holidays active on every day.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holidays on weekdays 0.6–0.7, holidays on Saturdays and Sundays about 3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Around holidays: the dip spreads earlier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from three days before to three days after a weekday holi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calendar, weekday holidays, Christmas period excluded.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holiday 0.68, the two days before 0.82–0.86, back to about 1 from the day after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Split by day type: errors of opposite sign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for month-end and fixed days, split into weekday, Saturday and Sun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8" y="1216152"/>
            <a:ext cx="8412480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7716" y="5499671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3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Last day of the month: median DMR 0.73 on weekdays, 1.96 on Saturdays, 4.3 on Sundays. One coefficient cannot fit all three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5E9FCC2-34F1-4F1E-AB88-7875D1A9CFE6}"/>
              </a:ext>
            </a:extLst>
          </p:cNvPr>
          <p:cNvSpPr txBox="1"/>
          <p:nvPr/>
        </p:nvSpPr>
        <p:spPr>
          <a:xfrm>
            <a:off x="385295" y="4999366"/>
            <a:ext cx="2214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chemeClr val="accent1">
                    <a:lumMod val="50000"/>
                  </a:schemeClr>
                </a:solidFill>
              </a:rPr>
              <a:t>EoM</a:t>
            </a:r>
            <a:r>
              <a:rPr lang="it-IT" sz="1400" dirty="0">
                <a:solidFill>
                  <a:schemeClr val="accent1">
                    <a:lumMod val="50000"/>
                  </a:schemeClr>
                </a:solidFill>
              </a:rPr>
              <a:t> = End of </a:t>
            </a:r>
            <a:r>
              <a:rPr lang="it-IT" sz="1400" dirty="0" err="1">
                <a:solidFill>
                  <a:schemeClr val="accent1">
                    <a:lumMod val="50000"/>
                  </a:schemeClr>
                </a:solidFill>
              </a:rPr>
              <a:t>Month</a:t>
            </a:r>
            <a:endParaRPr lang="it-IT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Weekend month end: Friday takes the billing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one and two days before the month end, Fridays versus Monday to Thurs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4 · Basic calendar, working days only.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 on Fridays 1.46 and 2.2, on Monday–Thursday 0.81 and 1.03: a regressor for the last working day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The final model: 32 calendar regressors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Pre-treatment table" descr="Table of pre-treatment estimates: holidays, month-end and fixed days by day type, model parameters, outli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216152"/>
            <a:ext cx="6736823" cy="4206240"/>
          </a:xfrm>
          <a:prstGeom prst="rect">
            <a:avLst/>
          </a:prstGeom>
        </p:spPr>
      </p:pic>
      <p:sp>
        <p:nvSpPr>
          <p:cNvPr id="41" name="Takeaways card"/>
          <p:cNvSpPr/>
          <p:nvPr/>
        </p:nvSpPr>
        <p:spPr>
          <a:xfrm>
            <a:off x="7477487" y="1280160"/>
            <a:ext cx="4247864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2" name="Takeaway value 1"/>
          <p:cNvSpPr txBox="1"/>
          <p:nvPr/>
        </p:nvSpPr>
        <p:spPr>
          <a:xfrm>
            <a:off x="7706087" y="1463040"/>
            <a:ext cx="379066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200" b="1" i="0" dirty="0">
                <a:solidFill>
                  <a:srgbClr val="C00000"/>
                </a:solidFill>
                <a:latin typeface="Arial"/>
                <a:cs typeface="Arial"/>
              </a:rPr>
              <a:t>32</a:t>
            </a:r>
          </a:p>
        </p:txBody>
      </p:sp>
      <p:sp>
        <p:nvSpPr>
          <p:cNvPr id="43" name="Takeaway label 1"/>
          <p:cNvSpPr txBox="1"/>
          <p:nvPr/>
        </p:nvSpPr>
        <p:spPr>
          <a:xfrm>
            <a:off x="7706087" y="2029968"/>
            <a:ext cx="379066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calendar regressors, all significant (|t| &gt; 4)</a:t>
            </a:r>
          </a:p>
        </p:txBody>
      </p:sp>
      <p:sp>
        <p:nvSpPr>
          <p:cNvPr id="44" name="Takeaway value 2"/>
          <p:cNvSpPr txBox="1"/>
          <p:nvPr/>
        </p:nvSpPr>
        <p:spPr>
          <a:xfrm>
            <a:off x="7706087" y="2743200"/>
            <a:ext cx="379066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200" b="1" i="0" dirty="0">
                <a:solidFill>
                  <a:srgbClr val="942639"/>
                </a:solidFill>
                <a:latin typeface="Arial"/>
                <a:cs typeface="Arial"/>
              </a:rPr>
              <a:t>×69</a:t>
            </a:r>
          </a:p>
        </p:txBody>
      </p:sp>
      <p:sp>
        <p:nvSpPr>
          <p:cNvPr id="45" name="Takeaway label 2"/>
          <p:cNvSpPr txBox="1"/>
          <p:nvPr/>
        </p:nvSpPr>
        <p:spPr>
          <a:xfrm>
            <a:off x="7706087" y="3310128"/>
            <a:ext cx="379066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last day of the month on a Sunday (×8.6 on weekdays, ×30 on Saturdays)</a:t>
            </a:r>
          </a:p>
        </p:txBody>
      </p:sp>
      <p:sp>
        <p:nvSpPr>
          <p:cNvPr id="46" name="Takeaway value 3"/>
          <p:cNvSpPr txBox="1"/>
          <p:nvPr/>
        </p:nvSpPr>
        <p:spPr>
          <a:xfrm>
            <a:off x="7706087" y="4023360"/>
            <a:ext cx="379066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200" b="1" i="0" dirty="0">
                <a:solidFill>
                  <a:srgbClr val="C00000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47" name="Takeaway label 3"/>
          <p:cNvSpPr txBox="1"/>
          <p:nvPr/>
        </p:nvSpPr>
        <p:spPr>
          <a:xfrm>
            <a:off x="7706087" y="4590288"/>
            <a:ext cx="379066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outliers, four of them in the Covid-19 period</a:t>
            </a:r>
          </a:p>
        </p:txBody>
      </p:sp>
      <p:sp>
        <p:nvSpPr>
          <p:cNvPr id="50" name="Table caption"/>
          <p:cNvSpPr txBox="1"/>
          <p:nvPr/>
        </p:nvSpPr>
        <p:spPr>
          <a:xfrm>
            <a:off x="466344" y="553212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Pre-treatment estimates on the log scale; t-statistics in parentheses in panel B.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Final calendar: a flat day-of-month profile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Median DMR by day of the month, basic calendar versus final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Result · Basic vs final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Final calendar (32 regressors): every day within ±5% except days 2 and 9 (0.95 and 0.94)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Day by day: the residual pattern disappears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boxplots basic vs final" descr="Boxplots of the DMR by day of the month, basic calendar above and final calendar below, same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188720"/>
            <a:ext cx="5345070" cy="4343400"/>
          </a:xfrm>
          <a:prstGeom prst="rect">
            <a:avLst/>
          </a:prstGeom>
        </p:spPr>
      </p:pic>
      <p:sp>
        <p:nvSpPr>
          <p:cNvPr id="41" name="Before-after header"/>
          <p:cNvSpPr txBox="1"/>
          <p:nvPr/>
        </p:nvSpPr>
        <p:spPr>
          <a:xfrm>
            <a:off x="6222894" y="1325880"/>
            <a:ext cx="5502457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Median DMR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  basic → final</a:t>
            </a:r>
          </a:p>
        </p:txBody>
      </p:sp>
      <p:sp>
        <p:nvSpPr>
          <p:cNvPr id="42" name="Row card 1"/>
          <p:cNvSpPr/>
          <p:nvPr/>
        </p:nvSpPr>
        <p:spPr>
          <a:xfrm>
            <a:off x="6222894" y="1920240"/>
            <a:ext cx="5502457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Row day 1"/>
          <p:cNvSpPr txBox="1"/>
          <p:nvPr/>
        </p:nvSpPr>
        <p:spPr>
          <a:xfrm>
            <a:off x="6451494" y="21031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Day 1</a:t>
            </a:r>
          </a:p>
        </p:txBody>
      </p:sp>
      <p:sp>
        <p:nvSpPr>
          <p:cNvPr id="44" name="Row values 1"/>
          <p:cNvSpPr txBox="1"/>
          <p:nvPr/>
        </p:nvSpPr>
        <p:spPr>
          <a:xfrm>
            <a:off x="7914534" y="2057400"/>
            <a:ext cx="358221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600" b="1" i="0" dirty="0">
                <a:solidFill>
                  <a:srgbClr val="C00000"/>
                </a:solidFill>
                <a:latin typeface="Arial"/>
                <a:cs typeface="Arial"/>
              </a:rPr>
              <a:t>1.13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600" b="1" i="0" dirty="0">
                <a:solidFill>
                  <a:srgbClr val="0072B2"/>
                </a:solidFill>
                <a:latin typeface="Arial"/>
                <a:cs typeface="Arial"/>
              </a:rPr>
              <a:t>0.99</a:t>
            </a:r>
          </a:p>
        </p:txBody>
      </p:sp>
      <p:sp>
        <p:nvSpPr>
          <p:cNvPr id="45" name="Row card 2"/>
          <p:cNvSpPr/>
          <p:nvPr/>
        </p:nvSpPr>
        <p:spPr>
          <a:xfrm>
            <a:off x="6222894" y="2880360"/>
            <a:ext cx="5502457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Row day 2"/>
          <p:cNvSpPr txBox="1"/>
          <p:nvPr/>
        </p:nvSpPr>
        <p:spPr>
          <a:xfrm>
            <a:off x="6451494" y="306324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Day 15</a:t>
            </a:r>
          </a:p>
        </p:txBody>
      </p:sp>
      <p:sp>
        <p:nvSpPr>
          <p:cNvPr id="47" name="Row values 2"/>
          <p:cNvSpPr txBox="1"/>
          <p:nvPr/>
        </p:nvSpPr>
        <p:spPr>
          <a:xfrm>
            <a:off x="7914534" y="3017520"/>
            <a:ext cx="358221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600" b="1" i="0" dirty="0">
                <a:solidFill>
                  <a:srgbClr val="C00000"/>
                </a:solidFill>
                <a:latin typeface="Arial"/>
                <a:cs typeface="Arial"/>
              </a:rPr>
              <a:t>1.27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600" b="1" i="0" dirty="0">
                <a:solidFill>
                  <a:srgbClr val="0072B2"/>
                </a:solidFill>
                <a:latin typeface="Arial"/>
                <a:cs typeface="Arial"/>
              </a:rPr>
              <a:t>1.01</a:t>
            </a:r>
          </a:p>
        </p:txBody>
      </p:sp>
      <p:sp>
        <p:nvSpPr>
          <p:cNvPr id="48" name="Row card 3"/>
          <p:cNvSpPr/>
          <p:nvPr/>
        </p:nvSpPr>
        <p:spPr>
          <a:xfrm>
            <a:off x="6222894" y="3840480"/>
            <a:ext cx="5502457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Row day 3"/>
          <p:cNvSpPr txBox="1"/>
          <p:nvPr/>
        </p:nvSpPr>
        <p:spPr>
          <a:xfrm>
            <a:off x="6451494" y="402336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Day 31</a:t>
            </a:r>
          </a:p>
        </p:txBody>
      </p:sp>
      <p:sp>
        <p:nvSpPr>
          <p:cNvPr id="50" name="Row values 3"/>
          <p:cNvSpPr txBox="1"/>
          <p:nvPr/>
        </p:nvSpPr>
        <p:spPr>
          <a:xfrm>
            <a:off x="7914534" y="3977640"/>
            <a:ext cx="358221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600" b="1" i="0" dirty="0">
                <a:solidFill>
                  <a:srgbClr val="C00000"/>
                </a:solidFill>
                <a:latin typeface="Arial"/>
                <a:cs typeface="Arial"/>
              </a:rPr>
              <a:t>0.76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600" b="1" i="0" dirty="0">
                <a:solidFill>
                  <a:srgbClr val="0072B2"/>
                </a:solidFill>
                <a:latin typeface="Arial"/>
                <a:cs typeface="Arial"/>
              </a:rPr>
              <a:t>1.00</a:t>
            </a:r>
          </a:p>
        </p:txBody>
      </p:sp>
      <p:sp>
        <p:nvSpPr>
          <p:cNvPr id="52" name="Spread note"/>
          <p:cNvSpPr txBox="1"/>
          <p:nvPr/>
        </p:nvSpPr>
        <p:spPr>
          <a:xfrm>
            <a:off x="6222894" y="4846320"/>
            <a:ext cx="550245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The boxes also shrink: at the end of the month the spread falls the most.</a:t>
            </a:r>
          </a:p>
        </p:txBody>
      </p:sp>
      <p:sp>
        <p:nvSpPr>
          <p:cNvPr id="53" name="Boxplot 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Basic vs final calendar.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Same scale in both panels.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Electricity demand: a production calendar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Procedure line"/>
          <p:cNvSpPr txBox="1"/>
          <p:nvPr/>
        </p:nvSpPr>
        <p:spPr>
          <a:xfrm>
            <a:off x="466344" y="1261872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595959"/>
                </a:solidFill>
                <a:latin typeface="Arial"/>
                <a:cs typeface="Arial"/>
              </a:rPr>
              <a:t>Same procedure as for e-invoicing: </a:t>
            </a:r>
            <a:r>
              <a:rPr lang="en-GB" sz="1700" b="0" i="0" dirty="0">
                <a:solidFill>
                  <a:srgbClr val="636462"/>
                </a:solidFill>
                <a:latin typeface="Arial"/>
                <a:cs typeface="Arial"/>
              </a:rPr>
              <a:t>DMR charts grouped by mechanism, split by day type, a regressor only when a chart supports it.</a:t>
            </a:r>
          </a:p>
        </p:txBody>
      </p:sp>
      <p:sp>
        <p:nvSpPr>
          <p:cNvPr id="21" name="E-invoicing column"/>
          <p:cNvSpPr/>
          <p:nvPr/>
        </p:nvSpPr>
        <p:spPr>
          <a:xfrm>
            <a:off x="2578608" y="1874520"/>
            <a:ext cx="4480560" cy="378561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2" name="Electricity column"/>
          <p:cNvSpPr/>
          <p:nvPr/>
        </p:nvSpPr>
        <p:spPr>
          <a:xfrm>
            <a:off x="7242048" y="1874520"/>
            <a:ext cx="4480560" cy="378561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3" name="E-invoicing header"/>
          <p:cNvSpPr txBox="1"/>
          <p:nvPr/>
        </p:nvSpPr>
        <p:spPr>
          <a:xfrm>
            <a:off x="2761488" y="19842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7B7C7E"/>
                </a:solidFill>
                <a:latin typeface="Arial"/>
                <a:cs typeface="Arial"/>
              </a:rPr>
              <a:t>E-invoicing: </a:t>
            </a:r>
            <a:r>
              <a:rPr lang="en-GB" sz="1800" b="0" i="0" dirty="0">
                <a:solidFill>
                  <a:srgbClr val="7B7C7E"/>
                </a:solidFill>
                <a:latin typeface="Arial"/>
                <a:cs typeface="Arial"/>
              </a:rPr>
              <a:t>administrative</a:t>
            </a:r>
          </a:p>
        </p:txBody>
      </p:sp>
      <p:sp>
        <p:nvSpPr>
          <p:cNvPr id="24" name="Electricity header"/>
          <p:cNvSpPr txBox="1"/>
          <p:nvPr/>
        </p:nvSpPr>
        <p:spPr>
          <a:xfrm>
            <a:off x="7424928" y="19842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C00000"/>
                </a:solidFill>
                <a:latin typeface="Arial"/>
                <a:cs typeface="Arial"/>
              </a:rPr>
              <a:t>Electricity: </a:t>
            </a:r>
            <a:r>
              <a:rPr lang="en-GB" sz="1800" b="0" i="0" dirty="0">
                <a:solidFill>
                  <a:srgbClr val="C00000"/>
                </a:solidFill>
                <a:latin typeface="Arial"/>
                <a:cs typeface="Arial"/>
              </a:rPr>
              <a:t>production</a:t>
            </a:r>
          </a:p>
        </p:txBody>
      </p:sp>
      <p:sp>
        <p:nvSpPr>
          <p:cNvPr id="30" name="Row label Driver"/>
          <p:cNvSpPr txBox="1"/>
          <p:nvPr/>
        </p:nvSpPr>
        <p:spPr>
          <a:xfrm>
            <a:off x="466344" y="2478024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Driver</a:t>
            </a:r>
          </a:p>
        </p:txBody>
      </p:sp>
      <p:sp>
        <p:nvSpPr>
          <p:cNvPr id="31" name="E-invoicing Driver"/>
          <p:cNvSpPr txBox="1"/>
          <p:nvPr/>
        </p:nvSpPr>
        <p:spPr>
          <a:xfrm>
            <a:off x="2761488" y="24780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Billing rules and fiscal deadlines</a:t>
            </a:r>
          </a:p>
        </p:txBody>
      </p:sp>
      <p:sp>
        <p:nvSpPr>
          <p:cNvPr id="32" name="Electricity Driver"/>
          <p:cNvSpPr txBox="1"/>
          <p:nvPr/>
        </p:nvSpPr>
        <p:spPr>
          <a:xfrm>
            <a:off x="7424928" y="24780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Plant activity and closures</a:t>
            </a:r>
          </a:p>
        </p:txBody>
      </p:sp>
      <p:sp>
        <p:nvSpPr>
          <p:cNvPr id="33" name="Row label Model"/>
          <p:cNvSpPr txBox="1"/>
          <p:nvPr/>
        </p:nvSpPr>
        <p:spPr>
          <a:xfrm>
            <a:off x="466344" y="2935224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Model</a:t>
            </a:r>
          </a:p>
        </p:txBody>
      </p:sp>
      <p:sp>
        <p:nvSpPr>
          <p:cNvPr id="34" name="E-invoicing Model"/>
          <p:cNvSpPr txBox="1"/>
          <p:nvPr/>
        </p:nvSpPr>
        <p:spPr>
          <a:xfrm>
            <a:off x="2761488" y="29352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Multiplicative (log)</a:t>
            </a:r>
          </a:p>
        </p:txBody>
      </p:sp>
      <p:sp>
        <p:nvSpPr>
          <p:cNvPr id="35" name="Electricity Model"/>
          <p:cNvSpPr txBox="1"/>
          <p:nvPr/>
        </p:nvSpPr>
        <p:spPr>
          <a:xfrm>
            <a:off x="7424928" y="29352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Additive (MWh)</a:t>
            </a:r>
          </a:p>
        </p:txBody>
      </p:sp>
      <p:sp>
        <p:nvSpPr>
          <p:cNvPr id="36" name="Row label Within the month"/>
          <p:cNvSpPr txBox="1"/>
          <p:nvPr/>
        </p:nvSpPr>
        <p:spPr>
          <a:xfrm>
            <a:off x="466344" y="3392424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Within the month</a:t>
            </a:r>
          </a:p>
        </p:txBody>
      </p:sp>
      <p:sp>
        <p:nvSpPr>
          <p:cNvPr id="37" name="E-invoicing Within the month"/>
          <p:cNvSpPr txBox="1"/>
          <p:nvPr/>
        </p:nvSpPr>
        <p:spPr>
          <a:xfrm>
            <a:off x="2761488" y="33924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Strong: month end, days 1, 15 and 20</a:t>
            </a:r>
          </a:p>
        </p:txBody>
      </p:sp>
      <p:sp>
        <p:nvSpPr>
          <p:cNvPr id="38" name="Electricity Within the month"/>
          <p:cNvSpPr txBox="1"/>
          <p:nvPr/>
        </p:nvSpPr>
        <p:spPr>
          <a:xfrm>
            <a:off x="7424928" y="33924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None: flat DMR profiles</a:t>
            </a:r>
          </a:p>
        </p:txBody>
      </p:sp>
      <p:sp>
        <p:nvSpPr>
          <p:cNvPr id="39" name="Row label Holidays"/>
          <p:cNvSpPr txBox="1"/>
          <p:nvPr/>
        </p:nvSpPr>
        <p:spPr>
          <a:xfrm>
            <a:off x="466344" y="3849624"/>
            <a:ext cx="19659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Holidays</a:t>
            </a:r>
          </a:p>
        </p:txBody>
      </p:sp>
      <p:sp>
        <p:nvSpPr>
          <p:cNvPr id="40" name="E-invoicing Holidays"/>
          <p:cNvSpPr txBox="1"/>
          <p:nvPr/>
        </p:nvSpPr>
        <p:spPr>
          <a:xfrm>
            <a:off x="2761488" y="3849624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Monday to Friday only: set to zero on weekends</a:t>
            </a:r>
          </a:p>
        </p:txBody>
      </p:sp>
      <p:sp>
        <p:nvSpPr>
          <p:cNvPr id="41" name="Electricity Holidays"/>
          <p:cNvSpPr txBox="1"/>
          <p:nvPr/>
        </p:nvSpPr>
        <p:spPr>
          <a:xfrm>
            <a:off x="7424928" y="3849624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Monday to Friday only (zero on weekends), plus Saturday and midweek effects</a:t>
            </a:r>
          </a:p>
        </p:txBody>
      </p:sp>
      <p:sp>
        <p:nvSpPr>
          <p:cNvPr id="42" name="Row label Other days"/>
          <p:cNvSpPr txBox="1"/>
          <p:nvPr/>
        </p:nvSpPr>
        <p:spPr>
          <a:xfrm>
            <a:off x="466344" y="4507992"/>
            <a:ext cx="19659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Other days</a:t>
            </a:r>
          </a:p>
        </p:txBody>
      </p:sp>
      <p:sp>
        <p:nvSpPr>
          <p:cNvPr id="43" name="E-invoicing Other days"/>
          <p:cNvSpPr txBox="1"/>
          <p:nvPr/>
        </p:nvSpPr>
        <p:spPr>
          <a:xfrm>
            <a:off x="2761488" y="4507992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Last working day before a weekend month end</a:t>
            </a:r>
          </a:p>
        </p:txBody>
      </p:sp>
      <p:sp>
        <p:nvSpPr>
          <p:cNvPr id="44" name="Electricity Other days"/>
          <p:cNvSpPr txBox="1"/>
          <p:nvPr/>
        </p:nvSpPr>
        <p:spPr>
          <a:xfrm>
            <a:off x="7424928" y="4507992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Bridges, 24 and 31 Dec, Christmas–Epiphany working days, 14 and 16 Aug, Easter window</a:t>
            </a:r>
          </a:p>
        </p:txBody>
      </p:sp>
      <p:sp>
        <p:nvSpPr>
          <p:cNvPr id="45" name="Row label Coefficients"/>
          <p:cNvSpPr txBox="1"/>
          <p:nvPr/>
        </p:nvSpPr>
        <p:spPr>
          <a:xfrm>
            <a:off x="466344" y="516636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Coefficients</a:t>
            </a:r>
          </a:p>
        </p:txBody>
      </p:sp>
      <p:sp>
        <p:nvSpPr>
          <p:cNvPr id="46" name="E-invoicing Coefficients"/>
          <p:cNvSpPr txBox="1"/>
          <p:nvPr/>
        </p:nvSpPr>
        <p:spPr>
          <a:xfrm>
            <a:off x="2761488" y="5166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Fixed, 32 regressors</a:t>
            </a:r>
          </a:p>
        </p:txBody>
      </p:sp>
      <p:sp>
        <p:nvSpPr>
          <p:cNvPr id="47" name="Electricity Coefficients"/>
          <p:cNvSpPr txBox="1"/>
          <p:nvPr/>
        </p:nvSpPr>
        <p:spPr>
          <a:xfrm>
            <a:off x="7424928" y="5166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Time-varying, 23 regressors</a:t>
            </a:r>
          </a:p>
        </p:txBody>
      </p:sp>
      <p:sp>
        <p:nvSpPr>
          <p:cNvPr id="48" name="Electricity caption"/>
          <p:cNvSpPr txBox="1"/>
          <p:nvPr/>
        </p:nvSpPr>
        <p:spPr>
          <a:xfrm>
            <a:off x="466344" y="5815584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E-invoicing 2019–2025, electricity demand 2012–2025. Time-varying coefficients: random walks with a common variance, estimated before the outlier search (two steps).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Electricity: time-varying calendar effects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40" name="Equations card"/>
          <p:cNvSpPr/>
          <p:nvPr/>
        </p:nvSpPr>
        <p:spPr>
          <a:xfrm>
            <a:off x="466344" y="1325880"/>
            <a:ext cx="640080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pic>
        <p:nvPicPr>
          <p:cNvPr id="41" name="Model equations" descr="State-space model: observation equation with time-varying calendar coefficients, weekly airline errors, random-walk coefficients, calendar component and calendar-adjusted se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823432"/>
            <a:ext cx="5943600" cy="3073976"/>
          </a:xfrm>
          <a:prstGeom prst="rect">
            <a:avLst/>
          </a:prstGeom>
        </p:spPr>
      </p:pic>
      <p:sp>
        <p:nvSpPr>
          <p:cNvPr id="42" name="Model card 1"/>
          <p:cNvSpPr/>
          <p:nvPr/>
        </p:nvSpPr>
        <p:spPr>
          <a:xfrm>
            <a:off x="7132320" y="1325880"/>
            <a:ext cx="4593031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Model heading 1"/>
          <p:cNvSpPr txBox="1"/>
          <p:nvPr/>
        </p:nvSpPr>
        <p:spPr>
          <a:xfrm>
            <a:off x="7333488" y="1417320"/>
            <a:ext cx="422727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C00000"/>
                </a:solidFill>
                <a:latin typeface="Arial"/>
                <a:cs typeface="Arial"/>
              </a:rPr>
              <a:t>Why not fixed coefficients</a:t>
            </a:r>
          </a:p>
        </p:txBody>
      </p:sp>
      <p:sp>
        <p:nvSpPr>
          <p:cNvPr id="44" name="Model text 1"/>
          <p:cNvSpPr txBox="1"/>
          <p:nvPr/>
        </p:nvSpPr>
        <p:spPr>
          <a:xfrm>
            <a:off x="7333488" y="1764792"/>
            <a:ext cx="4227271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Holiday effects fall by 10–18% between 2012 and 2025. Fixed coefficients would apply the 14-year average to every year.</a:t>
            </a:r>
          </a:p>
        </p:txBody>
      </p:sp>
      <p:sp>
        <p:nvSpPr>
          <p:cNvPr id="45" name="Model card 2"/>
          <p:cNvSpPr/>
          <p:nvPr/>
        </p:nvSpPr>
        <p:spPr>
          <a:xfrm>
            <a:off x="7132320" y="2715768"/>
            <a:ext cx="4593031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Model heading 2"/>
          <p:cNvSpPr txBox="1"/>
          <p:nvPr/>
        </p:nvSpPr>
        <p:spPr>
          <a:xfrm>
            <a:off x="7333488" y="2807208"/>
            <a:ext cx="422727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942639"/>
                </a:solidFill>
                <a:latin typeface="Arial"/>
                <a:cs typeface="Arial"/>
              </a:rPr>
              <a:t>Estimation</a:t>
            </a:r>
          </a:p>
        </p:txBody>
      </p:sp>
      <p:sp>
        <p:nvSpPr>
          <p:cNvPr id="47" name="Model text 2"/>
          <p:cNvSpPr txBox="1"/>
          <p:nvPr/>
        </p:nvSpPr>
        <p:spPr>
          <a:xfrm>
            <a:off x="7333488" y="3154680"/>
            <a:ext cx="4227271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Kalman filter and smoother, maximum likelihood. One common variance σ²ξ for the 23 coefficients; σ²ξ = 0 gives fixed coefficients.</a:t>
            </a:r>
          </a:p>
        </p:txBody>
      </p:sp>
      <p:sp>
        <p:nvSpPr>
          <p:cNvPr id="48" name="Model card 3"/>
          <p:cNvSpPr/>
          <p:nvPr/>
        </p:nvSpPr>
        <p:spPr>
          <a:xfrm>
            <a:off x="7132320" y="4105656"/>
            <a:ext cx="4593031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Model heading 3"/>
          <p:cNvSpPr txBox="1"/>
          <p:nvPr/>
        </p:nvSpPr>
        <p:spPr>
          <a:xfrm>
            <a:off x="7333488" y="4197096"/>
            <a:ext cx="422727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7B7C7E"/>
                </a:solidFill>
                <a:latin typeface="Arial"/>
                <a:cs typeface="Arial"/>
              </a:rPr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Model text 3"/>
              <p:cNvSpPr txBox="1"/>
              <p:nvPr/>
            </p:nvSpPr>
            <p:spPr>
              <a:xfrm>
                <a:off x="7333488" y="4544568"/>
                <a:ext cx="4227271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spcBef>
                    <a:spcPts val="0"/>
                  </a:spcBef>
                  <a:buNone/>
                </a:pPr>
                <a:r>
                  <a:rPr lang="en-GB" sz="1300" b="0" i="0" dirty="0">
                    <a:solidFill>
                      <a:srgbClr val="595959"/>
                    </a:solidFill>
                    <a:latin typeface="Arial"/>
                    <a:cs typeface="Arial"/>
                  </a:rPr>
                  <a:t>Outliers and sequential AMB on the calendar-adjusted series. Additive model: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300" b="0" i="1" smtClea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𝐻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1300" b="0" i="0" dirty="0">
                    <a:solidFill>
                      <a:srgbClr val="595959"/>
                    </a:solidFill>
                    <a:latin typeface="Arial"/>
                    <a:cs typeface="Arial"/>
                  </a:rPr>
                  <a:t> in MWh, subtracted.</a:t>
                </a:r>
              </a:p>
            </p:txBody>
          </p:sp>
        </mc:Choice>
        <mc:Fallback xmlns="">
          <p:sp>
            <p:nvSpPr>
              <p:cNvPr id="50" name="Model 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3488" y="4544568"/>
                <a:ext cx="4227271" cy="822960"/>
              </a:xfrm>
              <a:prstGeom prst="rect">
                <a:avLst/>
              </a:prstGeom>
              <a:blipFill>
                <a:blip r:embed="rId3"/>
                <a:stretch>
                  <a:fillRect l="-2309"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X_k,t: 23 binary regressors. Holidays falling on Saturday or Sunday are set to zero (Easter Sunday and one Holiday_Sat regressor aside): otherwise the coefficients drift for no real reason. The annual pattern is left to the AMB step.</a:t>
            </a:r>
          </a:p>
        </p:txBody>
      </p:sp>
      <p:pic>
        <p:nvPicPr>
          <p:cNvPr id="60" name="X_t calendar dummies" descr="X sub t equals calendar dummi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733" y="1500645"/>
            <a:ext cx="2380022" cy="3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Special days back within the ±5% band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special days basic vs final" descr="Boxplots of the DMR on special days of electricity demand, basic calendar above and final calendar below, same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161288"/>
            <a:ext cx="5068005" cy="4434840"/>
          </a:xfrm>
          <a:prstGeom prst="rect">
            <a:avLst/>
          </a:prstGeom>
        </p:spPr>
      </p:pic>
      <p:sp>
        <p:nvSpPr>
          <p:cNvPr id="41" name="Before-after header"/>
          <p:cNvSpPr txBox="1"/>
          <p:nvPr/>
        </p:nvSpPr>
        <p:spPr>
          <a:xfrm>
            <a:off x="5945829" y="1280160"/>
            <a:ext cx="577952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Median DMR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  basic → final</a:t>
            </a:r>
          </a:p>
        </p:txBody>
      </p:sp>
      <p:sp>
        <p:nvSpPr>
          <p:cNvPr id="42" name="Row card 1"/>
          <p:cNvSpPr/>
          <p:nvPr/>
        </p:nvSpPr>
        <p:spPr>
          <a:xfrm>
            <a:off x="5945829" y="1810512"/>
            <a:ext cx="5779522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Row label 1"/>
          <p:cNvSpPr txBox="1"/>
          <p:nvPr/>
        </p:nvSpPr>
        <p:spPr>
          <a:xfrm>
            <a:off x="6174429" y="1883664"/>
            <a:ext cx="532232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Holiday on Saturday</a:t>
            </a:r>
          </a:p>
        </p:txBody>
      </p:sp>
      <p:sp>
        <p:nvSpPr>
          <p:cNvPr id="44" name="Row values 1"/>
          <p:cNvSpPr txBox="1"/>
          <p:nvPr/>
        </p:nvSpPr>
        <p:spPr>
          <a:xfrm>
            <a:off x="6174429" y="2194560"/>
            <a:ext cx="532232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1.09</a:t>
            </a:r>
            <a:r>
              <a:rPr lang="en-GB" sz="20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1.01</a:t>
            </a:r>
          </a:p>
        </p:txBody>
      </p:sp>
      <p:sp>
        <p:nvSpPr>
          <p:cNvPr id="45" name="Row card 2"/>
          <p:cNvSpPr/>
          <p:nvPr/>
        </p:nvSpPr>
        <p:spPr>
          <a:xfrm>
            <a:off x="5945829" y="2834640"/>
            <a:ext cx="5779522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Row label 2"/>
          <p:cNvSpPr txBox="1"/>
          <p:nvPr/>
        </p:nvSpPr>
        <p:spPr>
          <a:xfrm>
            <a:off x="6174429" y="2907792"/>
            <a:ext cx="532232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Monday bridge</a:t>
            </a:r>
          </a:p>
        </p:txBody>
      </p:sp>
      <p:sp>
        <p:nvSpPr>
          <p:cNvPr id="47" name="Row values 2"/>
          <p:cNvSpPr txBox="1"/>
          <p:nvPr/>
        </p:nvSpPr>
        <p:spPr>
          <a:xfrm>
            <a:off x="6174429" y="3218688"/>
            <a:ext cx="532232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0.91</a:t>
            </a:r>
            <a:r>
              <a:rPr lang="en-GB" sz="20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1.00</a:t>
            </a:r>
          </a:p>
        </p:txBody>
      </p:sp>
      <p:sp>
        <p:nvSpPr>
          <p:cNvPr id="48" name="Row card 3"/>
          <p:cNvSpPr/>
          <p:nvPr/>
        </p:nvSpPr>
        <p:spPr>
          <a:xfrm>
            <a:off x="5945829" y="3858768"/>
            <a:ext cx="5779522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Row label 3"/>
          <p:cNvSpPr txBox="1"/>
          <p:nvPr/>
        </p:nvSpPr>
        <p:spPr>
          <a:xfrm>
            <a:off x="6174429" y="3931920"/>
            <a:ext cx="532232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Easter Tuesday</a:t>
            </a:r>
          </a:p>
        </p:txBody>
      </p:sp>
      <p:sp>
        <p:nvSpPr>
          <p:cNvPr id="50" name="Row values 3"/>
          <p:cNvSpPr txBox="1"/>
          <p:nvPr/>
        </p:nvSpPr>
        <p:spPr>
          <a:xfrm>
            <a:off x="6174429" y="4242816"/>
            <a:ext cx="532232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0.94</a:t>
            </a:r>
            <a:r>
              <a:rPr lang="en-GB" sz="20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0.98</a:t>
            </a:r>
          </a:p>
        </p:txBody>
      </p:sp>
      <p:sp>
        <p:nvSpPr>
          <p:cNvPr id="52" name="Groups note"/>
          <p:cNvSpPr txBox="1"/>
          <p:nvPr/>
        </p:nvSpPr>
        <p:spPr>
          <a:xfrm>
            <a:off x="5945829" y="4937760"/>
            <a:ext cx="577952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Groups outside ±5%: </a:t>
            </a: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7 of 14 → 1 (14 and 16 August, 0.949)</a:t>
            </a:r>
          </a:p>
        </p:txBody>
      </p:sp>
      <p:sp>
        <p:nvSpPr>
          <p:cNvPr id="53" name="Caption"/>
          <p:cNvSpPr txBox="1"/>
          <p:nvPr/>
        </p:nvSpPr>
        <p:spPr>
          <a:xfrm>
            <a:off x="466344" y="5650992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Basic vs final calendar.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Basic: 12 holidays on every day, fixed coefficients. Final: production calendar, 23 time-varying regressors.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What remains: two known limits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Limit card 1"/>
          <p:cNvSpPr/>
          <p:nvPr/>
        </p:nvSpPr>
        <p:spPr>
          <a:xfrm>
            <a:off x="466344" y="132588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Limit heading 1"/>
          <p:cNvSpPr txBox="1"/>
          <p:nvPr/>
        </p:nvSpPr>
        <p:spPr>
          <a:xfrm>
            <a:off x="740664" y="1527048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Holidays: slightly under-corrected</a:t>
            </a:r>
          </a:p>
        </p:txBody>
      </p:sp>
      <p:sp>
        <p:nvSpPr>
          <p:cNvPr id="22" name="Limit value 1"/>
          <p:cNvSpPr txBox="1"/>
          <p:nvPr/>
        </p:nvSpPr>
        <p:spPr>
          <a:xfrm>
            <a:off x="740664" y="2011680"/>
            <a:ext cx="49377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0.98</a:t>
            </a:r>
            <a:r>
              <a:rPr lang="en-GB" sz="1500" b="0" i="0" dirty="0">
                <a:solidFill>
                  <a:srgbClr val="7B7C7E"/>
                </a:solidFill>
                <a:latin typeface="Arial"/>
                <a:cs typeface="Arial"/>
              </a:rPr>
              <a:t>  median DMR, final calendar</a:t>
            </a:r>
          </a:p>
        </p:txBody>
      </p:sp>
      <p:sp>
        <p:nvSpPr>
          <p:cNvPr id="23" name="Limit text 1"/>
          <p:cNvSpPr txBox="1"/>
          <p:nvPr/>
        </p:nvSpPr>
        <p:spPr>
          <a:xfrm>
            <a:off x="740664" y="3154680"/>
            <a:ext cx="4937760" cy="1965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Inside the ±5% band, but below 1 on every weekday and in the Easter window (0.98–0.99).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Cause: in the two-step estimation the calendar is fitted with a weekly airline only. Its local level absorbs part of the drop, so the coefficients come out a little too small.</a:t>
            </a:r>
          </a:p>
        </p:txBody>
      </p:sp>
      <p:sp>
        <p:nvSpPr>
          <p:cNvPr id="30" name="Limit card 2"/>
          <p:cNvSpPr/>
          <p:nvPr/>
        </p:nvSpPr>
        <p:spPr>
          <a:xfrm>
            <a:off x="6236208" y="132588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1" name="Limit heading 2"/>
          <p:cNvSpPr txBox="1"/>
          <p:nvPr/>
        </p:nvSpPr>
        <p:spPr>
          <a:xfrm>
            <a:off x="6510528" y="1527048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August: a weaker weekly pattern</a:t>
            </a:r>
          </a:p>
        </p:txBody>
      </p:sp>
      <p:sp>
        <p:nvSpPr>
          <p:cNvPr id="32" name="Limit value 2"/>
          <p:cNvSpPr txBox="1"/>
          <p:nvPr/>
        </p:nvSpPr>
        <p:spPr>
          <a:xfrm>
            <a:off x="6510528" y="2011680"/>
            <a:ext cx="49377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1.03–1.07</a:t>
            </a:r>
            <a:r>
              <a:rPr lang="en-GB" sz="1500" b="0" i="0" dirty="0">
                <a:solidFill>
                  <a:srgbClr val="7B7C7E"/>
                </a:solidFill>
                <a:latin typeface="Arial"/>
                <a:cs typeface="Arial"/>
              </a:rPr>
              <a:t>  weekends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0072B2"/>
                </a:solidFill>
                <a:latin typeface="Arial"/>
                <a:cs typeface="Arial"/>
              </a:rPr>
              <a:t>0.94–0.97</a:t>
            </a:r>
            <a:r>
              <a:rPr lang="en-GB" sz="1500" b="0" i="0" dirty="0">
                <a:solidFill>
                  <a:srgbClr val="7B7C7E"/>
                </a:solidFill>
                <a:latin typeface="Arial"/>
                <a:cs typeface="Arial"/>
              </a:rPr>
              <a:t>  weekdays</a:t>
            </a:r>
          </a:p>
        </p:txBody>
      </p:sp>
      <p:sp>
        <p:nvSpPr>
          <p:cNvPr id="33" name="Limit text 2"/>
          <p:cNvSpPr txBox="1"/>
          <p:nvPr/>
        </p:nvSpPr>
        <p:spPr>
          <a:xfrm>
            <a:off x="6510528" y="3154680"/>
            <a:ext cx="4937760" cy="1965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Over the whole month, and the same with the basic calendar: not a calendar error.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Cause: with plants closed, weekdays and weekends get closer, but the estimated weekly seasonality is the same all year. This also explains 14 and 16 August at 0.949.</a:t>
            </a:r>
          </a:p>
        </p:txBody>
      </p:sp>
      <p:sp>
        <p:nvSpPr>
          <p:cNvPr id="50" name="Open points"/>
          <p:cNvSpPr txBox="1"/>
          <p:nvPr/>
        </p:nvSpPr>
        <p:spPr>
          <a:xfrm>
            <a:off x="466344" y="544068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C00000"/>
                </a:solidFill>
                <a:latin typeface="Arial"/>
                <a:cs typeface="Arial"/>
              </a:rPr>
              <a:t>Open points: </a:t>
            </a:r>
            <a:r>
              <a:rPr lang="en-GB" sz="1700" b="0" i="0" dirty="0">
                <a:solidFill>
                  <a:srgbClr val="595959"/>
                </a:solidFill>
                <a:latin typeface="Arial"/>
                <a:cs typeface="Arial"/>
              </a:rPr>
              <a:t>temperature (cooling and heating degree days) and a weekly pattern that changes within the year.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Pre-treatment: outliers show what is missing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Pre-treatment table" descr="Table of the pre-treatment model for electricity demand: MA parameters and 15 outliers with dates, coefficients and even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371600"/>
            <a:ext cx="8001000" cy="3501823"/>
          </a:xfrm>
          <a:prstGeom prst="rect">
            <a:avLst/>
          </a:prstGeom>
        </p:spPr>
      </p:pic>
      <p:sp>
        <p:nvSpPr>
          <p:cNvPr id="41" name="Outlier card"/>
          <p:cNvSpPr/>
          <p:nvPr/>
        </p:nvSpPr>
        <p:spPr>
          <a:xfrm>
            <a:off x="8741664" y="1325880"/>
            <a:ext cx="2983687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2" name="Outlier value 1"/>
          <p:cNvSpPr txBox="1"/>
          <p:nvPr/>
        </p:nvSpPr>
        <p:spPr>
          <a:xfrm>
            <a:off x="8942832" y="1463040"/>
            <a:ext cx="261792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000" b="1" i="0" dirty="0">
                <a:solidFill>
                  <a:srgbClr val="C00000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43" name="Outlier label 1"/>
          <p:cNvSpPr txBox="1"/>
          <p:nvPr/>
        </p:nvSpPr>
        <p:spPr>
          <a:xfrm>
            <a:off x="8942832" y="1993392"/>
            <a:ext cx="261792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summer level shifts, mostly in pairs of opposite sign: temperature is not modelled</a:t>
            </a:r>
          </a:p>
        </p:txBody>
      </p:sp>
      <p:sp>
        <p:nvSpPr>
          <p:cNvPr id="44" name="Outlier value 2"/>
          <p:cNvSpPr txBox="1"/>
          <p:nvPr/>
        </p:nvSpPr>
        <p:spPr>
          <a:xfrm>
            <a:off x="8942832" y="2743200"/>
            <a:ext cx="261792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000" b="1" i="0" dirty="0">
                <a:solidFill>
                  <a:srgbClr val="942639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45" name="Outlier label 2"/>
          <p:cNvSpPr txBox="1"/>
          <p:nvPr/>
        </p:nvSpPr>
        <p:spPr>
          <a:xfrm>
            <a:off x="8942832" y="3273552"/>
            <a:ext cx="261792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Covid-19 (lockdown, reopenings) and the 2022 energy crisis</a:t>
            </a:r>
          </a:p>
        </p:txBody>
      </p:sp>
      <p:sp>
        <p:nvSpPr>
          <p:cNvPr id="46" name="Outlier value 3"/>
          <p:cNvSpPr txBox="1"/>
          <p:nvPr/>
        </p:nvSpPr>
        <p:spPr>
          <a:xfrm>
            <a:off x="8942832" y="4023360"/>
            <a:ext cx="261792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000" b="1" i="0" dirty="0">
                <a:solidFill>
                  <a:srgbClr val="7B7C7E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47" name="Outlier label 3"/>
          <p:cNvSpPr txBox="1"/>
          <p:nvPr/>
        </p:nvSpPr>
        <p:spPr>
          <a:xfrm>
            <a:off x="8942832" y="4553712"/>
            <a:ext cx="261792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additive outlier (21/08/2015): a storm with a sharp temperature drop</a:t>
            </a:r>
          </a:p>
        </p:txBody>
      </p:sp>
      <p:sp>
        <p:nvSpPr>
          <p:cNvPr id="50" name="Table caption"/>
          <p:cNvSpPr txBox="1"/>
          <p:nvPr/>
        </p:nvSpPr>
        <p:spPr>
          <a:xfrm>
            <a:off x="466344" y="553212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Pre-treatment of the calendar-adjusted series (additive model); outlier coefficients in thousand MWh. LS: level shift; AO: additive outlier.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National holidays: the effects fade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Time-varying coefficients" descr="Time-varying effects of the 12 national holidays on electricity demand, 2012-2025, thousand MW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7008"/>
            <a:ext cx="6874105" cy="429768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605625" y="1325880"/>
            <a:ext cx="4119727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2012 → 2025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thousand MWh</a:t>
            </a:r>
          </a:p>
        </p:txBody>
      </p:sp>
      <p:sp>
        <p:nvSpPr>
          <p:cNvPr id="42" name="Card 1"/>
          <p:cNvSpPr/>
          <p:nvPr/>
        </p:nvSpPr>
        <p:spPr>
          <a:xfrm>
            <a:off x="7605625" y="182880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Card 1 label"/>
          <p:cNvSpPr txBox="1"/>
          <p:nvPr/>
        </p:nvSpPr>
        <p:spPr>
          <a:xfrm>
            <a:off x="7806793" y="193852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Republic Day</a:t>
            </a:r>
          </a:p>
        </p:txBody>
      </p:sp>
      <p:sp>
        <p:nvSpPr>
          <p:cNvPr id="44" name="Card 1 values"/>
          <p:cNvSpPr txBox="1"/>
          <p:nvPr/>
        </p:nvSpPr>
        <p:spPr>
          <a:xfrm>
            <a:off x="7806793" y="228600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−174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−143</a:t>
            </a:r>
          </a:p>
        </p:txBody>
      </p:sp>
      <p:sp>
        <p:nvSpPr>
          <p:cNvPr id="45" name="Card 2"/>
          <p:cNvSpPr/>
          <p:nvPr/>
        </p:nvSpPr>
        <p:spPr>
          <a:xfrm>
            <a:off x="7605625" y="310896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Card 2 label"/>
          <p:cNvSpPr txBox="1"/>
          <p:nvPr/>
        </p:nvSpPr>
        <p:spPr>
          <a:xfrm>
            <a:off x="7806793" y="321868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Easter Monday</a:t>
            </a:r>
          </a:p>
        </p:txBody>
      </p:sp>
      <p:sp>
        <p:nvSpPr>
          <p:cNvPr id="47" name="Card 2 values"/>
          <p:cNvSpPr txBox="1"/>
          <p:nvPr/>
        </p:nvSpPr>
        <p:spPr>
          <a:xfrm>
            <a:off x="7806793" y="356616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−221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−198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7605625" y="4434840"/>
            <a:ext cx="4119727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All holidays move together, by 10–18%, mostly after 2018. Only the Assumption is stable (−132 → −128).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Time-varying coefficients.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Thousand MWh; values at the end of 2012 and of 2025.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Bridges and semi-closures: no fading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Time-varying coefficients" descr="Time-varying effects of bridges and semi-closure days on electricity demand, 2012-2025, thousand MW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7008"/>
            <a:ext cx="6874105" cy="429768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605625" y="1325880"/>
            <a:ext cx="4119727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2012 → 2025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thousand MWh</a:t>
            </a:r>
          </a:p>
        </p:txBody>
      </p:sp>
      <p:sp>
        <p:nvSpPr>
          <p:cNvPr id="42" name="Card 1"/>
          <p:cNvSpPr/>
          <p:nvPr/>
        </p:nvSpPr>
        <p:spPr>
          <a:xfrm>
            <a:off x="7605625" y="182880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Card 1 label"/>
          <p:cNvSpPr txBox="1"/>
          <p:nvPr/>
        </p:nvSpPr>
        <p:spPr>
          <a:xfrm>
            <a:off x="7806793" y="193852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Monday bridge</a:t>
            </a:r>
          </a:p>
        </p:txBody>
      </p:sp>
      <p:sp>
        <p:nvSpPr>
          <p:cNvPr id="44" name="Card 1 values"/>
          <p:cNvSpPr txBox="1"/>
          <p:nvPr/>
        </p:nvSpPr>
        <p:spPr>
          <a:xfrm>
            <a:off x="7806793" y="228600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−52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−77</a:t>
            </a:r>
          </a:p>
        </p:txBody>
      </p:sp>
      <p:sp>
        <p:nvSpPr>
          <p:cNvPr id="45" name="Card 2"/>
          <p:cNvSpPr/>
          <p:nvPr/>
        </p:nvSpPr>
        <p:spPr>
          <a:xfrm>
            <a:off x="7605625" y="310896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Card 2 label"/>
          <p:cNvSpPr txBox="1"/>
          <p:nvPr/>
        </p:nvSpPr>
        <p:spPr>
          <a:xfrm>
            <a:off x="7806793" y="321868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New Year's Eve</a:t>
            </a:r>
          </a:p>
        </p:txBody>
      </p:sp>
      <p:sp>
        <p:nvSpPr>
          <p:cNvPr id="47" name="Card 2 values"/>
          <p:cNvSpPr txBox="1"/>
          <p:nvPr/>
        </p:nvSpPr>
        <p:spPr>
          <a:xfrm>
            <a:off x="7806793" y="356616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−76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−97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7605625" y="4434840"/>
            <a:ext cx="4119727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Unlike holidays, these days do not fade: some deepen. Days next to the Assumption stay at about −30.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Time-varying coefficients.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Thousand MWh; values at the end of 2012 and of 2025.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Saturday fades, Easter Tuesday deepens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Time-varying coefficients" descr="Time-varying effects of Saturday holidays, the midweek holiday effect and the Easter window, 2012-2025, thousand MW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7008"/>
            <a:ext cx="6874105" cy="429768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605625" y="1325880"/>
            <a:ext cx="4119727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2012 → 2025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thousand MWh</a:t>
            </a:r>
          </a:p>
        </p:txBody>
      </p:sp>
      <p:sp>
        <p:nvSpPr>
          <p:cNvPr id="42" name="Card 1"/>
          <p:cNvSpPr/>
          <p:nvPr/>
        </p:nvSpPr>
        <p:spPr>
          <a:xfrm>
            <a:off x="7605625" y="182880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Card 1 label"/>
          <p:cNvSpPr txBox="1"/>
          <p:nvPr/>
        </p:nvSpPr>
        <p:spPr>
          <a:xfrm>
            <a:off x="7806793" y="193852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Holiday on Saturday</a:t>
            </a:r>
          </a:p>
        </p:txBody>
      </p:sp>
      <p:sp>
        <p:nvSpPr>
          <p:cNvPr id="44" name="Card 1 values"/>
          <p:cNvSpPr txBox="1"/>
          <p:nvPr/>
        </p:nvSpPr>
        <p:spPr>
          <a:xfrm>
            <a:off x="7806793" y="228600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−73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−55</a:t>
            </a:r>
          </a:p>
        </p:txBody>
      </p:sp>
      <p:sp>
        <p:nvSpPr>
          <p:cNvPr id="45" name="Card 2"/>
          <p:cNvSpPr/>
          <p:nvPr/>
        </p:nvSpPr>
        <p:spPr>
          <a:xfrm>
            <a:off x="7605625" y="310896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Card 2 label"/>
          <p:cNvSpPr txBox="1"/>
          <p:nvPr/>
        </p:nvSpPr>
        <p:spPr>
          <a:xfrm>
            <a:off x="7806793" y="321868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Easter Tuesday</a:t>
            </a:r>
          </a:p>
        </p:txBody>
      </p:sp>
      <p:sp>
        <p:nvSpPr>
          <p:cNvPr id="47" name="Card 2 values"/>
          <p:cNvSpPr txBox="1"/>
          <p:nvPr/>
        </p:nvSpPr>
        <p:spPr>
          <a:xfrm>
            <a:off x="7806793" y="356616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−30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−46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7605625" y="4434840"/>
            <a:ext cx="4119727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The midweek effect (−21 → +2) overlaps with the single holidays: read it together with them.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Time-varying coefficients.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Thousand MWh; values at the end of 2012 and of 2025.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Standard diagnostics barely see the calendar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KDE of rolling autocorrelations" descr="Densities of rolling autocorrelations at lags 7, 30 and 365 for e-invoicing and electricity demand: raw series, basic calendar and final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170432"/>
            <a:ext cx="6076143" cy="4389120"/>
          </a:xfrm>
          <a:prstGeom prst="rect">
            <a:avLst/>
          </a:prstGeom>
        </p:spPr>
      </p:pic>
      <p:sp>
        <p:nvSpPr>
          <p:cNvPr id="41" name="Point card 1"/>
          <p:cNvSpPr/>
          <p:nvPr/>
        </p:nvSpPr>
        <p:spPr>
          <a:xfrm>
            <a:off x="6908247" y="1280160"/>
            <a:ext cx="4817104" cy="126187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2" name="Point heading 1"/>
          <p:cNvSpPr txBox="1"/>
          <p:nvPr/>
        </p:nvSpPr>
        <p:spPr>
          <a:xfrm>
            <a:off x="7109415" y="1371600"/>
            <a:ext cx="44513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C00000"/>
                </a:solidFill>
                <a:latin typeface="Arial"/>
                <a:cs typeface="Arial"/>
              </a:rPr>
              <a:t>Seasonality: removed</a:t>
            </a:r>
          </a:p>
        </p:txBody>
      </p:sp>
      <p:sp>
        <p:nvSpPr>
          <p:cNvPr id="43" name="Point text 1"/>
          <p:cNvSpPr txBox="1"/>
          <p:nvPr/>
        </p:nvSpPr>
        <p:spPr>
          <a:xfrm>
            <a:off x="7109415" y="1737360"/>
            <a:ext cx="44513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The raw series is far from 0 at every lag; after adjustment all densities are centred around 0.</a:t>
            </a:r>
          </a:p>
        </p:txBody>
      </p:sp>
      <p:sp>
        <p:nvSpPr>
          <p:cNvPr id="44" name="Point card 2"/>
          <p:cNvSpPr/>
          <p:nvPr/>
        </p:nvSpPr>
        <p:spPr>
          <a:xfrm>
            <a:off x="6908247" y="2651760"/>
            <a:ext cx="4817104" cy="126187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5" name="Point heading 2"/>
          <p:cNvSpPr txBox="1"/>
          <p:nvPr/>
        </p:nvSpPr>
        <p:spPr>
          <a:xfrm>
            <a:off x="7109415" y="2743200"/>
            <a:ext cx="44513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942639"/>
                </a:solidFill>
                <a:latin typeface="Arial"/>
                <a:cs typeface="Arial"/>
              </a:rPr>
              <a:t>Calendar: hardly visible</a:t>
            </a:r>
          </a:p>
        </p:txBody>
      </p:sp>
      <p:sp>
        <p:nvSpPr>
          <p:cNvPr id="46" name="Point text 2"/>
          <p:cNvSpPr txBox="1"/>
          <p:nvPr/>
        </p:nvSpPr>
        <p:spPr>
          <a:xfrm>
            <a:off x="7109415" y="3108960"/>
            <a:ext cx="44513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Only at lag 30 for e-invoicing is the final calendar a little narrower than the basic one. Elsewhere the curves overlap.</a:t>
            </a:r>
          </a:p>
        </p:txBody>
      </p:sp>
      <p:sp>
        <p:nvSpPr>
          <p:cNvPr id="47" name="Point card 3"/>
          <p:cNvSpPr/>
          <p:nvPr/>
        </p:nvSpPr>
        <p:spPr>
          <a:xfrm>
            <a:off x="6908247" y="4023360"/>
            <a:ext cx="4817104" cy="126187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8" name="Point heading 3"/>
          <p:cNvSpPr txBox="1"/>
          <p:nvPr/>
        </p:nvSpPr>
        <p:spPr>
          <a:xfrm>
            <a:off x="7109415" y="4114800"/>
            <a:ext cx="44513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7B7C7E"/>
                </a:solidFill>
                <a:latin typeface="Arial"/>
                <a:cs typeface="Arial"/>
              </a:rPr>
              <a:t>Why</a:t>
            </a:r>
          </a:p>
        </p:txBody>
      </p:sp>
      <p:sp>
        <p:nvSpPr>
          <p:cNvPr id="49" name="Point text 3"/>
          <p:cNvSpPr txBox="1"/>
          <p:nvPr/>
        </p:nvSpPr>
        <p:spPr>
          <a:xfrm>
            <a:off x="7109415" y="4480560"/>
            <a:ext cx="44513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Special days are a few per year and get lost in rolling windows over all days. The DMR groups them by mechanism, so it sees them.</a:t>
            </a:r>
          </a:p>
        </p:txBody>
      </p:sp>
      <p:sp>
        <p:nvSpPr>
          <p:cNvPr id="52" name="Caption"/>
          <p:cNvSpPr txBox="1"/>
          <p:nvPr/>
        </p:nvSpPr>
        <p:spPr>
          <a:xfrm>
            <a:off x="466344" y="562356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Rolling autocorrelations of first differences (of logs for e-invoicing), windows of 28, 90 and 730 days; grey band ±0.025.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Why the calendar deserves the effort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Conclusion card 1"/>
          <p:cNvSpPr/>
          <p:nvPr/>
        </p:nvSpPr>
        <p:spPr>
          <a:xfrm>
            <a:off x="466344" y="12984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Conclusion number 1"/>
          <p:cNvSpPr/>
          <p:nvPr/>
        </p:nvSpPr>
        <p:spPr>
          <a:xfrm>
            <a:off x="694944" y="14996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Conclusion heading 1"/>
          <p:cNvSpPr txBox="1"/>
          <p:nvPr/>
        </p:nvSpPr>
        <p:spPr>
          <a:xfrm>
            <a:off x="1335024" y="15179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Special days are key days</a:t>
            </a:r>
          </a:p>
        </p:txBody>
      </p:sp>
      <p:sp>
        <p:nvSpPr>
          <p:cNvPr id="23" name="Conclusion text 1"/>
          <p:cNvSpPr txBox="1"/>
          <p:nvPr/>
        </p:nvSpPr>
        <p:spPr>
          <a:xfrm>
            <a:off x="1335024" y="20116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Month ends, holidays and bridges are the days users look at. A wrong calendar distorts exactly them: e-invoicing DMR from 0.76 to 1.27 with the basic calendar.</a:t>
            </a:r>
          </a:p>
        </p:txBody>
      </p:sp>
      <p:sp>
        <p:nvSpPr>
          <p:cNvPr id="25" name="Conclusion card 2"/>
          <p:cNvSpPr/>
          <p:nvPr/>
        </p:nvSpPr>
        <p:spPr>
          <a:xfrm>
            <a:off x="6236208" y="12984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6" name="Conclusion number 2"/>
          <p:cNvSpPr/>
          <p:nvPr/>
        </p:nvSpPr>
        <p:spPr>
          <a:xfrm>
            <a:off x="6464808" y="14996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7" name="Conclusion heading 2"/>
          <p:cNvSpPr txBox="1"/>
          <p:nvPr/>
        </p:nvSpPr>
        <p:spPr>
          <a:xfrm>
            <a:off x="7104888" y="15179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Calendar effects are information</a:t>
            </a:r>
          </a:p>
        </p:txBody>
      </p:sp>
      <p:sp>
        <p:nvSpPr>
          <p:cNvPr id="28" name="Conclusion text 2"/>
          <p:cNvSpPr txBox="1"/>
          <p:nvPr/>
        </p:nvSpPr>
        <p:spPr>
          <a:xfrm>
            <a:off x="7104888" y="20116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They can be read on their own: a month end worth almost nine weekdays of invoicing; holiday effects on electricity down 10–18% since 2012.</a:t>
            </a:r>
          </a:p>
        </p:txBody>
      </p:sp>
      <p:sp>
        <p:nvSpPr>
          <p:cNvPr id="30" name="Conclusion card 3"/>
          <p:cNvSpPr/>
          <p:nvPr/>
        </p:nvSpPr>
        <p:spPr>
          <a:xfrm>
            <a:off x="466344" y="33558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1" name="Conclusion number 3"/>
          <p:cNvSpPr/>
          <p:nvPr/>
        </p:nvSpPr>
        <p:spPr>
          <a:xfrm>
            <a:off x="694944" y="35570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2" name="Conclusion heading 3"/>
          <p:cNvSpPr txBox="1"/>
          <p:nvPr/>
        </p:nvSpPr>
        <p:spPr>
          <a:xfrm>
            <a:off x="1335024" y="35753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Daily errors do not average out</a:t>
            </a:r>
          </a:p>
        </p:txBody>
      </p:sp>
      <p:sp>
        <p:nvSpPr>
          <p:cNvPr id="33" name="Conclusion text 3"/>
          <p:cNvSpPr txBox="1"/>
          <p:nvPr/>
        </p:nvSpPr>
        <p:spPr>
          <a:xfrm>
            <a:off x="1335024" y="40690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A monthly total hides them; a daily series shows each one as a false movement, or as an outlier that should have been a calendar effect.</a:t>
            </a:r>
          </a:p>
        </p:txBody>
      </p:sp>
      <p:sp>
        <p:nvSpPr>
          <p:cNvPr id="35" name="Conclusion card 4"/>
          <p:cNvSpPr/>
          <p:nvPr/>
        </p:nvSpPr>
        <p:spPr>
          <a:xfrm>
            <a:off x="6236208" y="33558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6" name="Conclusion number 4"/>
          <p:cNvSpPr/>
          <p:nvPr/>
        </p:nvSpPr>
        <p:spPr>
          <a:xfrm>
            <a:off x="6464808" y="35570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7" name="Conclusion heading 4"/>
          <p:cNvSpPr txBox="1"/>
          <p:nvPr/>
        </p:nvSpPr>
        <p:spPr>
          <a:xfrm>
            <a:off x="7104888" y="35753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Each series needs its own calendar</a:t>
            </a:r>
          </a:p>
        </p:txBody>
      </p:sp>
      <p:sp>
        <p:nvSpPr>
          <p:cNvPr id="38" name="Conclusion text 4"/>
          <p:cNvSpPr txBox="1"/>
          <p:nvPr/>
        </p:nvSpPr>
        <p:spPr>
          <a:xfrm>
            <a:off x="7104888" y="40690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Same diagnostic, different calendars: administrative for e-invoicing, production for electricity. Standard diagnostics barely see the difference; the DMR does.</a:t>
            </a:r>
          </a:p>
        </p:txBody>
      </p:sp>
      <p:sp>
        <p:nvSpPr>
          <p:cNvPr id="50" name="Take-home message"/>
          <p:cNvSpPr txBox="1"/>
          <p:nvPr/>
        </p:nvSpPr>
        <p:spPr>
          <a:xfrm>
            <a:off x="466344" y="5532120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C00000"/>
                </a:solidFill>
                <a:latin typeface="Arial"/>
                <a:cs typeface="Arial"/>
              </a:rPr>
              <a:t>Build the calendar from the evidence of each series, and check it on the adjusted series, day by day.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07821B-5649-449D-A1C2-3F67CA468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>
                <a:solidFill>
                  <a:srgbClr val="C00000"/>
                </a:solidFill>
              </a:rPr>
              <a:t>Thanks</a:t>
            </a:r>
            <a:r>
              <a:rPr lang="it-IT" dirty="0">
                <a:solidFill>
                  <a:srgbClr val="C00000"/>
                </a:solidFill>
              </a:rPr>
              <a:t> for </a:t>
            </a:r>
            <a:r>
              <a:rPr lang="it-IT" dirty="0" err="1">
                <a:solidFill>
                  <a:srgbClr val="C00000"/>
                </a:solidFill>
              </a:rPr>
              <a:t>your</a:t>
            </a:r>
            <a:r>
              <a:rPr lang="it-IT" dirty="0">
                <a:solidFill>
                  <a:srgbClr val="C00000"/>
                </a:solidFill>
              </a:rPr>
              <a:t> </a:t>
            </a:r>
            <a:r>
              <a:rPr lang="it-IT" dirty="0" err="1">
                <a:solidFill>
                  <a:srgbClr val="C00000"/>
                </a:solidFill>
              </a:rPr>
              <a:t>attention</a:t>
            </a:r>
            <a:r>
              <a:rPr lang="it-IT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2857493-CE83-4A58-B836-860B262B8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96093" y="3683529"/>
            <a:ext cx="5624623" cy="867206"/>
          </a:xfrm>
        </p:spPr>
        <p:txBody>
          <a:bodyPr/>
          <a:lstStyle/>
          <a:p>
            <a:r>
              <a:rPr lang="it-IT" sz="2400" dirty="0"/>
              <a:t>ALESSANDRO PIOVANI</a:t>
            </a:r>
          </a:p>
          <a:p>
            <a:r>
              <a:rPr lang="it-IT" sz="2400" dirty="0"/>
              <a:t>alessandro.piovani@istat.it</a:t>
            </a:r>
          </a:p>
        </p:txBody>
      </p:sp>
    </p:spTree>
    <p:extLst>
      <p:ext uri="{BB962C8B-B14F-4D97-AF65-F5344CB8AC3E}">
        <p14:creationId xmlns:p14="http://schemas.microsoft.com/office/powerpoint/2010/main" val="1975414769"/>
      </p:ext>
    </p:extLst>
  </p:cSld>
  <p:clrMapOvr>
    <a:masterClrMapping/>
  </p:clrMapOvr>
</p:sld>
</file>

<file path=ppt/theme/theme1.xml><?xml version="1.0" encoding="utf-8"?>
<a:theme xmlns:a="http://schemas.openxmlformats.org/drawingml/2006/main" name="elenco puntato">
  <a:themeElements>
    <a:clrScheme name="Personalizzato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C00000"/>
      </a:hlink>
      <a:folHlink>
        <a:srgbClr val="FF0000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61A2BE3120D674DA36C11D6006822D4" ma:contentTypeVersion="5" ma:contentTypeDescription="Creare un nuovo documento." ma:contentTypeScope="" ma:versionID="742e6049321d93803bb3bb587f561ffa">
  <xsd:schema xmlns:xsd="http://www.w3.org/2001/XMLSchema" xmlns:xs="http://www.w3.org/2001/XMLSchema" xmlns:p="http://schemas.microsoft.com/office/2006/metadata/properties" xmlns:ns2="c58f2efd-82a8-4ecf-b395-8c25e928921d" xmlns:ns3="459159c4-d20a-4ff3-9b11-fbd127bd52e5" xmlns:ns4="679261c3-551f-4e86-913f-177e0e529669" targetNamespace="http://schemas.microsoft.com/office/2006/metadata/properties" ma:root="true" ma:fieldsID="939ae4a7eaec2950db97a79ca38d2d4d" ns2:_="" ns3:_="" ns4:_="">
    <xsd:import namespace="c58f2efd-82a8-4ecf-b395-8c25e928921d"/>
    <xsd:import namespace="459159c4-d20a-4ff3-9b11-fbd127bd52e5"/>
    <xsd:import namespace="679261c3-551f-4e86-913f-177e0e529669"/>
    <xsd:element name="properties">
      <xsd:complexType>
        <xsd:sequence>
          <xsd:element name="documentManagement">
            <xsd:complexType>
              <xsd:all>
                <xsd:element ref="ns2:Categoria"/>
                <xsd:element ref="ns3:_dlc_DocId" minOccurs="0"/>
                <xsd:element ref="ns3:_dlc_DocIdUrl" minOccurs="0"/>
                <xsd:element ref="ns3:_dlc_DocIdPersistId" minOccurs="0"/>
                <xsd:element ref="ns4:SottoCategoria" minOccurs="0"/>
                <xsd:element ref="ns4:Ordin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8f2efd-82a8-4ecf-b395-8c25e928921d" elementFormDefault="qualified">
    <xsd:import namespace="http://schemas.microsoft.com/office/2006/documentManagement/types"/>
    <xsd:import namespace="http://schemas.microsoft.com/office/infopath/2007/PartnerControls"/>
    <xsd:element name="Categoria" ma:index="8" ma:displayName="Categoria" ma:default="Sfondi virtuali" ma:format="Dropdown" ma:internalName="Categoria">
      <xsd:simpleType>
        <xsd:restriction base="dms:Choice">
          <xsd:enumeration value="Sfondi virtuali"/>
          <xsd:enumeration value="1- Marchio/Logo"/>
          <xsd:enumeration value="2- Carta intestata"/>
          <xsd:enumeration value="3- Standard presentazioni Power Point"/>
          <xsd:enumeration value="4- Fogli di stile per documenti Word"/>
          <xsd:enumeration value="Libri digitali e cartacei"/>
          <xsd:enumeration value="Tavole di dati online"/>
          <xsd:enumeration value="Grafici interattivi"/>
          <xsd:enumeration value="5- Strumenti di comunicazione relativi ai Censimenti permanenti"/>
          <xsd:enumeration value="6- Strumenti di comunicazione relativi al Censimento generale dell'Agricoltura 2020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9159c4-d20a-4ff3-9b11-fbd127bd52e5" elementFormDefault="qualified">
    <xsd:import namespace="http://schemas.microsoft.com/office/2006/documentManagement/types"/>
    <xsd:import namespace="http://schemas.microsoft.com/office/infopath/2007/PartnerControls"/>
    <xsd:element name="_dlc_DocId" ma:index="9" nillable="true" ma:displayName="Valore ID documento" ma:description="Valore dell'ID documento assegnato all'elemento." ma:internalName="_dlc_DocId" ma:readOnly="true">
      <xsd:simpleType>
        <xsd:restriction base="dms:Text"/>
      </xsd:simpleType>
    </xsd:element>
    <xsd:element name="_dlc_DocIdUrl" ma:index="10" nillable="true" ma:displayName="ID documento" ma:description="Collegamento permanente al documento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1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9261c3-551f-4e86-913f-177e0e529669" elementFormDefault="qualified">
    <xsd:import namespace="http://schemas.microsoft.com/office/2006/documentManagement/types"/>
    <xsd:import namespace="http://schemas.microsoft.com/office/infopath/2007/PartnerControls"/>
    <xsd:element name="SottoCategoria" ma:index="12" nillable="true" ma:displayName="Sottocategoria" ma:default="-" ma:format="Dropdown" ma:internalName="SottoCategoria">
      <xsd:simpleType>
        <xsd:restriction base="dms:Choice">
          <xsd:enumeration value="-"/>
          <xsd:enumeration value="1- CP Generico"/>
          <xsd:enumeration value="2- CP Popolazione"/>
          <xsd:enumeration value="3- CP Imprese"/>
          <xsd:enumeration value="4- CP Istituzioni pubbliche"/>
          <xsd:enumeration value="5- CP Istituzioni non profit"/>
          <xsd:enumeration value="6- CP Agricoltura"/>
          <xsd:enumeration value="7- CP Agricoltura2020"/>
        </xsd:restriction>
      </xsd:simpleType>
    </xsd:element>
    <xsd:element name="Ordine" ma:index="13" nillable="true" ma:displayName="Ordine" ma:decimals="0" ma:internalName="Ordine">
      <xsd:simpleType>
        <xsd:restriction base="dms:Number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ottoCategoria xmlns="679261c3-551f-4e86-913f-177e0e529669">-</SottoCategoria>
    <Categoria xmlns="c58f2efd-82a8-4ecf-b395-8c25e928921d">3- Standard presentazioni Power Point</Categoria>
    <_dlc_DocId xmlns="459159c4-d20a-4ff3-9b11-fbd127bd52e5">INTRANET-14-174</_dlc_DocId>
    <_dlc_DocIdUrl xmlns="459159c4-d20a-4ff3-9b11-fbd127bd52e5">
      <Url>https://intranet.istat.it/Collaborativi/_layouts/15/DocIdRedir.aspx?ID=INTRANET-14-174</Url>
      <Description>INTRANET-14-174</Description>
    </_dlc_DocIdUrl>
    <Ordine xmlns="679261c3-551f-4e86-913f-177e0e529669">1</Ordine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A760D03-2285-4F80-B9FC-1F4F97E971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58f2efd-82a8-4ecf-b395-8c25e928921d"/>
    <ds:schemaRef ds:uri="459159c4-d20a-4ff3-9b11-fbd127bd52e5"/>
    <ds:schemaRef ds:uri="679261c3-551f-4e86-913f-177e0e52966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EF378BC-F4D0-4510-B4EC-07B6EFE18CF8}">
  <ds:schemaRefs>
    <ds:schemaRef ds:uri="http://purl.org/dc/dcmitype/"/>
    <ds:schemaRef ds:uri="http://purl.org/dc/terms/"/>
    <ds:schemaRef ds:uri="459159c4-d20a-4ff3-9b11-fbd127bd52e5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679261c3-551f-4e86-913f-177e0e529669"/>
    <ds:schemaRef ds:uri="c58f2efd-82a8-4ecf-b395-8c25e928921d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9296C4F-9DE9-4B43-AA80-1FC85656CFFA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BD9C238D-4D5C-4783-820B-4854DCE45D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47621</TotalTime>
  <Words>2171</Words>
  <Application>Microsoft Office PowerPoint</Application>
  <PresentationFormat>Widescreen</PresentationFormat>
  <Paragraphs>247</Paragraphs>
  <Slides>26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4" baseType="lpstr">
      <vt:lpstr>Arial</vt:lpstr>
      <vt:lpstr>Arial Narrow</vt:lpstr>
      <vt:lpstr>Calibri</vt:lpstr>
      <vt:lpstr>Cambria Math</vt:lpstr>
      <vt:lpstr>Courier New</vt:lpstr>
      <vt:lpstr>Gill Sans MT</vt:lpstr>
      <vt:lpstr>Wingdings 2</vt:lpstr>
      <vt:lpstr>elenco puntato</vt:lpstr>
      <vt:lpstr>Building calendars for daily seasonal adjustment: lessons from electronic invoicing and electricity demand</vt:lpstr>
      <vt:lpstr>Why the calendar matters in daily data</vt:lpstr>
      <vt:lpstr>Two daily series, two decompositions</vt:lpstr>
      <vt:lpstr>The Day-to-Month Ratio (DMR)</vt:lpstr>
      <vt:lpstr>Which DMR charts? The mechanism decides</vt:lpstr>
      <vt:lpstr>Day of the week: weekends stand out</vt:lpstr>
      <vt:lpstr>Day of the month: peaks on 1, 15 and 20</vt:lpstr>
      <vt:lpstr>Month end: a dip at the end, a ramp before</vt:lpstr>
      <vt:lpstr>Holidays: one dummy fails on weekends</vt:lpstr>
      <vt:lpstr>Around holidays: the dip spreads earlier</vt:lpstr>
      <vt:lpstr>Split by day type: errors of opposite sign</vt:lpstr>
      <vt:lpstr>Weekend month end: Friday takes the billing</vt:lpstr>
      <vt:lpstr>The final model: 32 calendar regressors</vt:lpstr>
      <vt:lpstr>Final calendar: a flat day-of-month profile</vt:lpstr>
      <vt:lpstr>Day by day: the residual pattern disappears</vt:lpstr>
      <vt:lpstr>Electricity demand: a production calendar</vt:lpstr>
      <vt:lpstr>Electricity: time-varying calendar effects</vt:lpstr>
      <vt:lpstr>Special days back within the ±5% band</vt:lpstr>
      <vt:lpstr>What remains: two known limits</vt:lpstr>
      <vt:lpstr>Pre-treatment: outliers show what is missing</vt:lpstr>
      <vt:lpstr>National holidays: the effects fade</vt:lpstr>
      <vt:lpstr>Bridges and semi-closures: no fading</vt:lpstr>
      <vt:lpstr>Saturday fades, Easter Tuesday deepens</vt:lpstr>
      <vt:lpstr>Standard diagnostics barely see the calendar</vt:lpstr>
      <vt:lpstr>Why the calendar deserves the effort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PresentazioneStandard</dc:title>
  <dc:creator>Bruna Tabanella</dc:creator>
  <cp:lastModifiedBy>alessandro piovani</cp:lastModifiedBy>
  <cp:revision>672</cp:revision>
  <cp:lastPrinted>2024-04-15T12:01:46Z</cp:lastPrinted>
  <dcterms:created xsi:type="dcterms:W3CDTF">2020-06-26T06:32:12Z</dcterms:created>
  <dcterms:modified xsi:type="dcterms:W3CDTF">2026-10-21T13:45:11Z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0x010100661A2BE3120D674DA36C11D6006822D4</vt:lpwstr>
  </property>
  <property fmtid="{D5CDD505-2E9C-101B-9397-08002B2CF9AE}" pid="3" name="_dlc_DocIdItemGuid">
    <vt:lpwstr>01bbfd09-35f5-4720-8777-8e3977c2110b</vt:lpwstr>
  </property>
</Properties>
</file>