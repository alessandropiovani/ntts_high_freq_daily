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5"/>
  </p:sldMasterIdLst>
  <p:notesMasterIdLst>
    <p:notesMasterId r:id="rId35"/>
  </p:notesMasterIdLst>
  <p:sldIdLst>
    <p:sldId id="315" r:id="rId6"/>
    <p:sldId id="316" r:id="rId7"/>
    <p:sldId id="367" r:id="rId8"/>
    <p:sldId id="347" r:id="rId9"/>
    <p:sldId id="348" r:id="rId10"/>
    <p:sldId id="356" r:id="rId11"/>
    <p:sldId id="355" r:id="rId12"/>
    <p:sldId id="354" r:id="rId13"/>
    <p:sldId id="353" r:id="rId14"/>
    <p:sldId id="352" r:id="rId15"/>
    <p:sldId id="351" r:id="rId16"/>
    <p:sldId id="350" r:id="rId17"/>
    <p:sldId id="357" r:id="rId18"/>
    <p:sldId id="349" r:id="rId19"/>
    <p:sldId id="358" r:id="rId20"/>
    <p:sldId id="372" r:id="rId21"/>
    <p:sldId id="359" r:id="rId22"/>
    <p:sldId id="368" r:id="rId23"/>
    <p:sldId id="363" r:id="rId24"/>
    <p:sldId id="364" r:id="rId25"/>
    <p:sldId id="365" r:id="rId26"/>
    <p:sldId id="360" r:id="rId27"/>
    <p:sldId id="361" r:id="rId28"/>
    <p:sldId id="362" r:id="rId29"/>
    <p:sldId id="370" r:id="rId30"/>
    <p:sldId id="371" r:id="rId31"/>
    <p:sldId id="366" r:id="rId32"/>
    <p:sldId id="369" r:id="rId33"/>
    <p:sldId id="327" r:id="rId34"/>
  </p:sldIdLst>
  <p:sldSz cx="12192000" cy="6858000"/>
  <p:notesSz cx="6858000" cy="9144000"/>
  <p:defaultTextStyle>
    <a:defPPr>
      <a:defRPr lang="en-US"/>
    </a:defPPr>
    <a:lvl1pPr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Gill Sans MT" panose="020B0502020104020203" pitchFamily="34" charset="0"/>
        <a:ea typeface="+mn-ea"/>
        <a:cs typeface="+mn-cs"/>
      </a:defRPr>
    </a:lvl1pPr>
    <a:lvl2pPr marL="4572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Gill Sans MT" panose="020B0502020104020203" pitchFamily="34" charset="0"/>
        <a:ea typeface="+mn-ea"/>
        <a:cs typeface="+mn-cs"/>
      </a:defRPr>
    </a:lvl2pPr>
    <a:lvl3pPr marL="9144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Gill Sans MT" panose="020B0502020104020203" pitchFamily="34" charset="0"/>
        <a:ea typeface="+mn-ea"/>
        <a:cs typeface="+mn-cs"/>
      </a:defRPr>
    </a:lvl3pPr>
    <a:lvl4pPr marL="13716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Gill Sans MT" panose="020B0502020104020203" pitchFamily="34" charset="0"/>
        <a:ea typeface="+mn-ea"/>
        <a:cs typeface="+mn-cs"/>
      </a:defRPr>
    </a:lvl4pPr>
    <a:lvl5pPr marL="18288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Gill Sans MT" panose="020B0502020104020203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Gill Sans MT" panose="020B0502020104020203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Gill Sans MT" panose="020B0502020104020203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Gill Sans MT" panose="020B0502020104020203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Gill Sans MT" panose="020B0502020104020203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7401">
          <p15:clr>
            <a:srgbClr val="A4A3A4"/>
          </p15:clr>
        </p15:guide>
        <p15:guide id="2" orient="horz" pos="417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C5C5C"/>
    <a:srgbClr val="7D7D7D"/>
    <a:srgbClr val="00CC99"/>
    <a:srgbClr val="AFD7FF"/>
    <a:srgbClr val="D9ECFF"/>
    <a:srgbClr val="99CCFF"/>
    <a:srgbClr val="FFFFCC"/>
    <a:srgbClr val="D3F5EE"/>
    <a:srgbClr val="A50021"/>
    <a:srgbClr val="96969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Stile medio 2 - Color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Stile medio 2 - Colore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Stile medio 2 - Colore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2833802-FEF1-4C79-8D5D-14CF1EAF98D9}" styleName="Stile chiaro 2 - Color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69012ECD-51FC-41F1-AA8D-1B2483CD663E}" styleName="Stile chiaro 2 - Colore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17292A2E-F333-43FB-9621-5CBBE7FDCDCB}" styleName="Stile chiaro 2 - Colore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10A1B5D5-9B99-4C35-A422-299274C87663}" styleName="Stile medio 1 - Colore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E8034E78-7F5D-4C2E-B375-FC64B27BC917}" styleName="Stile scuro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7E9639D4-E3E2-4D34-9284-5A2195B3D0D7}" styleName="Stile chiaro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940675A-B579-460E-94D1-54222C63F5DA}" styleName="Nessuno stile, griglia tabel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6265" autoAdjust="0"/>
  </p:normalViewPr>
  <p:slideViewPr>
    <p:cSldViewPr snapToGrid="0" showGuides="1">
      <p:cViewPr varScale="1">
        <p:scale>
          <a:sx n="107" d="100"/>
          <a:sy n="107" d="100"/>
        </p:scale>
        <p:origin x="138" y="144"/>
      </p:cViewPr>
      <p:guideLst>
        <p:guide pos="7401"/>
        <p:guide orient="horz" pos="417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54000" cy="540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tableStyles" Target="tableStyles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slide" Target="slides/slide24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viewProps" Target="viewProps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presProps" Target="presProp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3.xml"/><Relationship Id="rId3" Type="http://schemas.openxmlformats.org/officeDocument/2006/relationships/customXml" Target="../customXml/item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</a:defRPr>
            </a:lvl1pPr>
          </a:lstStyle>
          <a:p>
            <a:pPr>
              <a:defRPr/>
            </a:pPr>
            <a:fld id="{C5F835E2-227D-43BA-B3A5-E9E433264387}" type="datetimeFigureOut">
              <a:rPr lang="en-US"/>
              <a:pPr>
                <a:defRPr/>
              </a:pPr>
              <a:t>10/28/2026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</a:defRPr>
            </a:lvl1pPr>
          </a:lstStyle>
          <a:p>
            <a:pPr>
              <a:defRPr/>
            </a:pPr>
            <a:fld id="{F5F5882C-B867-4FE7-97C9-87FBF93DC802}" type="slidenum">
              <a:rPr lang="en-US"/>
              <a:pPr>
                <a:defRPr/>
              </a:pPr>
              <a:t>‹N›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perti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71070" y="2621956"/>
            <a:ext cx="9818337" cy="2782819"/>
          </a:xfrm>
          <a:effectLst/>
        </p:spPr>
        <p:txBody>
          <a:bodyPr lIns="0" tIns="0" rIns="0" bIns="0" anchor="ctr">
            <a:normAutofit/>
          </a:bodyPr>
          <a:lstStyle>
            <a:lvl1pPr>
              <a:lnSpc>
                <a:spcPts val="3600"/>
              </a:lnSpc>
              <a:defRPr sz="3400" b="0" cap="none">
                <a:solidFill>
                  <a:srgbClr val="C00000"/>
                </a:solidFill>
                <a:latin typeface="Arial Narrow" panose="020B0606020202030204" pitchFamily="34" charset="0"/>
              </a:defRPr>
            </a:lvl1pPr>
          </a:lstStyle>
          <a:p>
            <a:r>
              <a:rPr lang="it-IT" dirty="0"/>
              <a:t>FARE CLIC PER MODIFICARE LO STILE DEL TITOLO DELLO SCHEMA FARE CLIC PER MODIFICARE LO STILE DEL TITOLO DELLO SCHEMA</a:t>
            </a:r>
            <a:endParaRPr lang="en-US" dirty="0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384E50FF-EF10-4A0E-8686-237E66B249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9184" y="6495314"/>
            <a:ext cx="7481115" cy="179536"/>
          </a:xfr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400"/>
              </a:lnSpc>
              <a:spcAft>
                <a:spcPts val="200"/>
              </a:spcAft>
              <a:buNone/>
              <a:defRPr sz="1100" b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dirty="0"/>
              <a:t>Modifica gli stili del testo dello schema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771492F8-659D-4E4C-A49D-B7C567539112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469185" y="1287956"/>
            <a:ext cx="3689746" cy="216000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ts val="1500"/>
              </a:lnSpc>
              <a:spcAft>
                <a:spcPts val="600"/>
              </a:spcAft>
              <a:buNone/>
              <a:defRPr lang="it-IT" sz="1200" dirty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dirty="0"/>
              <a:t>Modifica gli stili del testo dello schema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384E50FF-EF10-4A0E-8686-237E66B249CE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469184" y="1522956"/>
            <a:ext cx="3689747" cy="1080000"/>
          </a:xfr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2000" b="0">
                <a:solidFill>
                  <a:srgbClr val="636462"/>
                </a:solidFill>
                <a:latin typeface="Arial Narrow" panose="020B0606020202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dirty="0"/>
              <a:t>MODIFICA GLI STILI DEL TESTO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384E50FF-EF10-4A0E-8686-237E66B249CE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469184" y="6297672"/>
            <a:ext cx="7481115" cy="188513"/>
          </a:xfr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400"/>
              </a:lnSpc>
              <a:spcAft>
                <a:spcPts val="200"/>
              </a:spcAft>
              <a:buNone/>
              <a:defRPr sz="1400" b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6020202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dirty="0"/>
              <a:t>MODIFICA GLI STILI DEL TESTO DELLO SCHEMA</a:t>
            </a:r>
          </a:p>
        </p:txBody>
      </p:sp>
      <p:sp>
        <p:nvSpPr>
          <p:cNvPr id="12" name="Rectangle 8">
            <a:extLst>
              <a:ext uri="{FF2B5EF4-FFF2-40B4-BE49-F238E27FC236}">
                <a16:creationId xmlns:a16="http://schemas.microsoft.com/office/drawing/2014/main" id="{A8FC9CB7-7D84-419A-988C-7B8817E18EDB}"/>
              </a:ext>
            </a:extLst>
          </p:cNvPr>
          <p:cNvSpPr/>
          <p:nvPr userDrawn="1"/>
        </p:nvSpPr>
        <p:spPr>
          <a:xfrm>
            <a:off x="463550" y="0"/>
            <a:ext cx="3708400" cy="1089025"/>
          </a:xfrm>
          <a:prstGeom prst="rect">
            <a:avLst/>
          </a:prstGeom>
          <a:solidFill>
            <a:srgbClr val="9426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4" name="Rectangle 10">
            <a:extLst>
              <a:ext uri="{FF2B5EF4-FFF2-40B4-BE49-F238E27FC236}">
                <a16:creationId xmlns:a16="http://schemas.microsoft.com/office/drawing/2014/main" id="{F57BA760-D00A-4F5B-B978-07F3F810367F}"/>
              </a:ext>
            </a:extLst>
          </p:cNvPr>
          <p:cNvSpPr/>
          <p:nvPr userDrawn="1"/>
        </p:nvSpPr>
        <p:spPr>
          <a:xfrm>
            <a:off x="4251325" y="0"/>
            <a:ext cx="3706813" cy="1089025"/>
          </a:xfrm>
          <a:prstGeom prst="rect">
            <a:avLst/>
          </a:prstGeom>
          <a:solidFill>
            <a:srgbClr val="CC2A2A">
              <a:alpha val="98824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617FA033-79E9-4921-B88E-03D9DAACCE5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550841" y="637832"/>
            <a:ext cx="2700000" cy="461927"/>
          </a:xfrm>
          <a:prstGeom prst="rect">
            <a:avLst/>
          </a:prstGeom>
        </p:spPr>
      </p:pic>
      <p:sp>
        <p:nvSpPr>
          <p:cNvPr id="16" name="Rectangle 9">
            <a:extLst>
              <a:ext uri="{FF2B5EF4-FFF2-40B4-BE49-F238E27FC236}">
                <a16:creationId xmlns:a16="http://schemas.microsoft.com/office/drawing/2014/main" id="{821E4C3A-67D5-4B9E-B373-7B560EA0839E}"/>
              </a:ext>
            </a:extLst>
          </p:cNvPr>
          <p:cNvSpPr/>
          <p:nvPr userDrawn="1"/>
        </p:nvSpPr>
        <p:spPr>
          <a:xfrm>
            <a:off x="8037513" y="0"/>
            <a:ext cx="3708400" cy="72000"/>
          </a:xfrm>
          <a:prstGeom prst="rect">
            <a:avLst/>
          </a:prstGeom>
          <a:solidFill>
            <a:srgbClr val="7B7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6559982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81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dice o elenco punt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magin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68242" y="6402657"/>
            <a:ext cx="840882" cy="245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201" y="1557338"/>
            <a:ext cx="11264002" cy="4481153"/>
          </a:xfrm>
        </p:spPr>
        <p:txBody>
          <a:bodyPr lIns="0" tIns="0" rIns="0" bIns="0">
            <a:noAutofit/>
          </a:bodyPr>
          <a:lstStyle>
            <a:lvl1pPr marL="285750" indent="-285750">
              <a:spcAft>
                <a:spcPts val="1800"/>
              </a:spcAft>
              <a:buSzPct val="120000"/>
              <a:buFont typeface="Courier New" panose="02070309020205020404" pitchFamily="49" charset="0"/>
              <a:buChar char="o"/>
              <a:defRPr sz="1800" b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385672B4-73ED-0645-AF4D-5916A1BEEC0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8895" y="503475"/>
            <a:ext cx="11269308" cy="384721"/>
          </a:xfrm>
          <a:prstGeom prst="rect">
            <a:avLst/>
          </a:prstGeom>
        </p:spPr>
        <p:txBody>
          <a:bodyPr lIns="0" tIns="0" rIns="0" bIns="0" rtlCol="0">
            <a:spAutoFit/>
          </a:bodyPr>
          <a:lstStyle>
            <a:lvl1pPr>
              <a:lnSpc>
                <a:spcPts val="3000"/>
              </a:lnSpc>
              <a:defRPr sz="2800" cap="none" baseline="0"/>
            </a:lvl1pPr>
          </a:lstStyle>
          <a:p>
            <a:r>
              <a:rPr lang="it-IT" dirty="0"/>
              <a:t>Fare clic per modificare lo stile del titolo dello schema</a:t>
            </a:r>
            <a:endParaRPr lang="en-US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C2053620-96AC-EF47-823B-D2E90BBCE58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898588" y="6394753"/>
            <a:ext cx="9644444" cy="259965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900" cap="all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FF4E3F12-6C4D-C642-90EC-9F9AE3161A4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323469" y="6397225"/>
            <a:ext cx="5016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 b="1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48B4153A-D4C5-4CEF-8992-0D8815C829E3}" type="slidenum">
              <a:rPr lang="en-US" smtClean="0"/>
              <a:pPr>
                <a:defRPr/>
              </a:pPr>
              <a:t>‹N›</a:t>
            </a:fld>
            <a:endParaRPr lang="en-US" dirty="0"/>
          </a:p>
        </p:txBody>
      </p:sp>
      <p:sp>
        <p:nvSpPr>
          <p:cNvPr id="11" name="Rectangle 8">
            <a:extLst>
              <a:ext uri="{FF2B5EF4-FFF2-40B4-BE49-F238E27FC236}">
                <a16:creationId xmlns:a16="http://schemas.microsoft.com/office/drawing/2014/main" id="{6BE73488-10D2-46C5-8886-B5262B4036E9}"/>
              </a:ext>
            </a:extLst>
          </p:cNvPr>
          <p:cNvSpPr/>
          <p:nvPr userDrawn="1"/>
        </p:nvSpPr>
        <p:spPr>
          <a:xfrm>
            <a:off x="463550" y="1017025"/>
            <a:ext cx="3708400" cy="72000"/>
          </a:xfrm>
          <a:prstGeom prst="rect">
            <a:avLst/>
          </a:prstGeom>
          <a:solidFill>
            <a:srgbClr val="9426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Rectangle 10">
            <a:extLst>
              <a:ext uri="{FF2B5EF4-FFF2-40B4-BE49-F238E27FC236}">
                <a16:creationId xmlns:a16="http://schemas.microsoft.com/office/drawing/2014/main" id="{9DFCC48B-BCC3-4AAB-8EE4-592BE912D5A8}"/>
              </a:ext>
            </a:extLst>
          </p:cNvPr>
          <p:cNvSpPr/>
          <p:nvPr userDrawn="1"/>
        </p:nvSpPr>
        <p:spPr>
          <a:xfrm>
            <a:off x="4251325" y="1017025"/>
            <a:ext cx="3706813" cy="72000"/>
          </a:xfrm>
          <a:prstGeom prst="rect">
            <a:avLst/>
          </a:prstGeom>
          <a:solidFill>
            <a:srgbClr val="CC2A2A">
              <a:alpha val="98824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3" name="Rectangle 9">
            <a:extLst>
              <a:ext uri="{FF2B5EF4-FFF2-40B4-BE49-F238E27FC236}">
                <a16:creationId xmlns:a16="http://schemas.microsoft.com/office/drawing/2014/main" id="{02EE5703-F2FA-4A41-8927-030A564B0F80}"/>
              </a:ext>
            </a:extLst>
          </p:cNvPr>
          <p:cNvSpPr/>
          <p:nvPr userDrawn="1"/>
        </p:nvSpPr>
        <p:spPr>
          <a:xfrm>
            <a:off x="8037513" y="1017025"/>
            <a:ext cx="3708400" cy="72000"/>
          </a:xfrm>
          <a:prstGeom prst="rect">
            <a:avLst/>
          </a:prstGeom>
          <a:solidFill>
            <a:srgbClr val="7B7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6390548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178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sto 1 colon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201" y="1557338"/>
            <a:ext cx="11264002" cy="4472526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800" b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86F2967F-3AC1-482F-9FA1-FB5058EEC4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895" y="503475"/>
            <a:ext cx="11269308" cy="384721"/>
          </a:xfrm>
          <a:prstGeom prst="rect">
            <a:avLst/>
          </a:prstGeom>
        </p:spPr>
        <p:txBody>
          <a:bodyPr lIns="0" tIns="0" rIns="0" bIns="0" rtlCol="0">
            <a:spAutoFit/>
          </a:bodyPr>
          <a:lstStyle>
            <a:lvl1pPr>
              <a:lnSpc>
                <a:spcPts val="3000"/>
              </a:lnSpc>
              <a:defRPr sz="2800" cap="none"/>
            </a:lvl1pPr>
          </a:lstStyle>
          <a:p>
            <a:r>
              <a:rPr lang="it-IT" dirty="0"/>
              <a:t>Fare clic per modificare lo stile del titolo dello schema</a:t>
            </a:r>
            <a:endParaRPr lang="en-US" dirty="0"/>
          </a:p>
        </p:txBody>
      </p:sp>
      <p:sp>
        <p:nvSpPr>
          <p:cNvPr id="13" name="Rectangle 8">
            <a:extLst>
              <a:ext uri="{FF2B5EF4-FFF2-40B4-BE49-F238E27FC236}">
                <a16:creationId xmlns:a16="http://schemas.microsoft.com/office/drawing/2014/main" id="{BB147208-B303-4867-B415-427BFDB712AA}"/>
              </a:ext>
            </a:extLst>
          </p:cNvPr>
          <p:cNvSpPr/>
          <p:nvPr userDrawn="1"/>
        </p:nvSpPr>
        <p:spPr>
          <a:xfrm>
            <a:off x="463550" y="1017025"/>
            <a:ext cx="3708400" cy="72000"/>
          </a:xfrm>
          <a:prstGeom prst="rect">
            <a:avLst/>
          </a:prstGeom>
          <a:solidFill>
            <a:srgbClr val="9426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4" name="Rectangle 10">
            <a:extLst>
              <a:ext uri="{FF2B5EF4-FFF2-40B4-BE49-F238E27FC236}">
                <a16:creationId xmlns:a16="http://schemas.microsoft.com/office/drawing/2014/main" id="{3AC1916D-DE81-4DEB-837D-9B1EBBEBAB9E}"/>
              </a:ext>
            </a:extLst>
          </p:cNvPr>
          <p:cNvSpPr/>
          <p:nvPr userDrawn="1"/>
        </p:nvSpPr>
        <p:spPr>
          <a:xfrm>
            <a:off x="4251325" y="1017025"/>
            <a:ext cx="3706813" cy="72000"/>
          </a:xfrm>
          <a:prstGeom prst="rect">
            <a:avLst/>
          </a:prstGeom>
          <a:solidFill>
            <a:srgbClr val="CC2A2A">
              <a:alpha val="98824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5" name="Rectangle 9">
            <a:extLst>
              <a:ext uri="{FF2B5EF4-FFF2-40B4-BE49-F238E27FC236}">
                <a16:creationId xmlns:a16="http://schemas.microsoft.com/office/drawing/2014/main" id="{EA5C2815-3F5D-4F03-A9B8-AD61D140AB8F}"/>
              </a:ext>
            </a:extLst>
          </p:cNvPr>
          <p:cNvSpPr/>
          <p:nvPr userDrawn="1"/>
        </p:nvSpPr>
        <p:spPr>
          <a:xfrm>
            <a:off x="8037513" y="1017025"/>
            <a:ext cx="3708400" cy="72000"/>
          </a:xfrm>
          <a:prstGeom prst="rect">
            <a:avLst/>
          </a:prstGeom>
          <a:solidFill>
            <a:srgbClr val="7B7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16" name="Immagine 15">
            <a:extLst>
              <a:ext uri="{FF2B5EF4-FFF2-40B4-BE49-F238E27FC236}">
                <a16:creationId xmlns:a16="http://schemas.microsoft.com/office/drawing/2014/main" id="{211B9727-26D5-42C6-AA8E-16F0A955108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68242" y="6402657"/>
            <a:ext cx="840882" cy="245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3DB52600-6114-4FF8-A64F-1419078C066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898588" y="6394753"/>
            <a:ext cx="9644444" cy="259965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900" cap="all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C98E623A-5D96-4DDD-91E6-E567C5082EF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323469" y="6397225"/>
            <a:ext cx="5016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 b="1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48B4153A-D4C5-4CEF-8992-0D8815C829E3}" type="slidenum">
              <a:rPr lang="en-US" smtClean="0"/>
              <a:pPr>
                <a:defRPr/>
              </a:pPr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20286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81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sto 2 colon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3786" y="1557338"/>
            <a:ext cx="11276765" cy="4472526"/>
          </a:xfrm>
        </p:spPr>
        <p:txBody>
          <a:bodyPr lIns="0" tIns="0" rIns="0" bIns="0" numCol="2" spcCol="540000">
            <a:noAutofit/>
          </a:bodyPr>
          <a:lstStyle>
            <a:lvl1pPr marL="0" indent="0">
              <a:buNone/>
              <a:defRPr sz="1800" b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13" name="Rectangle 8">
            <a:extLst>
              <a:ext uri="{FF2B5EF4-FFF2-40B4-BE49-F238E27FC236}">
                <a16:creationId xmlns:a16="http://schemas.microsoft.com/office/drawing/2014/main" id="{85F80FCE-DB62-4AE9-8E37-C5ECE83CEA2A}"/>
              </a:ext>
            </a:extLst>
          </p:cNvPr>
          <p:cNvSpPr/>
          <p:nvPr userDrawn="1"/>
        </p:nvSpPr>
        <p:spPr>
          <a:xfrm>
            <a:off x="463550" y="1017025"/>
            <a:ext cx="3708400" cy="72000"/>
          </a:xfrm>
          <a:prstGeom prst="rect">
            <a:avLst/>
          </a:prstGeom>
          <a:solidFill>
            <a:srgbClr val="9426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4" name="Rectangle 10">
            <a:extLst>
              <a:ext uri="{FF2B5EF4-FFF2-40B4-BE49-F238E27FC236}">
                <a16:creationId xmlns:a16="http://schemas.microsoft.com/office/drawing/2014/main" id="{5337BA55-D4F4-482D-9902-A7DF343CF4BD}"/>
              </a:ext>
            </a:extLst>
          </p:cNvPr>
          <p:cNvSpPr/>
          <p:nvPr userDrawn="1"/>
        </p:nvSpPr>
        <p:spPr>
          <a:xfrm>
            <a:off x="4251325" y="1017025"/>
            <a:ext cx="3706813" cy="72000"/>
          </a:xfrm>
          <a:prstGeom prst="rect">
            <a:avLst/>
          </a:prstGeom>
          <a:solidFill>
            <a:srgbClr val="CC2A2A">
              <a:alpha val="98824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5" name="Rectangle 9">
            <a:extLst>
              <a:ext uri="{FF2B5EF4-FFF2-40B4-BE49-F238E27FC236}">
                <a16:creationId xmlns:a16="http://schemas.microsoft.com/office/drawing/2014/main" id="{1E77F523-A47D-4ED1-A730-DF5462674088}"/>
              </a:ext>
            </a:extLst>
          </p:cNvPr>
          <p:cNvSpPr/>
          <p:nvPr userDrawn="1"/>
        </p:nvSpPr>
        <p:spPr>
          <a:xfrm>
            <a:off x="8037513" y="1017025"/>
            <a:ext cx="3708400" cy="72000"/>
          </a:xfrm>
          <a:prstGeom prst="rect">
            <a:avLst/>
          </a:prstGeom>
          <a:solidFill>
            <a:srgbClr val="7B7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16" name="Immagine 15">
            <a:extLst>
              <a:ext uri="{FF2B5EF4-FFF2-40B4-BE49-F238E27FC236}">
                <a16:creationId xmlns:a16="http://schemas.microsoft.com/office/drawing/2014/main" id="{B35A5DA5-9B3D-430B-9B7D-12A49C89600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68242" y="6402657"/>
            <a:ext cx="840882" cy="245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BC87520E-C40B-4CBE-A2FA-D2587AA9999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898588" y="6394753"/>
            <a:ext cx="9644444" cy="259965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900" cap="all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98ED1510-B77E-4E58-8FB2-F06301CA45C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323469" y="6397225"/>
            <a:ext cx="5016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 b="1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48B4153A-D4C5-4CEF-8992-0D8815C829E3}" type="slidenum">
              <a:rPr lang="en-US" smtClean="0"/>
              <a:pPr>
                <a:defRPr/>
              </a:pPr>
              <a:t>‹N›</a:t>
            </a:fld>
            <a:endParaRPr lang="en-US" dirty="0"/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385672B4-73ED-0645-AF4D-5916A1BEEC0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8895" y="503475"/>
            <a:ext cx="11269308" cy="384721"/>
          </a:xfrm>
          <a:prstGeom prst="rect">
            <a:avLst/>
          </a:prstGeom>
        </p:spPr>
        <p:txBody>
          <a:bodyPr lIns="0" tIns="0" rIns="0" bIns="0" rtlCol="0">
            <a:spAutoFit/>
          </a:bodyPr>
          <a:lstStyle>
            <a:lvl1pPr>
              <a:lnSpc>
                <a:spcPts val="3000"/>
              </a:lnSpc>
              <a:defRPr sz="2800" cap="none" baseline="0"/>
            </a:lvl1pPr>
          </a:lstStyle>
          <a:p>
            <a:r>
              <a:rPr lang="it-IT" dirty="0"/>
              <a:t>Fare clic per modificare lo stile del titolo dello schema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75884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81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sto 3 colon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3787" y="1557337"/>
            <a:ext cx="11269308" cy="4392613"/>
          </a:xfrm>
        </p:spPr>
        <p:txBody>
          <a:bodyPr lIns="0" tIns="0" rIns="0" bIns="0" numCol="3" spcCol="432000">
            <a:noAutofit/>
          </a:bodyPr>
          <a:lstStyle>
            <a:lvl1pPr marL="0" indent="0">
              <a:buNone/>
              <a:defRPr sz="1800" b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13" name="Rectangle 8">
            <a:extLst>
              <a:ext uri="{FF2B5EF4-FFF2-40B4-BE49-F238E27FC236}">
                <a16:creationId xmlns:a16="http://schemas.microsoft.com/office/drawing/2014/main" id="{A97EA33F-8FE6-43F7-B87B-F8A75881DC82}"/>
              </a:ext>
            </a:extLst>
          </p:cNvPr>
          <p:cNvSpPr/>
          <p:nvPr userDrawn="1"/>
        </p:nvSpPr>
        <p:spPr>
          <a:xfrm>
            <a:off x="463550" y="1017025"/>
            <a:ext cx="3708400" cy="72000"/>
          </a:xfrm>
          <a:prstGeom prst="rect">
            <a:avLst/>
          </a:prstGeom>
          <a:solidFill>
            <a:srgbClr val="9426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4" name="Rectangle 10">
            <a:extLst>
              <a:ext uri="{FF2B5EF4-FFF2-40B4-BE49-F238E27FC236}">
                <a16:creationId xmlns:a16="http://schemas.microsoft.com/office/drawing/2014/main" id="{4457ED34-8FD7-4334-B58D-DE5268F487BB}"/>
              </a:ext>
            </a:extLst>
          </p:cNvPr>
          <p:cNvSpPr/>
          <p:nvPr userDrawn="1"/>
        </p:nvSpPr>
        <p:spPr>
          <a:xfrm>
            <a:off x="4251325" y="1017025"/>
            <a:ext cx="3706813" cy="72000"/>
          </a:xfrm>
          <a:prstGeom prst="rect">
            <a:avLst/>
          </a:prstGeom>
          <a:solidFill>
            <a:srgbClr val="CC2A2A">
              <a:alpha val="98824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5" name="Rectangle 9">
            <a:extLst>
              <a:ext uri="{FF2B5EF4-FFF2-40B4-BE49-F238E27FC236}">
                <a16:creationId xmlns:a16="http://schemas.microsoft.com/office/drawing/2014/main" id="{DE95361B-2753-4630-8435-D8D6DFA2E2B3}"/>
              </a:ext>
            </a:extLst>
          </p:cNvPr>
          <p:cNvSpPr/>
          <p:nvPr userDrawn="1"/>
        </p:nvSpPr>
        <p:spPr>
          <a:xfrm>
            <a:off x="8037513" y="1017025"/>
            <a:ext cx="3708400" cy="72000"/>
          </a:xfrm>
          <a:prstGeom prst="rect">
            <a:avLst/>
          </a:prstGeom>
          <a:solidFill>
            <a:srgbClr val="7B7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16" name="Immagine 15">
            <a:extLst>
              <a:ext uri="{FF2B5EF4-FFF2-40B4-BE49-F238E27FC236}">
                <a16:creationId xmlns:a16="http://schemas.microsoft.com/office/drawing/2014/main" id="{9953CB5C-8C23-4943-AA23-507887A04CC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68242" y="6402657"/>
            <a:ext cx="840882" cy="245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2EA2B975-3B1B-40A2-9512-420987E4167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898588" y="6394753"/>
            <a:ext cx="9644444" cy="259965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900" cap="all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2FD83117-18D4-4F50-B150-B24C3ADCCAF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323469" y="6397225"/>
            <a:ext cx="5016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 b="1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48B4153A-D4C5-4CEF-8992-0D8815C829E3}" type="slidenum">
              <a:rPr lang="en-US" smtClean="0"/>
              <a:pPr>
                <a:defRPr/>
              </a:pPr>
              <a:t>‹N›</a:t>
            </a:fld>
            <a:endParaRPr lang="en-US" dirty="0"/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385672B4-73ED-0645-AF4D-5916A1BEEC0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8895" y="503475"/>
            <a:ext cx="11269308" cy="384721"/>
          </a:xfrm>
          <a:prstGeom prst="rect">
            <a:avLst/>
          </a:prstGeom>
        </p:spPr>
        <p:txBody>
          <a:bodyPr lIns="0" tIns="0" rIns="0" bIns="0" rtlCol="0">
            <a:spAutoFit/>
          </a:bodyPr>
          <a:lstStyle>
            <a:lvl1pPr>
              <a:lnSpc>
                <a:spcPts val="3000"/>
              </a:lnSpc>
              <a:defRPr sz="2800" cap="none" baseline="0"/>
            </a:lvl1pPr>
          </a:lstStyle>
          <a:p>
            <a:r>
              <a:rPr lang="it-IT" dirty="0"/>
              <a:t>Fare clic per modificare lo stile del titolo dello schema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92070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48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sto+grafico picc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tangolo 5">
            <a:extLst>
              <a:ext uri="{FF2B5EF4-FFF2-40B4-BE49-F238E27FC236}">
                <a16:creationId xmlns:a16="http://schemas.microsoft.com/office/drawing/2014/main" id="{8FFAF148-8C21-EB4F-9093-19ADD1A51882}"/>
              </a:ext>
            </a:extLst>
          </p:cNvPr>
          <p:cNvSpPr/>
          <p:nvPr userDrawn="1"/>
        </p:nvSpPr>
        <p:spPr>
          <a:xfrm>
            <a:off x="8081963" y="1557338"/>
            <a:ext cx="3653783" cy="4392612"/>
          </a:xfrm>
          <a:prstGeom prst="rect">
            <a:avLst/>
          </a:prstGeom>
          <a:noFill/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it-IT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7519" y="1557338"/>
            <a:ext cx="7305513" cy="4392612"/>
          </a:xfrm>
        </p:spPr>
        <p:txBody>
          <a:bodyPr lIns="0" tIns="0" rIns="0" bIns="0" spcCol="360000">
            <a:noAutofit/>
          </a:bodyPr>
          <a:lstStyle>
            <a:lvl1pPr marL="0" indent="0">
              <a:buNone/>
              <a:defRPr sz="1800" b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8FE997AC-2DEF-4982-9219-0DE8E80C2C1D}"/>
              </a:ext>
            </a:extLst>
          </p:cNvPr>
          <p:cNvSpPr>
            <a:spLocks noGrp="1"/>
          </p:cNvSpPr>
          <p:nvPr>
            <p:ph type="body" sz="half" idx="11" hasCustomPrompt="1"/>
          </p:nvPr>
        </p:nvSpPr>
        <p:spPr>
          <a:xfrm>
            <a:off x="8162224" y="1696688"/>
            <a:ext cx="3492000" cy="457200"/>
          </a:xfrm>
        </p:spPr>
        <p:txBody>
          <a:bodyPr lIns="0" tIns="0" rIns="0" bIns="0">
            <a:noAutofit/>
          </a:bodyPr>
          <a:lstStyle>
            <a:lvl1pPr marL="0" indent="0" algn="ctr">
              <a:buNone/>
              <a:defRPr sz="1400">
                <a:solidFill>
                  <a:srgbClr val="CC2A2A"/>
                </a:solidFill>
                <a:latin typeface="Arial Narrow" panose="020B0606020202030204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 dirty="0"/>
              <a:t>FARE CLIC PER MODIFICARE GLI STILI DEL TESTO</a:t>
            </a:r>
          </a:p>
        </p:txBody>
      </p:sp>
      <p:sp>
        <p:nvSpPr>
          <p:cNvPr id="14" name="Content Placeholder 3">
            <a:extLst>
              <a:ext uri="{FF2B5EF4-FFF2-40B4-BE49-F238E27FC236}">
                <a16:creationId xmlns:a16="http://schemas.microsoft.com/office/drawing/2014/main" id="{5014FC49-70B3-48C6-AAEA-1B6DEB762B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162222" y="2261938"/>
            <a:ext cx="3492000" cy="3600000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24000" indent="0">
              <a:buFontTx/>
              <a:buNone/>
              <a:defRPr/>
            </a:lvl2pPr>
            <a:lvl3pPr marL="630000" indent="0">
              <a:buFontTx/>
              <a:buNone/>
              <a:defRPr/>
            </a:lvl3pPr>
            <a:lvl4pPr marL="1008000" indent="0">
              <a:buFontTx/>
              <a:buNone/>
              <a:defRPr/>
            </a:lvl4pPr>
            <a:lvl5pPr marL="1368000" indent="0">
              <a:buFontTx/>
              <a:buNone/>
              <a:defRPr/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endParaRPr lang="en-US" dirty="0"/>
          </a:p>
        </p:txBody>
      </p:sp>
      <p:sp>
        <p:nvSpPr>
          <p:cNvPr id="18" name="Rectangle 8">
            <a:extLst>
              <a:ext uri="{FF2B5EF4-FFF2-40B4-BE49-F238E27FC236}">
                <a16:creationId xmlns:a16="http://schemas.microsoft.com/office/drawing/2014/main" id="{BFF0EAD9-FB2A-4B10-AC7E-2867676F5114}"/>
              </a:ext>
            </a:extLst>
          </p:cNvPr>
          <p:cNvSpPr/>
          <p:nvPr userDrawn="1"/>
        </p:nvSpPr>
        <p:spPr>
          <a:xfrm>
            <a:off x="463550" y="1017025"/>
            <a:ext cx="3708400" cy="72000"/>
          </a:xfrm>
          <a:prstGeom prst="rect">
            <a:avLst/>
          </a:prstGeom>
          <a:solidFill>
            <a:srgbClr val="9426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10">
            <a:extLst>
              <a:ext uri="{FF2B5EF4-FFF2-40B4-BE49-F238E27FC236}">
                <a16:creationId xmlns:a16="http://schemas.microsoft.com/office/drawing/2014/main" id="{4DE85F56-C820-4265-A4F2-F29B8154D702}"/>
              </a:ext>
            </a:extLst>
          </p:cNvPr>
          <p:cNvSpPr/>
          <p:nvPr userDrawn="1"/>
        </p:nvSpPr>
        <p:spPr>
          <a:xfrm>
            <a:off x="4251325" y="1017025"/>
            <a:ext cx="3706813" cy="72000"/>
          </a:xfrm>
          <a:prstGeom prst="rect">
            <a:avLst/>
          </a:prstGeom>
          <a:solidFill>
            <a:srgbClr val="CC2A2A">
              <a:alpha val="98824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Rectangle 9">
            <a:extLst>
              <a:ext uri="{FF2B5EF4-FFF2-40B4-BE49-F238E27FC236}">
                <a16:creationId xmlns:a16="http://schemas.microsoft.com/office/drawing/2014/main" id="{6D6C4BEC-89CF-43B7-9CD5-49EE71B27928}"/>
              </a:ext>
            </a:extLst>
          </p:cNvPr>
          <p:cNvSpPr/>
          <p:nvPr userDrawn="1"/>
        </p:nvSpPr>
        <p:spPr>
          <a:xfrm>
            <a:off x="8037513" y="1017025"/>
            <a:ext cx="3708400" cy="72000"/>
          </a:xfrm>
          <a:prstGeom prst="rect">
            <a:avLst/>
          </a:prstGeom>
          <a:solidFill>
            <a:srgbClr val="7B7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21" name="Immagine 20">
            <a:extLst>
              <a:ext uri="{FF2B5EF4-FFF2-40B4-BE49-F238E27FC236}">
                <a16:creationId xmlns:a16="http://schemas.microsoft.com/office/drawing/2014/main" id="{665B96CC-8D49-494F-9C8A-BD85351377F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68242" y="6402657"/>
            <a:ext cx="840882" cy="245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Footer Placeholder 4">
            <a:extLst>
              <a:ext uri="{FF2B5EF4-FFF2-40B4-BE49-F238E27FC236}">
                <a16:creationId xmlns:a16="http://schemas.microsoft.com/office/drawing/2014/main" id="{C1DD249C-FFFA-4674-9CB5-ABEFDF50413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898588" y="6394753"/>
            <a:ext cx="9644444" cy="259965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900" cap="all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4" name="Slide Number Placeholder 5">
            <a:extLst>
              <a:ext uri="{FF2B5EF4-FFF2-40B4-BE49-F238E27FC236}">
                <a16:creationId xmlns:a16="http://schemas.microsoft.com/office/drawing/2014/main" id="{48756CF5-11CA-40E9-BF7A-4F15C16E34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3469" y="6397225"/>
            <a:ext cx="5016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 b="1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48B4153A-D4C5-4CEF-8992-0D8815C829E3}" type="slidenum">
              <a:rPr lang="en-US" smtClean="0"/>
              <a:pPr>
                <a:defRPr/>
              </a:pPr>
              <a:t>‹N›</a:t>
            </a:fld>
            <a:endParaRPr lang="en-US" dirty="0"/>
          </a:p>
        </p:txBody>
      </p:sp>
      <p:sp>
        <p:nvSpPr>
          <p:cNvPr id="15" name="Title Placeholder 1">
            <a:extLst>
              <a:ext uri="{FF2B5EF4-FFF2-40B4-BE49-F238E27FC236}">
                <a16:creationId xmlns:a16="http://schemas.microsoft.com/office/drawing/2014/main" id="{385672B4-73ED-0645-AF4D-5916A1BEEC0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8895" y="503475"/>
            <a:ext cx="11269308" cy="384721"/>
          </a:xfrm>
          <a:prstGeom prst="rect">
            <a:avLst/>
          </a:prstGeom>
        </p:spPr>
        <p:txBody>
          <a:bodyPr lIns="0" tIns="0" rIns="0" bIns="0" rtlCol="0">
            <a:spAutoFit/>
          </a:bodyPr>
          <a:lstStyle>
            <a:lvl1pPr>
              <a:lnSpc>
                <a:spcPts val="3000"/>
              </a:lnSpc>
              <a:defRPr sz="2800" cap="none" baseline="0"/>
            </a:lvl1pPr>
          </a:lstStyle>
          <a:p>
            <a:r>
              <a:rPr lang="it-IT" dirty="0"/>
              <a:t>Fare clic per modificare lo stile del titolo dello schema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52171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48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sto piccolo+grafi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tangolo 5">
            <a:extLst>
              <a:ext uri="{FF2B5EF4-FFF2-40B4-BE49-F238E27FC236}">
                <a16:creationId xmlns:a16="http://schemas.microsoft.com/office/drawing/2014/main" id="{8FFAF148-8C21-EB4F-9093-19ADD1A51882}"/>
              </a:ext>
            </a:extLst>
          </p:cNvPr>
          <p:cNvSpPr/>
          <p:nvPr userDrawn="1"/>
        </p:nvSpPr>
        <p:spPr>
          <a:xfrm>
            <a:off x="4251325" y="1557338"/>
            <a:ext cx="7485063" cy="4392612"/>
          </a:xfrm>
          <a:prstGeom prst="rect">
            <a:avLst/>
          </a:prstGeom>
          <a:noFill/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it-IT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895" y="1557338"/>
            <a:ext cx="3528947" cy="4392612"/>
          </a:xfrm>
        </p:spPr>
        <p:txBody>
          <a:bodyPr lIns="0" tIns="0" rIns="0" bIns="0" spcCol="360000">
            <a:noAutofit/>
          </a:bodyPr>
          <a:lstStyle>
            <a:lvl1pPr marL="0" indent="0">
              <a:buNone/>
              <a:defRPr sz="1800" b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10E25EF9-674A-4A68-B7E8-41ACE37CAFAA}"/>
              </a:ext>
            </a:extLst>
          </p:cNvPr>
          <p:cNvSpPr>
            <a:spLocks noGrp="1"/>
          </p:cNvSpPr>
          <p:nvPr>
            <p:ph type="body" sz="half" idx="11" hasCustomPrompt="1"/>
          </p:nvPr>
        </p:nvSpPr>
        <p:spPr>
          <a:xfrm>
            <a:off x="4366950" y="1679423"/>
            <a:ext cx="7253812" cy="457386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400">
                <a:solidFill>
                  <a:srgbClr val="CC2A2A"/>
                </a:solidFill>
                <a:latin typeface="Arial Narrow" panose="020B0606020202030204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 dirty="0"/>
              <a:t>FARE CLIC PER MODIFICARE GLI STILI DEL TESTO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9BCFAF2C-DE26-450A-8C7B-A22A26FF43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66949" y="2165685"/>
            <a:ext cx="7253813" cy="3704166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24000" indent="0">
              <a:buFontTx/>
              <a:buNone/>
              <a:defRPr/>
            </a:lvl2pPr>
            <a:lvl3pPr marL="630000" indent="0">
              <a:buFontTx/>
              <a:buNone/>
              <a:defRPr/>
            </a:lvl3pPr>
            <a:lvl4pPr marL="1008000" indent="0">
              <a:buFontTx/>
              <a:buNone/>
              <a:defRPr/>
            </a:lvl4pPr>
            <a:lvl5pPr marL="1368000" indent="0">
              <a:buFontTx/>
              <a:buNone/>
              <a:defRPr/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endParaRPr lang="en-US" dirty="0"/>
          </a:p>
        </p:txBody>
      </p:sp>
      <p:sp>
        <p:nvSpPr>
          <p:cNvPr id="15" name="Rectangle 8">
            <a:extLst>
              <a:ext uri="{FF2B5EF4-FFF2-40B4-BE49-F238E27FC236}">
                <a16:creationId xmlns:a16="http://schemas.microsoft.com/office/drawing/2014/main" id="{D9D4E6DC-14B8-4843-AA1D-57AA39AE5B3E}"/>
              </a:ext>
            </a:extLst>
          </p:cNvPr>
          <p:cNvSpPr/>
          <p:nvPr userDrawn="1"/>
        </p:nvSpPr>
        <p:spPr>
          <a:xfrm>
            <a:off x="463550" y="1017025"/>
            <a:ext cx="3708400" cy="72000"/>
          </a:xfrm>
          <a:prstGeom prst="rect">
            <a:avLst/>
          </a:prstGeom>
          <a:solidFill>
            <a:srgbClr val="9426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6" name="Rectangle 10">
            <a:extLst>
              <a:ext uri="{FF2B5EF4-FFF2-40B4-BE49-F238E27FC236}">
                <a16:creationId xmlns:a16="http://schemas.microsoft.com/office/drawing/2014/main" id="{91CC3821-0B1E-41AB-852F-4CB74E2EA3CC}"/>
              </a:ext>
            </a:extLst>
          </p:cNvPr>
          <p:cNvSpPr/>
          <p:nvPr userDrawn="1"/>
        </p:nvSpPr>
        <p:spPr>
          <a:xfrm>
            <a:off x="4251325" y="1017025"/>
            <a:ext cx="3706813" cy="72000"/>
          </a:xfrm>
          <a:prstGeom prst="rect">
            <a:avLst/>
          </a:prstGeom>
          <a:solidFill>
            <a:srgbClr val="CC2A2A">
              <a:alpha val="98824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7" name="Rectangle 9">
            <a:extLst>
              <a:ext uri="{FF2B5EF4-FFF2-40B4-BE49-F238E27FC236}">
                <a16:creationId xmlns:a16="http://schemas.microsoft.com/office/drawing/2014/main" id="{75FDA81B-88AF-4AF4-8B43-18134CE8E446}"/>
              </a:ext>
            </a:extLst>
          </p:cNvPr>
          <p:cNvSpPr/>
          <p:nvPr userDrawn="1"/>
        </p:nvSpPr>
        <p:spPr>
          <a:xfrm>
            <a:off x="8037513" y="1017025"/>
            <a:ext cx="3708400" cy="72000"/>
          </a:xfrm>
          <a:prstGeom prst="rect">
            <a:avLst/>
          </a:prstGeom>
          <a:solidFill>
            <a:srgbClr val="7B7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18" name="Immagine 17">
            <a:extLst>
              <a:ext uri="{FF2B5EF4-FFF2-40B4-BE49-F238E27FC236}">
                <a16:creationId xmlns:a16="http://schemas.microsoft.com/office/drawing/2014/main" id="{A12972DC-41D2-4C0E-AD61-A73383B8214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68242" y="6402657"/>
            <a:ext cx="840882" cy="245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" name="Footer Placeholder 4">
            <a:extLst>
              <a:ext uri="{FF2B5EF4-FFF2-40B4-BE49-F238E27FC236}">
                <a16:creationId xmlns:a16="http://schemas.microsoft.com/office/drawing/2014/main" id="{51A03A1C-8D78-4F26-8F73-B711C52ED0D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898588" y="6394753"/>
            <a:ext cx="9644444" cy="259965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900" cap="all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4" name="Slide Number Placeholder 5">
            <a:extLst>
              <a:ext uri="{FF2B5EF4-FFF2-40B4-BE49-F238E27FC236}">
                <a16:creationId xmlns:a16="http://schemas.microsoft.com/office/drawing/2014/main" id="{6C03E07E-3B47-479C-ADF1-A58628B5A2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3469" y="6397225"/>
            <a:ext cx="5016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 b="1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48B4153A-D4C5-4CEF-8992-0D8815C829E3}" type="slidenum">
              <a:rPr lang="en-US" smtClean="0"/>
              <a:pPr>
                <a:defRPr/>
              </a:pPr>
              <a:t>‹N›</a:t>
            </a:fld>
            <a:endParaRPr lang="en-US" dirty="0"/>
          </a:p>
        </p:txBody>
      </p:sp>
      <p:sp>
        <p:nvSpPr>
          <p:cNvPr id="13" name="Title Placeholder 1">
            <a:extLst>
              <a:ext uri="{FF2B5EF4-FFF2-40B4-BE49-F238E27FC236}">
                <a16:creationId xmlns:a16="http://schemas.microsoft.com/office/drawing/2014/main" id="{385672B4-73ED-0645-AF4D-5916A1BEEC0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8895" y="503475"/>
            <a:ext cx="11269308" cy="384721"/>
          </a:xfrm>
          <a:prstGeom prst="rect">
            <a:avLst/>
          </a:prstGeom>
        </p:spPr>
        <p:txBody>
          <a:bodyPr lIns="0" tIns="0" rIns="0" bIns="0" rtlCol="0">
            <a:spAutoFit/>
          </a:bodyPr>
          <a:lstStyle>
            <a:lvl1pPr>
              <a:lnSpc>
                <a:spcPts val="3000"/>
              </a:lnSpc>
              <a:defRPr sz="2800" cap="none" baseline="0"/>
            </a:lvl1pPr>
          </a:lstStyle>
          <a:p>
            <a:r>
              <a:rPr lang="it-IT" dirty="0"/>
              <a:t>Fare clic per modificare lo stile del titolo dello schema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40569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48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fico + colonna libera a destr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tangolo 5">
            <a:extLst>
              <a:ext uri="{FF2B5EF4-FFF2-40B4-BE49-F238E27FC236}">
                <a16:creationId xmlns:a16="http://schemas.microsoft.com/office/drawing/2014/main" id="{8FFAF148-8C21-EB4F-9093-19ADD1A51882}"/>
              </a:ext>
            </a:extLst>
          </p:cNvPr>
          <p:cNvSpPr/>
          <p:nvPr userDrawn="1"/>
        </p:nvSpPr>
        <p:spPr>
          <a:xfrm>
            <a:off x="473075" y="1557338"/>
            <a:ext cx="7485063" cy="4392612"/>
          </a:xfrm>
          <a:prstGeom prst="rect">
            <a:avLst/>
          </a:prstGeom>
          <a:noFill/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it-IT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07439" y="1560749"/>
            <a:ext cx="3528947" cy="4392612"/>
          </a:xfrm>
        </p:spPr>
        <p:txBody>
          <a:bodyPr lIns="0" tIns="0" rIns="0" bIns="0" spcCol="360000">
            <a:noAutofit/>
          </a:bodyPr>
          <a:lstStyle>
            <a:lvl1pPr marL="0" indent="0">
              <a:buNone/>
              <a:defRPr sz="1800" b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10E25EF9-674A-4A68-B7E8-41ACE37CAFAA}"/>
              </a:ext>
            </a:extLst>
          </p:cNvPr>
          <p:cNvSpPr>
            <a:spLocks noGrp="1"/>
          </p:cNvSpPr>
          <p:nvPr>
            <p:ph type="body" sz="half" idx="11" hasCustomPrompt="1"/>
          </p:nvPr>
        </p:nvSpPr>
        <p:spPr>
          <a:xfrm>
            <a:off x="588700" y="1679423"/>
            <a:ext cx="7253812" cy="457386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400">
                <a:solidFill>
                  <a:srgbClr val="CC2A2A"/>
                </a:solidFill>
                <a:latin typeface="Arial Narrow" panose="020B0606020202030204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 dirty="0"/>
              <a:t>FARE CLIC PER MODIFICARE GLI STILI DEL TESTO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9BCFAF2C-DE26-450A-8C7B-A22A26FF43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88699" y="2165685"/>
            <a:ext cx="7253813" cy="3704166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24000" indent="0">
              <a:buFontTx/>
              <a:buNone/>
              <a:defRPr/>
            </a:lvl2pPr>
            <a:lvl3pPr marL="630000" indent="0">
              <a:buFontTx/>
              <a:buNone/>
              <a:defRPr/>
            </a:lvl3pPr>
            <a:lvl4pPr marL="1008000" indent="0">
              <a:buFontTx/>
              <a:buNone/>
              <a:defRPr/>
            </a:lvl4pPr>
            <a:lvl5pPr marL="1368000" indent="0">
              <a:buFontTx/>
              <a:buNone/>
              <a:defRPr/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endParaRPr lang="en-US" dirty="0"/>
          </a:p>
        </p:txBody>
      </p:sp>
      <p:sp>
        <p:nvSpPr>
          <p:cNvPr id="15" name="Rectangle 8">
            <a:extLst>
              <a:ext uri="{FF2B5EF4-FFF2-40B4-BE49-F238E27FC236}">
                <a16:creationId xmlns:a16="http://schemas.microsoft.com/office/drawing/2014/main" id="{D9D4E6DC-14B8-4843-AA1D-57AA39AE5B3E}"/>
              </a:ext>
            </a:extLst>
          </p:cNvPr>
          <p:cNvSpPr/>
          <p:nvPr userDrawn="1"/>
        </p:nvSpPr>
        <p:spPr>
          <a:xfrm>
            <a:off x="463550" y="1017025"/>
            <a:ext cx="3708400" cy="72000"/>
          </a:xfrm>
          <a:prstGeom prst="rect">
            <a:avLst/>
          </a:prstGeom>
          <a:solidFill>
            <a:srgbClr val="9426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6" name="Rectangle 10">
            <a:extLst>
              <a:ext uri="{FF2B5EF4-FFF2-40B4-BE49-F238E27FC236}">
                <a16:creationId xmlns:a16="http://schemas.microsoft.com/office/drawing/2014/main" id="{91CC3821-0B1E-41AB-852F-4CB74E2EA3CC}"/>
              </a:ext>
            </a:extLst>
          </p:cNvPr>
          <p:cNvSpPr/>
          <p:nvPr userDrawn="1"/>
        </p:nvSpPr>
        <p:spPr>
          <a:xfrm>
            <a:off x="4251325" y="1017025"/>
            <a:ext cx="3706813" cy="72000"/>
          </a:xfrm>
          <a:prstGeom prst="rect">
            <a:avLst/>
          </a:prstGeom>
          <a:solidFill>
            <a:srgbClr val="CC2A2A">
              <a:alpha val="98824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7" name="Rectangle 9">
            <a:extLst>
              <a:ext uri="{FF2B5EF4-FFF2-40B4-BE49-F238E27FC236}">
                <a16:creationId xmlns:a16="http://schemas.microsoft.com/office/drawing/2014/main" id="{75FDA81B-88AF-4AF4-8B43-18134CE8E446}"/>
              </a:ext>
            </a:extLst>
          </p:cNvPr>
          <p:cNvSpPr/>
          <p:nvPr userDrawn="1"/>
        </p:nvSpPr>
        <p:spPr>
          <a:xfrm>
            <a:off x="8037513" y="1017025"/>
            <a:ext cx="3708400" cy="72000"/>
          </a:xfrm>
          <a:prstGeom prst="rect">
            <a:avLst/>
          </a:prstGeom>
          <a:solidFill>
            <a:srgbClr val="7B7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18" name="Immagine 17">
            <a:extLst>
              <a:ext uri="{FF2B5EF4-FFF2-40B4-BE49-F238E27FC236}">
                <a16:creationId xmlns:a16="http://schemas.microsoft.com/office/drawing/2014/main" id="{A12972DC-41D2-4C0E-AD61-A73383B8214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68242" y="6402657"/>
            <a:ext cx="840882" cy="245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" name="Footer Placeholder 4">
            <a:extLst>
              <a:ext uri="{FF2B5EF4-FFF2-40B4-BE49-F238E27FC236}">
                <a16:creationId xmlns:a16="http://schemas.microsoft.com/office/drawing/2014/main" id="{51A03A1C-8D78-4F26-8F73-B711C52ED0D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898588" y="6394753"/>
            <a:ext cx="9644444" cy="259965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900" cap="all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FB3668A3-50F9-4865-BCB1-15BD808B59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3469" y="6397225"/>
            <a:ext cx="5016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 b="1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48B4153A-D4C5-4CEF-8992-0D8815C829E3}" type="slidenum">
              <a:rPr lang="en-US" smtClean="0"/>
              <a:pPr>
                <a:defRPr/>
              </a:pPr>
              <a:t>‹N›</a:t>
            </a:fld>
            <a:endParaRPr lang="en-US" dirty="0"/>
          </a:p>
        </p:txBody>
      </p:sp>
      <p:sp>
        <p:nvSpPr>
          <p:cNvPr id="22" name="Title Placeholder 1">
            <a:extLst>
              <a:ext uri="{FF2B5EF4-FFF2-40B4-BE49-F238E27FC236}">
                <a16:creationId xmlns:a16="http://schemas.microsoft.com/office/drawing/2014/main" id="{385672B4-73ED-0645-AF4D-5916A1BEEC0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8895" y="503475"/>
            <a:ext cx="11269308" cy="384721"/>
          </a:xfrm>
          <a:prstGeom prst="rect">
            <a:avLst/>
          </a:prstGeom>
        </p:spPr>
        <p:txBody>
          <a:bodyPr lIns="0" tIns="0" rIns="0" bIns="0" rtlCol="0">
            <a:spAutoFit/>
          </a:bodyPr>
          <a:lstStyle>
            <a:lvl1pPr>
              <a:lnSpc>
                <a:spcPts val="3000"/>
              </a:lnSpc>
              <a:defRPr sz="2800" cap="none" baseline="0"/>
            </a:lvl1pPr>
          </a:lstStyle>
          <a:p>
            <a:r>
              <a:rPr lang="it-IT" dirty="0"/>
              <a:t>Fare clic per modificare lo stile del titolo dello schema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57046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48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tà testo+metà grafi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tangolo 5">
            <a:extLst>
              <a:ext uri="{FF2B5EF4-FFF2-40B4-BE49-F238E27FC236}">
                <a16:creationId xmlns:a16="http://schemas.microsoft.com/office/drawing/2014/main" id="{8FFAF148-8C21-EB4F-9093-19ADD1A51882}"/>
              </a:ext>
            </a:extLst>
          </p:cNvPr>
          <p:cNvSpPr/>
          <p:nvPr userDrawn="1"/>
        </p:nvSpPr>
        <p:spPr>
          <a:xfrm>
            <a:off x="6256216" y="1557338"/>
            <a:ext cx="5472000" cy="4392612"/>
          </a:xfrm>
          <a:prstGeom prst="rect">
            <a:avLst/>
          </a:prstGeom>
          <a:noFill/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it-IT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3786" y="1557338"/>
            <a:ext cx="5472000" cy="4392612"/>
          </a:xfrm>
        </p:spPr>
        <p:txBody>
          <a:bodyPr lIns="0" tIns="0" rIns="0" bIns="0" spcCol="360000">
            <a:noAutofit/>
          </a:bodyPr>
          <a:lstStyle>
            <a:lvl1pPr marL="0" indent="0">
              <a:buNone/>
              <a:defRPr sz="1800" b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1BE1843A-CB5F-4920-B032-23C22AAE931F}"/>
              </a:ext>
            </a:extLst>
          </p:cNvPr>
          <p:cNvSpPr>
            <a:spLocks noGrp="1"/>
          </p:cNvSpPr>
          <p:nvPr>
            <p:ph type="body" sz="half" idx="11" hasCustomPrompt="1"/>
          </p:nvPr>
        </p:nvSpPr>
        <p:spPr>
          <a:xfrm>
            <a:off x="6376432" y="1684420"/>
            <a:ext cx="5231635" cy="457200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400">
                <a:solidFill>
                  <a:srgbClr val="CC2A2A"/>
                </a:solidFill>
                <a:latin typeface="Arial Narrow" panose="020B0606020202030204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22E57A97-B19C-4884-84CD-94CF8F6244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76432" y="2220577"/>
            <a:ext cx="5231636" cy="3620398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24000" indent="0">
              <a:buFontTx/>
              <a:buNone/>
              <a:defRPr/>
            </a:lvl2pPr>
            <a:lvl3pPr marL="630000" indent="0">
              <a:buFontTx/>
              <a:buNone/>
              <a:defRPr/>
            </a:lvl3pPr>
            <a:lvl4pPr marL="1008000" indent="0">
              <a:buFontTx/>
              <a:buNone/>
              <a:defRPr/>
            </a:lvl4pPr>
            <a:lvl5pPr marL="1368000" indent="0">
              <a:buFontTx/>
              <a:buNone/>
              <a:defRPr/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endParaRPr lang="en-US" dirty="0"/>
          </a:p>
        </p:txBody>
      </p:sp>
      <p:sp>
        <p:nvSpPr>
          <p:cNvPr id="15" name="Rectangle 8">
            <a:extLst>
              <a:ext uri="{FF2B5EF4-FFF2-40B4-BE49-F238E27FC236}">
                <a16:creationId xmlns:a16="http://schemas.microsoft.com/office/drawing/2014/main" id="{EBDED907-CBCE-4C48-8974-1732296AB56B}"/>
              </a:ext>
            </a:extLst>
          </p:cNvPr>
          <p:cNvSpPr/>
          <p:nvPr userDrawn="1"/>
        </p:nvSpPr>
        <p:spPr>
          <a:xfrm>
            <a:off x="463550" y="1017025"/>
            <a:ext cx="3708400" cy="72000"/>
          </a:xfrm>
          <a:prstGeom prst="rect">
            <a:avLst/>
          </a:prstGeom>
          <a:solidFill>
            <a:srgbClr val="9426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6" name="Rectangle 10">
            <a:extLst>
              <a:ext uri="{FF2B5EF4-FFF2-40B4-BE49-F238E27FC236}">
                <a16:creationId xmlns:a16="http://schemas.microsoft.com/office/drawing/2014/main" id="{F1D4BD23-7064-4A1A-B3B8-22936DC971AB}"/>
              </a:ext>
            </a:extLst>
          </p:cNvPr>
          <p:cNvSpPr/>
          <p:nvPr userDrawn="1"/>
        </p:nvSpPr>
        <p:spPr>
          <a:xfrm>
            <a:off x="4251325" y="1017025"/>
            <a:ext cx="3706813" cy="72000"/>
          </a:xfrm>
          <a:prstGeom prst="rect">
            <a:avLst/>
          </a:prstGeom>
          <a:solidFill>
            <a:srgbClr val="CC2A2A">
              <a:alpha val="98824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7" name="Rectangle 9">
            <a:extLst>
              <a:ext uri="{FF2B5EF4-FFF2-40B4-BE49-F238E27FC236}">
                <a16:creationId xmlns:a16="http://schemas.microsoft.com/office/drawing/2014/main" id="{45DD4428-CB25-4CE0-B3BD-9E45A9B024CE}"/>
              </a:ext>
            </a:extLst>
          </p:cNvPr>
          <p:cNvSpPr/>
          <p:nvPr userDrawn="1"/>
        </p:nvSpPr>
        <p:spPr>
          <a:xfrm>
            <a:off x="8037513" y="1017025"/>
            <a:ext cx="3708400" cy="72000"/>
          </a:xfrm>
          <a:prstGeom prst="rect">
            <a:avLst/>
          </a:prstGeom>
          <a:solidFill>
            <a:srgbClr val="7B7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18" name="Immagine 17">
            <a:extLst>
              <a:ext uri="{FF2B5EF4-FFF2-40B4-BE49-F238E27FC236}">
                <a16:creationId xmlns:a16="http://schemas.microsoft.com/office/drawing/2014/main" id="{ACFFE7A2-271E-4180-8862-1207E565D1F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68242" y="6402657"/>
            <a:ext cx="840882" cy="245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" name="Footer Placeholder 4">
            <a:extLst>
              <a:ext uri="{FF2B5EF4-FFF2-40B4-BE49-F238E27FC236}">
                <a16:creationId xmlns:a16="http://schemas.microsoft.com/office/drawing/2014/main" id="{0A34ABB8-E594-41C5-B46B-F19275F5E59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898588" y="6394753"/>
            <a:ext cx="9644444" cy="259965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900" cap="all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4" name="Slide Number Placeholder 5">
            <a:extLst>
              <a:ext uri="{FF2B5EF4-FFF2-40B4-BE49-F238E27FC236}">
                <a16:creationId xmlns:a16="http://schemas.microsoft.com/office/drawing/2014/main" id="{EB9757BE-24B5-4D77-9B24-FA598161B2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3469" y="6397225"/>
            <a:ext cx="5016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 b="1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48B4153A-D4C5-4CEF-8992-0D8815C829E3}" type="slidenum">
              <a:rPr lang="en-US" smtClean="0"/>
              <a:pPr>
                <a:defRPr/>
              </a:pPr>
              <a:t>‹N›</a:t>
            </a:fld>
            <a:endParaRPr lang="en-US" dirty="0"/>
          </a:p>
        </p:txBody>
      </p:sp>
      <p:sp>
        <p:nvSpPr>
          <p:cNvPr id="13" name="Title Placeholder 1">
            <a:extLst>
              <a:ext uri="{FF2B5EF4-FFF2-40B4-BE49-F238E27FC236}">
                <a16:creationId xmlns:a16="http://schemas.microsoft.com/office/drawing/2014/main" id="{385672B4-73ED-0645-AF4D-5916A1BEEC0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8895" y="503475"/>
            <a:ext cx="11269308" cy="384721"/>
          </a:xfrm>
          <a:prstGeom prst="rect">
            <a:avLst/>
          </a:prstGeom>
        </p:spPr>
        <p:txBody>
          <a:bodyPr lIns="0" tIns="0" rIns="0" bIns="0" rtlCol="0">
            <a:spAutoFit/>
          </a:bodyPr>
          <a:lstStyle>
            <a:lvl1pPr>
              <a:lnSpc>
                <a:spcPts val="3000"/>
              </a:lnSpc>
              <a:defRPr sz="2800" cap="none" baseline="0"/>
            </a:lvl1pPr>
          </a:lstStyle>
          <a:p>
            <a:r>
              <a:rPr lang="it-IT" dirty="0"/>
              <a:t>Fare clic per modificare lo stile del titolo dello schema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01476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81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e immagini affianca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tangolo 7">
            <a:extLst>
              <a:ext uri="{FF2B5EF4-FFF2-40B4-BE49-F238E27FC236}">
                <a16:creationId xmlns:a16="http://schemas.microsoft.com/office/drawing/2014/main" id="{C2F57ACB-1A9A-42A2-B0B9-3C24FCCE916F}"/>
              </a:ext>
            </a:extLst>
          </p:cNvPr>
          <p:cNvSpPr/>
          <p:nvPr userDrawn="1"/>
        </p:nvSpPr>
        <p:spPr>
          <a:xfrm>
            <a:off x="471488" y="1571124"/>
            <a:ext cx="5472112" cy="4392000"/>
          </a:xfrm>
          <a:prstGeom prst="rect">
            <a:avLst/>
          </a:prstGeom>
          <a:noFill/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it-IT"/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A0C542E8-A419-4B8E-8AE4-1D0DC75ADF26}"/>
              </a:ext>
            </a:extLst>
          </p:cNvPr>
          <p:cNvSpPr>
            <a:spLocks noGrp="1"/>
          </p:cNvSpPr>
          <p:nvPr>
            <p:ph type="body" sz="half" idx="12" hasCustomPrompt="1"/>
          </p:nvPr>
        </p:nvSpPr>
        <p:spPr>
          <a:xfrm>
            <a:off x="562922" y="1691683"/>
            <a:ext cx="5304733" cy="387373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400">
                <a:solidFill>
                  <a:srgbClr val="CC2A2A"/>
                </a:solidFill>
                <a:latin typeface="Arial Narrow" panose="020B0606020202030204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3F3446B5-6360-4947-B444-A1DBFD655274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562922" y="2172243"/>
            <a:ext cx="5304733" cy="3668732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24000" indent="0">
              <a:buFontTx/>
              <a:buNone/>
              <a:defRPr/>
            </a:lvl2pPr>
            <a:lvl3pPr marL="630000" indent="0">
              <a:buFontTx/>
              <a:buNone/>
              <a:defRPr/>
            </a:lvl3pPr>
            <a:lvl4pPr marL="1008000" indent="0">
              <a:buFontTx/>
              <a:buNone/>
              <a:defRPr/>
            </a:lvl4pPr>
            <a:lvl5pPr marL="1368000" indent="0">
              <a:buFontTx/>
              <a:buNone/>
              <a:defRPr/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endParaRPr lang="en-US" dirty="0"/>
          </a:p>
        </p:txBody>
      </p:sp>
      <p:sp>
        <p:nvSpPr>
          <p:cNvPr id="20" name="Rectangle 8">
            <a:extLst>
              <a:ext uri="{FF2B5EF4-FFF2-40B4-BE49-F238E27FC236}">
                <a16:creationId xmlns:a16="http://schemas.microsoft.com/office/drawing/2014/main" id="{D17306DB-EF2B-46DB-BE4C-67BA4581EC8A}"/>
              </a:ext>
            </a:extLst>
          </p:cNvPr>
          <p:cNvSpPr/>
          <p:nvPr userDrawn="1"/>
        </p:nvSpPr>
        <p:spPr>
          <a:xfrm>
            <a:off x="463550" y="1017025"/>
            <a:ext cx="3708400" cy="72000"/>
          </a:xfrm>
          <a:prstGeom prst="rect">
            <a:avLst/>
          </a:prstGeom>
          <a:solidFill>
            <a:srgbClr val="9426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Rectangle 10">
            <a:extLst>
              <a:ext uri="{FF2B5EF4-FFF2-40B4-BE49-F238E27FC236}">
                <a16:creationId xmlns:a16="http://schemas.microsoft.com/office/drawing/2014/main" id="{27663729-5A18-460D-BCC5-1C121255BEC2}"/>
              </a:ext>
            </a:extLst>
          </p:cNvPr>
          <p:cNvSpPr/>
          <p:nvPr userDrawn="1"/>
        </p:nvSpPr>
        <p:spPr>
          <a:xfrm>
            <a:off x="4251325" y="1017025"/>
            <a:ext cx="3706813" cy="72000"/>
          </a:xfrm>
          <a:prstGeom prst="rect">
            <a:avLst/>
          </a:prstGeom>
          <a:solidFill>
            <a:srgbClr val="CC2A2A">
              <a:alpha val="98824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Rectangle 9">
            <a:extLst>
              <a:ext uri="{FF2B5EF4-FFF2-40B4-BE49-F238E27FC236}">
                <a16:creationId xmlns:a16="http://schemas.microsoft.com/office/drawing/2014/main" id="{88AE038F-3265-4340-AFAF-203DBF97366C}"/>
              </a:ext>
            </a:extLst>
          </p:cNvPr>
          <p:cNvSpPr/>
          <p:nvPr userDrawn="1"/>
        </p:nvSpPr>
        <p:spPr>
          <a:xfrm>
            <a:off x="8037513" y="1017025"/>
            <a:ext cx="3708400" cy="72000"/>
          </a:xfrm>
          <a:prstGeom prst="rect">
            <a:avLst/>
          </a:prstGeom>
          <a:solidFill>
            <a:srgbClr val="7B7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25" name="Immagine 24">
            <a:extLst>
              <a:ext uri="{FF2B5EF4-FFF2-40B4-BE49-F238E27FC236}">
                <a16:creationId xmlns:a16="http://schemas.microsoft.com/office/drawing/2014/main" id="{5203E877-BB68-4C3E-A95D-262A3B3831F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68242" y="6402657"/>
            <a:ext cx="840882" cy="245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" name="Footer Placeholder 4">
            <a:extLst>
              <a:ext uri="{FF2B5EF4-FFF2-40B4-BE49-F238E27FC236}">
                <a16:creationId xmlns:a16="http://schemas.microsoft.com/office/drawing/2014/main" id="{DDB77A0D-9AB4-48A1-82C5-A09A7D4F72D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898588" y="6394753"/>
            <a:ext cx="9644444" cy="259965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900" cap="all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9" name="Slide Number Placeholder 5">
            <a:extLst>
              <a:ext uri="{FF2B5EF4-FFF2-40B4-BE49-F238E27FC236}">
                <a16:creationId xmlns:a16="http://schemas.microsoft.com/office/drawing/2014/main" id="{ABB3C7F1-D02D-4858-A51B-B1211EF06EF0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323469" y="6405108"/>
            <a:ext cx="5016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 b="1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48B4153A-D4C5-4CEF-8992-0D8815C829E3}" type="slidenum">
              <a:rPr lang="en-US" smtClean="0"/>
              <a:pPr>
                <a:defRPr/>
              </a:pPr>
              <a:t>‹N›</a:t>
            </a:fld>
            <a:endParaRPr lang="en-US" dirty="0"/>
          </a:p>
        </p:txBody>
      </p:sp>
      <p:sp>
        <p:nvSpPr>
          <p:cNvPr id="30" name="Rettangolo 29">
            <a:extLst>
              <a:ext uri="{FF2B5EF4-FFF2-40B4-BE49-F238E27FC236}">
                <a16:creationId xmlns:a16="http://schemas.microsoft.com/office/drawing/2014/main" id="{2E11952F-B65E-4BC4-A306-BA5F2E5E1051}"/>
              </a:ext>
            </a:extLst>
          </p:cNvPr>
          <p:cNvSpPr/>
          <p:nvPr userDrawn="1"/>
        </p:nvSpPr>
        <p:spPr>
          <a:xfrm>
            <a:off x="6256216" y="1557338"/>
            <a:ext cx="5472000" cy="4392612"/>
          </a:xfrm>
          <a:prstGeom prst="rect">
            <a:avLst/>
          </a:prstGeom>
          <a:noFill/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it-IT"/>
          </a:p>
        </p:txBody>
      </p:sp>
      <p:sp>
        <p:nvSpPr>
          <p:cNvPr id="31" name="Text Placeholder 3">
            <a:extLst>
              <a:ext uri="{FF2B5EF4-FFF2-40B4-BE49-F238E27FC236}">
                <a16:creationId xmlns:a16="http://schemas.microsoft.com/office/drawing/2014/main" id="{10FF5994-804D-479E-8547-F402AE8DD1DD}"/>
              </a:ext>
            </a:extLst>
          </p:cNvPr>
          <p:cNvSpPr>
            <a:spLocks noGrp="1"/>
          </p:cNvSpPr>
          <p:nvPr>
            <p:ph type="body" sz="half" idx="11" hasCustomPrompt="1"/>
          </p:nvPr>
        </p:nvSpPr>
        <p:spPr>
          <a:xfrm>
            <a:off x="6376432" y="1684420"/>
            <a:ext cx="5231635" cy="457200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400">
                <a:solidFill>
                  <a:srgbClr val="CC2A2A"/>
                </a:solidFill>
                <a:latin typeface="Arial Narrow" panose="020B0606020202030204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32" name="Content Placeholder 3">
            <a:extLst>
              <a:ext uri="{FF2B5EF4-FFF2-40B4-BE49-F238E27FC236}">
                <a16:creationId xmlns:a16="http://schemas.microsoft.com/office/drawing/2014/main" id="{4C0547B4-6D28-4C23-830C-984AB52D97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76432" y="2220577"/>
            <a:ext cx="5231636" cy="3620398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24000" indent="0">
              <a:buFontTx/>
              <a:buNone/>
              <a:defRPr/>
            </a:lvl2pPr>
            <a:lvl3pPr marL="630000" indent="0">
              <a:buFontTx/>
              <a:buNone/>
              <a:defRPr/>
            </a:lvl3pPr>
            <a:lvl4pPr marL="1008000" indent="0">
              <a:buFontTx/>
              <a:buNone/>
              <a:defRPr/>
            </a:lvl4pPr>
            <a:lvl5pPr marL="1368000" indent="0">
              <a:buFontTx/>
              <a:buNone/>
              <a:defRPr/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endParaRPr lang="en-US" dirty="0"/>
          </a:p>
        </p:txBody>
      </p:sp>
      <p:sp>
        <p:nvSpPr>
          <p:cNvPr id="15" name="Title Placeholder 1">
            <a:extLst>
              <a:ext uri="{FF2B5EF4-FFF2-40B4-BE49-F238E27FC236}">
                <a16:creationId xmlns:a16="http://schemas.microsoft.com/office/drawing/2014/main" id="{385672B4-73ED-0645-AF4D-5916A1BEEC0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8895" y="503475"/>
            <a:ext cx="11269308" cy="384721"/>
          </a:xfrm>
          <a:prstGeom prst="rect">
            <a:avLst/>
          </a:prstGeom>
        </p:spPr>
        <p:txBody>
          <a:bodyPr lIns="0" tIns="0" rIns="0" bIns="0" rtlCol="0">
            <a:spAutoFit/>
          </a:bodyPr>
          <a:lstStyle>
            <a:lvl1pPr>
              <a:lnSpc>
                <a:spcPts val="3000"/>
              </a:lnSpc>
              <a:defRPr sz="2800" cap="none" baseline="0"/>
            </a:lvl1pPr>
          </a:lstStyle>
          <a:p>
            <a:r>
              <a:rPr lang="it-IT" dirty="0"/>
              <a:t>Fare clic per modificare lo stile del titolo dello schema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43205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81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dascalia+grafico o tavola gra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3786" y="1557338"/>
            <a:ext cx="11283042" cy="662557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800" b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3786" y="2319687"/>
            <a:ext cx="11283042" cy="3630263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24000" indent="0">
              <a:buFontTx/>
              <a:buNone/>
              <a:defRPr/>
            </a:lvl2pPr>
            <a:lvl3pPr marL="630000" indent="0">
              <a:buFontTx/>
              <a:buNone/>
              <a:defRPr/>
            </a:lvl3pPr>
            <a:lvl4pPr marL="1008000" indent="0">
              <a:buFontTx/>
              <a:buNone/>
              <a:defRPr/>
            </a:lvl4pPr>
            <a:lvl5pPr marL="1368000" indent="0">
              <a:buFontTx/>
              <a:buNone/>
              <a:defRPr/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endParaRPr lang="en-US" dirty="0"/>
          </a:p>
        </p:txBody>
      </p:sp>
      <p:pic>
        <p:nvPicPr>
          <p:cNvPr id="13" name="Immagine 12">
            <a:extLst>
              <a:ext uri="{FF2B5EF4-FFF2-40B4-BE49-F238E27FC236}">
                <a16:creationId xmlns:a16="http://schemas.microsoft.com/office/drawing/2014/main" id="{D0FB10A6-C138-494B-9E13-24A27B8289F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68242" y="6402657"/>
            <a:ext cx="840882" cy="245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A4B33C25-F53C-40FF-87FE-5A1021509E5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898588" y="6394753"/>
            <a:ext cx="9644444" cy="259965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900" cap="all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7" name="Rectangle 8">
            <a:extLst>
              <a:ext uri="{FF2B5EF4-FFF2-40B4-BE49-F238E27FC236}">
                <a16:creationId xmlns:a16="http://schemas.microsoft.com/office/drawing/2014/main" id="{96897485-CF07-4D6A-ABB8-A29D7DC57109}"/>
              </a:ext>
            </a:extLst>
          </p:cNvPr>
          <p:cNvSpPr/>
          <p:nvPr userDrawn="1"/>
        </p:nvSpPr>
        <p:spPr>
          <a:xfrm>
            <a:off x="463550" y="1017025"/>
            <a:ext cx="3708400" cy="72000"/>
          </a:xfrm>
          <a:prstGeom prst="rect">
            <a:avLst/>
          </a:prstGeom>
          <a:solidFill>
            <a:srgbClr val="9426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8" name="Rectangle 10">
            <a:extLst>
              <a:ext uri="{FF2B5EF4-FFF2-40B4-BE49-F238E27FC236}">
                <a16:creationId xmlns:a16="http://schemas.microsoft.com/office/drawing/2014/main" id="{BC91E05A-8494-49B6-B257-61F68DA8B315}"/>
              </a:ext>
            </a:extLst>
          </p:cNvPr>
          <p:cNvSpPr/>
          <p:nvPr userDrawn="1"/>
        </p:nvSpPr>
        <p:spPr>
          <a:xfrm>
            <a:off x="4251325" y="1017025"/>
            <a:ext cx="3706813" cy="72000"/>
          </a:xfrm>
          <a:prstGeom prst="rect">
            <a:avLst/>
          </a:prstGeom>
          <a:solidFill>
            <a:srgbClr val="CC2A2A">
              <a:alpha val="98824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9">
            <a:extLst>
              <a:ext uri="{FF2B5EF4-FFF2-40B4-BE49-F238E27FC236}">
                <a16:creationId xmlns:a16="http://schemas.microsoft.com/office/drawing/2014/main" id="{422199A7-2A62-43D5-872A-CD0B9A3D6E61}"/>
              </a:ext>
            </a:extLst>
          </p:cNvPr>
          <p:cNvSpPr/>
          <p:nvPr userDrawn="1"/>
        </p:nvSpPr>
        <p:spPr>
          <a:xfrm>
            <a:off x="8037513" y="1017025"/>
            <a:ext cx="3708400" cy="72000"/>
          </a:xfrm>
          <a:prstGeom prst="rect">
            <a:avLst/>
          </a:prstGeom>
          <a:solidFill>
            <a:srgbClr val="7B7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1B2ED1D9-25D5-4BB7-87C2-D519D9336366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323469" y="6397225"/>
            <a:ext cx="5016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 b="1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48B4153A-D4C5-4CEF-8992-0D8815C829E3}" type="slidenum">
              <a:rPr lang="en-US" smtClean="0"/>
              <a:pPr>
                <a:defRPr/>
              </a:pPr>
              <a:t>‹N›</a:t>
            </a:fld>
            <a:endParaRPr lang="en-US" dirty="0"/>
          </a:p>
        </p:txBody>
      </p:sp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385672B4-73ED-0645-AF4D-5916A1BEEC0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8895" y="503475"/>
            <a:ext cx="11269308" cy="384721"/>
          </a:xfrm>
          <a:prstGeom prst="rect">
            <a:avLst/>
          </a:prstGeom>
        </p:spPr>
        <p:txBody>
          <a:bodyPr lIns="0" tIns="0" rIns="0" bIns="0" rtlCol="0">
            <a:spAutoFit/>
          </a:bodyPr>
          <a:lstStyle>
            <a:lvl1pPr>
              <a:lnSpc>
                <a:spcPts val="3000"/>
              </a:lnSpc>
              <a:defRPr sz="2800" cap="none" baseline="0"/>
            </a:lvl1pPr>
          </a:lstStyle>
          <a:p>
            <a:r>
              <a:rPr lang="it-IT" dirty="0"/>
              <a:t>Fare clic per modificare lo stile del titolo dello schema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99497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48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>
            <a:extLst>
              <a:ext uri="{FF2B5EF4-FFF2-40B4-BE49-F238E27FC236}">
                <a16:creationId xmlns:a16="http://schemas.microsoft.com/office/drawing/2014/main" id="{18A4B74D-95FF-4ECC-AED0-C183993F87B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68242" y="6402657"/>
            <a:ext cx="840882" cy="245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48324380-A91B-40DB-8B06-87F1716A8EF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898588" y="6394753"/>
            <a:ext cx="9644444" cy="259965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900" cap="all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9376CEDB-6160-4575-AAD8-45EA5C0ED54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323469" y="6397225"/>
            <a:ext cx="5016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 b="1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48B4153A-D4C5-4CEF-8992-0D8815C829E3}" type="slidenum">
              <a:rPr lang="en-US" smtClean="0"/>
              <a:pPr>
                <a:defRPr/>
              </a:pPr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2224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ngraziamen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63786" y="1796902"/>
            <a:ext cx="11283042" cy="1839433"/>
          </a:xfrm>
          <a:effectLst/>
        </p:spPr>
        <p:txBody>
          <a:bodyPr anchor="ctr">
            <a:noAutofit/>
          </a:bodyPr>
          <a:lstStyle>
            <a:lvl1pPr algn="ctr">
              <a:defRPr sz="7000" b="0" cap="none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05894EA2-4831-F84E-BBDE-8E89A35165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96093" y="3683529"/>
            <a:ext cx="5624623" cy="423612"/>
          </a:xfrm>
        </p:spPr>
        <p:txBody>
          <a:bodyPr spcCol="360000" anchor="ctr">
            <a:noAutofit/>
          </a:bodyPr>
          <a:lstStyle>
            <a:lvl1pPr marL="0" indent="0" algn="ctr">
              <a:buNone/>
              <a:defRPr sz="18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8" name="Rectangle 8">
            <a:extLst>
              <a:ext uri="{FF2B5EF4-FFF2-40B4-BE49-F238E27FC236}">
                <a16:creationId xmlns:a16="http://schemas.microsoft.com/office/drawing/2014/main" id="{02837C0E-8F15-489B-800B-6F1CBBB23F06}"/>
              </a:ext>
            </a:extLst>
          </p:cNvPr>
          <p:cNvSpPr/>
          <p:nvPr userDrawn="1"/>
        </p:nvSpPr>
        <p:spPr>
          <a:xfrm>
            <a:off x="463550" y="5773825"/>
            <a:ext cx="3708400" cy="1089025"/>
          </a:xfrm>
          <a:prstGeom prst="rect">
            <a:avLst/>
          </a:prstGeom>
          <a:solidFill>
            <a:srgbClr val="9426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10">
            <a:extLst>
              <a:ext uri="{FF2B5EF4-FFF2-40B4-BE49-F238E27FC236}">
                <a16:creationId xmlns:a16="http://schemas.microsoft.com/office/drawing/2014/main" id="{1C3885B9-D4F0-42E8-A6EE-EB419237E845}"/>
              </a:ext>
            </a:extLst>
          </p:cNvPr>
          <p:cNvSpPr/>
          <p:nvPr userDrawn="1"/>
        </p:nvSpPr>
        <p:spPr>
          <a:xfrm>
            <a:off x="4251325" y="5773825"/>
            <a:ext cx="3706813" cy="1089025"/>
          </a:xfrm>
          <a:prstGeom prst="rect">
            <a:avLst/>
          </a:prstGeom>
          <a:solidFill>
            <a:srgbClr val="CC2A2A">
              <a:alpha val="98824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11" name="Immagine 10">
            <a:extLst>
              <a:ext uri="{FF2B5EF4-FFF2-40B4-BE49-F238E27FC236}">
                <a16:creationId xmlns:a16="http://schemas.microsoft.com/office/drawing/2014/main" id="{1F54AFB7-6D67-44BA-975B-F9E2C29BB46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550841" y="6092375"/>
            <a:ext cx="2700000" cy="461927"/>
          </a:xfrm>
          <a:prstGeom prst="rect">
            <a:avLst/>
          </a:prstGeom>
        </p:spPr>
      </p:pic>
      <p:sp>
        <p:nvSpPr>
          <p:cNvPr id="12" name="Rectangle 9">
            <a:extLst>
              <a:ext uri="{FF2B5EF4-FFF2-40B4-BE49-F238E27FC236}">
                <a16:creationId xmlns:a16="http://schemas.microsoft.com/office/drawing/2014/main" id="{B4CD4512-1FFA-4544-ACEE-31F0A9CA9D05}"/>
              </a:ext>
            </a:extLst>
          </p:cNvPr>
          <p:cNvSpPr/>
          <p:nvPr userDrawn="1"/>
        </p:nvSpPr>
        <p:spPr>
          <a:xfrm>
            <a:off x="8037513" y="6790850"/>
            <a:ext cx="3708400" cy="72000"/>
          </a:xfrm>
          <a:prstGeom prst="rect">
            <a:avLst/>
          </a:prstGeom>
          <a:solidFill>
            <a:srgbClr val="7B7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5473967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508000" y="939800"/>
            <a:ext cx="11204575" cy="536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it-IT" altLang="it-IT"/>
              <a:t>Fare clic per modificare lo stile del titolo dello schema</a:t>
            </a:r>
            <a:endParaRPr lang="en-US" altLang="it-IT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508000" y="2103438"/>
            <a:ext cx="11204575" cy="3568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it-IT" altLang="it-IT"/>
              <a:t>Fare clic per modificare gli stili del testo dello schema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08" r:id="rId2"/>
    <p:sldLayoutId id="2147483709" r:id="rId3"/>
    <p:sldLayoutId id="2147483710" r:id="rId4"/>
    <p:sldLayoutId id="2147483711" r:id="rId5"/>
    <p:sldLayoutId id="2147483712" r:id="rId6"/>
    <p:sldLayoutId id="2147483713" r:id="rId7"/>
    <p:sldLayoutId id="2147483720" r:id="rId8"/>
    <p:sldLayoutId id="2147483714" r:id="rId9"/>
    <p:sldLayoutId id="2147483716" r:id="rId10"/>
    <p:sldLayoutId id="2147483715" r:id="rId11"/>
    <p:sldLayoutId id="2147483717" r:id="rId12"/>
    <p:sldLayoutId id="2147483718" r:id="rId13"/>
  </p:sldLayoutIdLst>
  <p:hf hdr="0" dt="0"/>
  <p:txStyles>
    <p:titleStyle>
      <a:lvl1pPr algn="l" defTabSz="457200" rtl="0" fontAlgn="base">
        <a:spcBef>
          <a:spcPct val="0"/>
        </a:spcBef>
        <a:spcAft>
          <a:spcPct val="0"/>
        </a:spcAft>
        <a:defRPr sz="2400" b="1" kern="1200">
          <a:solidFill>
            <a:srgbClr val="595959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  <a:lvl2pPr algn="l" defTabSz="457200" rtl="0" fontAlgn="base">
        <a:spcBef>
          <a:spcPct val="0"/>
        </a:spcBef>
        <a:spcAft>
          <a:spcPct val="0"/>
        </a:spcAft>
        <a:defRPr sz="2400" b="1">
          <a:solidFill>
            <a:srgbClr val="595959"/>
          </a:solidFill>
          <a:latin typeface="Arial" panose="020B0604020202020204" pitchFamily="34" charset="0"/>
          <a:cs typeface="Arial" panose="020B0604020202020204" pitchFamily="34" charset="0"/>
        </a:defRPr>
      </a:lvl2pPr>
      <a:lvl3pPr algn="l" defTabSz="457200" rtl="0" fontAlgn="base">
        <a:spcBef>
          <a:spcPct val="0"/>
        </a:spcBef>
        <a:spcAft>
          <a:spcPct val="0"/>
        </a:spcAft>
        <a:defRPr sz="2400" b="1">
          <a:solidFill>
            <a:srgbClr val="595959"/>
          </a:solidFill>
          <a:latin typeface="Arial" panose="020B0604020202020204" pitchFamily="34" charset="0"/>
          <a:cs typeface="Arial" panose="020B0604020202020204" pitchFamily="34" charset="0"/>
        </a:defRPr>
      </a:lvl3pPr>
      <a:lvl4pPr algn="l" defTabSz="457200" rtl="0" fontAlgn="base">
        <a:spcBef>
          <a:spcPct val="0"/>
        </a:spcBef>
        <a:spcAft>
          <a:spcPct val="0"/>
        </a:spcAft>
        <a:defRPr sz="2400" b="1">
          <a:solidFill>
            <a:srgbClr val="595959"/>
          </a:solidFill>
          <a:latin typeface="Arial" panose="020B0604020202020204" pitchFamily="34" charset="0"/>
          <a:cs typeface="Arial" panose="020B0604020202020204" pitchFamily="34" charset="0"/>
        </a:defRPr>
      </a:lvl4pPr>
      <a:lvl5pPr algn="l" defTabSz="457200" rtl="0" fontAlgn="base">
        <a:spcBef>
          <a:spcPct val="0"/>
        </a:spcBef>
        <a:spcAft>
          <a:spcPct val="0"/>
        </a:spcAft>
        <a:defRPr sz="2400" b="1">
          <a:solidFill>
            <a:srgbClr val="595959"/>
          </a:solidFill>
          <a:latin typeface="Arial" panose="020B0604020202020204" pitchFamily="34" charset="0"/>
          <a:cs typeface="Arial" panose="020B0604020202020204" pitchFamily="34" charset="0"/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algn="l" defTabSz="457200" rtl="0" fontAlgn="t">
        <a:spcBef>
          <a:spcPct val="0"/>
        </a:spcBef>
        <a:spcAft>
          <a:spcPts val="1200"/>
        </a:spcAft>
        <a:buClr>
          <a:srgbClr val="CC2A2A"/>
        </a:buClr>
        <a:buSzPct val="100000"/>
        <a:defRPr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323850" algn="l" defTabSz="457200" rtl="0" fontAlgn="base">
        <a:spcBef>
          <a:spcPct val="20000"/>
        </a:spcBef>
        <a:spcAft>
          <a:spcPts val="600"/>
        </a:spcAft>
        <a:buClr>
          <a:srgbClr val="CC2A2A"/>
        </a:buClr>
        <a:buSzPct val="100000"/>
        <a:defRPr sz="16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628650" algn="l" defTabSz="457200" rtl="0" fontAlgn="base">
        <a:spcBef>
          <a:spcPct val="20000"/>
        </a:spcBef>
        <a:spcAft>
          <a:spcPts val="600"/>
        </a:spcAft>
        <a:buClr>
          <a:srgbClr val="CC2A2A"/>
        </a:buClr>
        <a:buSzPct val="100000"/>
        <a:defRPr sz="14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006475" algn="l" defTabSz="457200" rtl="0" fontAlgn="base">
        <a:spcBef>
          <a:spcPct val="20000"/>
        </a:spcBef>
        <a:spcAft>
          <a:spcPts val="600"/>
        </a:spcAft>
        <a:buClr>
          <a:srgbClr val="CC2A2A"/>
        </a:buClr>
        <a:buSzPct val="100000"/>
        <a:defRPr sz="12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366838" algn="l" defTabSz="457200" rtl="0" fontAlgn="base">
        <a:spcBef>
          <a:spcPct val="20000"/>
        </a:spcBef>
        <a:spcAft>
          <a:spcPts val="600"/>
        </a:spcAft>
        <a:buClr>
          <a:srgbClr val="CC2A2A"/>
        </a:buClr>
        <a:buSzPct val="100000"/>
        <a:defRPr sz="12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0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9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60BFAD7-8051-44E7-952E-F8647A1CBD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79070" y="2449236"/>
            <a:ext cx="9818337" cy="2782819"/>
          </a:xfrm>
        </p:spPr>
        <p:txBody>
          <a:bodyPr>
            <a:normAutofit/>
          </a:bodyPr>
          <a:lstStyle/>
          <a:p>
            <a:r>
              <a:rPr lang="en-US" sz="4000" b="1" dirty="0"/>
              <a:t>Building calendars for daily seasonal adjustment:</a:t>
            </a:r>
          </a:p>
          <a:p>
            <a:r>
              <a:rPr lang="en-US" sz="2800" b="1" dirty="0"/>
              <a:t>lessons from electronic invoicing and electricity demand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7353B436-6816-4A46-BDBE-42E64EB27CB6}"/>
              </a:ext>
            </a:extLst>
          </p:cNvPr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rPr lang="it-IT" sz="2400" b="1" dirty="0">
                <a:solidFill>
                  <a:schemeClr val="tx1"/>
                </a:solidFill>
              </a:rPr>
              <a:t>COSA MEETING #5</a:t>
            </a:r>
            <a:endParaRPr lang="it-IT" sz="2400" dirty="0">
              <a:solidFill>
                <a:schemeClr val="tx1"/>
              </a:solidFill>
            </a:endParaRP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9F54B89B-F96C-4A34-BA9E-083269BE1EC8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469184" y="1287956"/>
            <a:ext cx="4316175" cy="235000"/>
          </a:xfrm>
        </p:spPr>
        <p:txBody>
          <a:bodyPr/>
          <a:lstStyle/>
          <a:p>
            <a:r>
              <a:rPr lang="it-IT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PARIS, December 2026</a:t>
            </a:r>
          </a:p>
          <a:p>
            <a:endParaRPr lang="it-IT" dirty="0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ADFE67CC-0EAE-4BEC-A961-535FE506AA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9184" y="6231547"/>
            <a:ext cx="11499296" cy="375744"/>
          </a:xfrm>
        </p:spPr>
        <p:txBody>
          <a:bodyPr/>
          <a:lstStyle/>
          <a:p>
            <a:r>
              <a:rPr lang="it-IT" sz="1600" dirty="0"/>
              <a:t>Istat | </a:t>
            </a:r>
            <a:r>
              <a:rPr lang="en-US" sz="1600" dirty="0"/>
              <a:t>Directorate For Methodology and Statistical Process Design</a:t>
            </a:r>
            <a:br>
              <a:rPr lang="en-US" sz="1600" dirty="0"/>
            </a:br>
            <a:endParaRPr lang="it-IT" sz="1600" dirty="0"/>
          </a:p>
        </p:txBody>
      </p:sp>
      <p:sp>
        <p:nvSpPr>
          <p:cNvPr id="6" name="Segnaposto testo 5">
            <a:extLst>
              <a:ext uri="{FF2B5EF4-FFF2-40B4-BE49-F238E27FC236}">
                <a16:creationId xmlns:a16="http://schemas.microsoft.com/office/drawing/2014/main" id="{1D87B255-EFEE-4DEF-9FE3-EB4831764892}"/>
              </a:ext>
            </a:extLst>
          </p:cNvPr>
          <p:cNvSpPr>
            <a:spLocks noGrp="1"/>
          </p:cNvSpPr>
          <p:nvPr>
            <p:ph type="body" idx="12"/>
          </p:nvPr>
        </p:nvSpPr>
        <p:spPr>
          <a:xfrm>
            <a:off x="469184" y="5888645"/>
            <a:ext cx="7481115" cy="226985"/>
          </a:xfrm>
        </p:spPr>
        <p:txBody>
          <a:bodyPr/>
          <a:lstStyle/>
          <a:p>
            <a:r>
              <a:rPr lang="it-IT" sz="2400" b="1" dirty="0">
                <a:solidFill>
                  <a:schemeClr val="tx1"/>
                </a:solidFill>
              </a:rPr>
              <a:t>ALESSANDRO PIOVANI</a:t>
            </a:r>
            <a:r>
              <a:rPr lang="it-IT" sz="2400" dirty="0">
                <a:solidFill>
                  <a:schemeClr val="tx1"/>
                </a:solidFill>
              </a:rPr>
              <a:t> | alessandro.piovani@istat.it</a:t>
            </a:r>
          </a:p>
        </p:txBody>
      </p:sp>
    </p:spTree>
    <p:extLst>
      <p:ext uri="{BB962C8B-B14F-4D97-AF65-F5344CB8AC3E}">
        <p14:creationId xmlns:p14="http://schemas.microsoft.com/office/powerpoint/2010/main" val="2730702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olo 2">
            <a:extLst>
              <a:ext uri="{FF2B5EF4-FFF2-40B4-BE49-F238E27FC236}">
                <a16:creationId xmlns:a16="http://schemas.microsoft.com/office/drawing/2014/main" id="{C192045E-FB8C-4B8C-AEFC-06A390A8AE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895" y="494562"/>
            <a:ext cx="11269308" cy="393634"/>
          </a:xfrm>
        </p:spPr>
        <p:txBody>
          <a:bodyPr/>
          <a:lstStyle/>
          <a:p>
            <a:r>
              <a:rPr lang="it-IT" sz="3600" dirty="0" err="1">
                <a:solidFill>
                  <a:srgbClr val="C00000"/>
                </a:solidFill>
              </a:rPr>
              <a:t>Why the calendar matters in daily data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D4AD171A-D6C0-40CA-B56A-13604AFE402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8B4153A-D4C5-4CEF-8992-0D8815C829E3}" type="slidenum">
              <a:rPr lang="en-US" smtClean="0"/>
              <a:pPr>
                <a:defRPr/>
              </a:pPr>
              <a:t>2</a:t>
            </a:fld>
            <a:endParaRPr lang="en-US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3223DD80-9C7E-474F-A668-27B6983A568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Building calendars for daily seasonal adjustment</a:t>
            </a:r>
          </a:p>
        </p:txBody>
      </p:sp>
      <p:sp>
        <p:nvSpPr>
          <p:cNvPr id="8" name="Segnaposto testo 1">
            <a:extLst>
              <a:ext uri="{FF2B5EF4-FFF2-40B4-BE49-F238E27FC236}">
                <a16:creationId xmlns:a16="http://schemas.microsoft.com/office/drawing/2014/main" id="{3C757EAB-927E-4F42-BD79-C4C6740808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3469" y="1234440"/>
            <a:ext cx="7260336" cy="4206240"/>
          </a:xfrm>
        </p:spPr>
        <p:txBody>
          <a:bodyPr/>
          <a:lstStyle/>
          <a:p>
            <a:pPr marL="342900" indent="-342900">
              <a:spcBef>
                <a:spcPts val="1800"/>
              </a:spcBef>
              <a:buClr>
                <a:srgbClr val="C00000"/>
              </a:buClr>
              <a:buFont typeface="Arial"/>
              <a:buChar char="•"/>
            </a:pPr>
            <a:r>
              <a:rPr lang="en-GB" sz="2200" b="0" i="0" dirty="0">
                <a:solidFill>
                  <a:srgbClr val="636462"/>
                </a:solidFill>
                <a:latin typeface="Arial"/>
                <a:cs typeface="Arial"/>
              </a:rPr>
              <a:t>Monthly data average special days out; daily data expose </a:t>
            </a:r>
            <a:r>
              <a:rPr lang="en-GB" sz="2200" b="1" i="0" dirty="0">
                <a:solidFill>
                  <a:srgbClr val="636462"/>
                </a:solidFill>
                <a:latin typeface="Arial"/>
                <a:cs typeface="Arial"/>
              </a:rPr>
              <a:t>every special day</a:t>
            </a:r>
            <a:r>
              <a:rPr lang="en-GB" sz="2200" b="0" i="0" dirty="0">
                <a:solidFill>
                  <a:srgbClr val="636462"/>
                </a:solidFill>
                <a:latin typeface="Arial"/>
                <a:cs typeface="Arial"/>
              </a:rPr>
              <a:t>: holidays, month end, payment deadlines</a:t>
            </a:r>
          </a:p>
          <a:p>
            <a:pPr marL="342900" indent="-342900">
              <a:spcBef>
                <a:spcPts val="1800"/>
              </a:spcBef>
              <a:buClr>
                <a:srgbClr val="C00000"/>
              </a:buClr>
              <a:buFont typeface="Arial"/>
              <a:buChar char="•"/>
            </a:pPr>
            <a:r>
              <a:rPr lang="en-GB" sz="2200" b="0" i="0" dirty="0">
                <a:solidFill>
                  <a:srgbClr val="636462"/>
                </a:solidFill>
                <a:latin typeface="Arial"/>
                <a:cs typeface="Arial"/>
              </a:rPr>
              <a:t>Effects are </a:t>
            </a:r>
            <a:r>
              <a:rPr lang="en-GB" sz="2200" b="1" i="0" dirty="0">
                <a:solidFill>
                  <a:srgbClr val="636462"/>
                </a:solidFill>
                <a:latin typeface="Arial"/>
                <a:cs typeface="Arial"/>
              </a:rPr>
              <a:t>large</a:t>
            </a:r>
            <a:r>
              <a:rPr lang="en-GB" sz="2200" b="0" i="0" dirty="0">
                <a:solidFill>
                  <a:srgbClr val="636462"/>
                </a:solidFill>
                <a:latin typeface="Arial"/>
                <a:cs typeface="Arial"/>
              </a:rPr>
              <a:t> and </a:t>
            </a:r>
            <a:r>
              <a:rPr lang="en-GB" sz="2200" b="1" i="0" dirty="0">
                <a:solidFill>
                  <a:srgbClr val="636462"/>
                </a:solidFill>
                <a:latin typeface="Arial"/>
                <a:cs typeface="Arial"/>
              </a:rPr>
              <a:t>differ by day of the week</a:t>
            </a:r>
          </a:p>
          <a:p>
            <a:pPr marL="342900" indent="-342900">
              <a:spcBef>
                <a:spcPts val="1800"/>
              </a:spcBef>
              <a:buClr>
                <a:srgbClr val="C00000"/>
              </a:buClr>
              <a:buFont typeface="Arial"/>
              <a:buChar char="•"/>
            </a:pPr>
            <a:r>
              <a:rPr lang="en-US" sz="2400" b="1" dirty="0"/>
              <a:t>Keep outliers and calendar effects apart:</a:t>
            </a:r>
            <a:r>
              <a:rPr lang="en-US" sz="2400" dirty="0"/>
              <a:t> an outlier on a holiday or a nearby day (e.g. a bridge) signals a </a:t>
            </a:r>
            <a:r>
              <a:rPr lang="en-US" sz="2400" dirty="0" err="1"/>
              <a:t>misspecified</a:t>
            </a:r>
            <a:r>
              <a:rPr lang="en-US" sz="2400" dirty="0"/>
              <a:t> calendar, not an unusual event</a:t>
            </a:r>
          </a:p>
          <a:p>
            <a:pPr marL="342900" indent="-342900">
              <a:spcBef>
                <a:spcPts val="1800"/>
              </a:spcBef>
              <a:buClr>
                <a:srgbClr val="C00000"/>
              </a:buClr>
              <a:buFont typeface="Arial"/>
              <a:buChar char="•"/>
            </a:pPr>
            <a:r>
              <a:rPr lang="en-GB" sz="2200" b="0" i="0" dirty="0">
                <a:solidFill>
                  <a:srgbClr val="636462"/>
                </a:solidFill>
                <a:latin typeface="Arial"/>
                <a:cs typeface="Arial"/>
              </a:rPr>
              <a:t>Check the </a:t>
            </a:r>
            <a:r>
              <a:rPr lang="en-GB" sz="2200" b="1" i="0" dirty="0">
                <a:solidFill>
                  <a:srgbClr val="636462"/>
                </a:solidFill>
                <a:latin typeface="Arial"/>
                <a:cs typeface="Arial"/>
              </a:rPr>
              <a:t>adjusted series</a:t>
            </a:r>
            <a:r>
              <a:rPr lang="en-GB" sz="2200" b="0" i="0" dirty="0">
                <a:solidFill>
                  <a:srgbClr val="636462"/>
                </a:solidFill>
                <a:latin typeface="Arial"/>
                <a:cs typeface="Arial"/>
              </a:rPr>
              <a:t>, not only the coefficients: a significant coefficient can still leave a residual pattern</a:t>
            </a:r>
          </a:p>
        </p:txBody>
      </p:sp>
      <p:sp>
        <p:nvSpPr>
          <p:cNvPr id="20" name="Stat card 1"/>
          <p:cNvSpPr/>
          <p:nvPr/>
        </p:nvSpPr>
        <p:spPr>
          <a:xfrm>
            <a:off x="7726680" y="1463040"/>
            <a:ext cx="3977640" cy="169164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GB" dirty="0"/>
          </a:p>
        </p:txBody>
      </p:sp>
      <p:sp>
        <p:nvSpPr>
          <p:cNvPr id="21" name="Stat value 1"/>
          <p:cNvSpPr txBox="1"/>
          <p:nvPr/>
        </p:nvSpPr>
        <p:spPr>
          <a:xfrm>
            <a:off x="8001000" y="1600200"/>
            <a:ext cx="347472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GB" sz="5400" b="1" i="0" dirty="0">
                <a:solidFill>
                  <a:srgbClr val="C00000"/>
                </a:solidFill>
                <a:latin typeface="Arial"/>
                <a:cs typeface="Arial"/>
              </a:rPr>
              <a:t>×8.6</a:t>
            </a:r>
          </a:p>
        </p:txBody>
      </p:sp>
      <p:sp>
        <p:nvSpPr>
          <p:cNvPr id="22" name="Stat label 1"/>
          <p:cNvSpPr txBox="1"/>
          <p:nvPr/>
        </p:nvSpPr>
        <p:spPr>
          <a:xfrm>
            <a:off x="8001000" y="2542032"/>
            <a:ext cx="34747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GB" sz="1800" b="0" i="0" dirty="0">
                <a:solidFill>
                  <a:srgbClr val="595959"/>
                </a:solidFill>
                <a:latin typeface="Arial"/>
                <a:cs typeface="Arial"/>
              </a:rPr>
              <a:t>Last day of the month, weekday</a:t>
            </a:r>
          </a:p>
        </p:txBody>
      </p:sp>
      <p:sp>
        <p:nvSpPr>
          <p:cNvPr id="23" name="Stat card 2"/>
          <p:cNvSpPr/>
          <p:nvPr/>
        </p:nvSpPr>
        <p:spPr>
          <a:xfrm>
            <a:off x="7726680" y="3337560"/>
            <a:ext cx="3977640" cy="169164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GB" dirty="0"/>
          </a:p>
        </p:txBody>
      </p:sp>
      <p:sp>
        <p:nvSpPr>
          <p:cNvPr id="24" name="Stat value 2"/>
          <p:cNvSpPr txBox="1"/>
          <p:nvPr/>
        </p:nvSpPr>
        <p:spPr>
          <a:xfrm>
            <a:off x="8001000" y="3474720"/>
            <a:ext cx="347472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GB" sz="5400" b="1" i="0" dirty="0">
                <a:solidFill>
                  <a:srgbClr val="942639"/>
                </a:solidFill>
                <a:latin typeface="Arial"/>
                <a:cs typeface="Arial"/>
              </a:rPr>
              <a:t>×69</a:t>
            </a:r>
          </a:p>
        </p:txBody>
      </p:sp>
      <p:sp>
        <p:nvSpPr>
          <p:cNvPr id="25" name="Stat label 2"/>
          <p:cNvSpPr txBox="1"/>
          <p:nvPr/>
        </p:nvSpPr>
        <p:spPr>
          <a:xfrm>
            <a:off x="8001000" y="4416552"/>
            <a:ext cx="34747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GB" sz="1800" b="0" i="0" dirty="0">
                <a:solidFill>
                  <a:srgbClr val="595959"/>
                </a:solidFill>
                <a:latin typeface="Arial"/>
                <a:cs typeface="Arial"/>
              </a:rPr>
              <a:t>Last day of the month, Sunday</a:t>
            </a:r>
          </a:p>
        </p:txBody>
      </p:sp>
      <p:sp>
        <p:nvSpPr>
          <p:cNvPr id="30" name="Stat caption"/>
          <p:cNvSpPr txBox="1"/>
          <p:nvPr/>
        </p:nvSpPr>
        <p:spPr>
          <a:xfrm>
            <a:off x="7726680" y="5285232"/>
            <a:ext cx="397764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GB" sz="1200" b="0" i="1" dirty="0">
                <a:solidFill>
                  <a:srgbClr val="7B7C7E"/>
                </a:solidFill>
                <a:latin typeface="Arial"/>
                <a:cs typeface="Arial"/>
              </a:rPr>
              <a:t>E-invoicing, 2019-2025: effect relative to a normal day of the same type</a:t>
            </a:r>
          </a:p>
        </p:txBody>
      </p:sp>
    </p:spTree>
    <p:extLst>
      <p:ext uri="{BB962C8B-B14F-4D97-AF65-F5344CB8AC3E}">
        <p14:creationId xmlns:p14="http://schemas.microsoft.com/office/powerpoint/2010/main" val="42536191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1" name="Titolo 4"/>
          <p:cNvSpPr>
            <a:spLocks noGrp="1"/>
          </p:cNvSpPr>
          <p:nvPr>
            <p:ph type="title"/>
          </p:nvPr>
        </p:nvSpPr>
        <p:spPr>
          <a:xfrm>
            <a:off x="468313" y="482109"/>
            <a:ext cx="11269662" cy="405304"/>
          </a:xfrm>
        </p:spPr>
        <p:txBody>
          <a:bodyPr/>
          <a:lstStyle/>
          <a:p>
            <a:r>
              <a:rPr lang="en-GB" altLang="it-IT" sz="3600" dirty="0">
                <a:solidFill>
                  <a:srgbClr val="C00000"/>
                </a:solidFill>
              </a:rPr>
              <a:t>Two daily series, two decompositions</a:t>
            </a:r>
          </a:p>
        </p:txBody>
      </p:sp>
      <p:sp>
        <p:nvSpPr>
          <p:cNvPr id="9" name="Segnaposto numero diapositiva 4">
            <a:extLst>
              <a:ext uri="{FF2B5EF4-FFF2-40B4-BE49-F238E27FC236}">
                <a16:creationId xmlns:a16="http://schemas.microsoft.com/office/drawing/2014/main" id="{43529721-AF16-448D-9B7A-D70C2ADC200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0" y="6392815"/>
            <a:ext cx="50165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48B4153A-D4C5-4CEF-8992-0D8815C829E3}" type="slidenum">
              <a:rPr lang="en-US" smtClean="0"/>
              <a:pPr>
                <a:defRPr/>
              </a:pPr>
              <a:t>3</a:t>
            </a:fld>
            <a:endParaRPr lang="en-US" dirty="0"/>
          </a:p>
        </p:txBody>
      </p:sp>
      <p:sp>
        <p:nvSpPr>
          <p:cNvPr id="8" name="Segnaposto piè di pagina 3">
            <a:extLst>
              <a:ext uri="{FF2B5EF4-FFF2-40B4-BE49-F238E27FC236}">
                <a16:creationId xmlns:a16="http://schemas.microsoft.com/office/drawing/2014/main" id="{3223DD80-9C7E-474F-A668-27B6983A568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35830" y="6382305"/>
            <a:ext cx="9644444" cy="259965"/>
          </a:xfrm>
        </p:spPr>
        <p:txBody>
          <a:bodyPr/>
          <a:lstStyle/>
          <a:p>
            <a:pPr>
              <a:defRPr/>
            </a:pPr>
            <a:r>
              <a:rPr lang="en-US" dirty="0"/>
              <a:t>Building calendars for daily seasonal adjustment</a:t>
            </a:r>
          </a:p>
        </p:txBody>
      </p:sp>
      <p:sp>
        <p:nvSpPr>
          <p:cNvPr id="20" name="Series name 1"/>
          <p:cNvSpPr txBox="1"/>
          <p:nvPr/>
        </p:nvSpPr>
        <p:spPr>
          <a:xfrm>
            <a:off x="466344" y="1280160"/>
            <a:ext cx="548640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GB" sz="2000" b="1" i="0" dirty="0">
                <a:solidFill>
                  <a:srgbClr val="595959"/>
                </a:solidFill>
                <a:latin typeface="Arial"/>
                <a:cs typeface="Arial"/>
              </a:rPr>
              <a:t>E-invoicing</a:t>
            </a:r>
            <a:r>
              <a:rPr lang="en-GB" sz="1400" b="0" i="0" dirty="0">
                <a:solidFill>
                  <a:srgbClr val="7B7C7E"/>
                </a:solidFill>
                <a:latin typeface="Arial"/>
                <a:cs typeface="Arial"/>
              </a:rPr>
              <a:t>   2019–2025, daily taxable amount</a:t>
            </a:r>
          </a:p>
        </p:txBody>
      </p:sp>
      <p:sp>
        <p:nvSpPr>
          <p:cNvPr id="21" name="Model 1"/>
          <p:cNvSpPr txBox="1"/>
          <p:nvPr/>
        </p:nvSpPr>
        <p:spPr>
          <a:xfrm>
            <a:off x="466344" y="1691640"/>
            <a:ext cx="548640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GB" sz="1600" b="1" i="0" dirty="0">
                <a:solidFill>
                  <a:srgbClr val="C00000"/>
                </a:solidFill>
                <a:latin typeface="Arial"/>
                <a:cs typeface="Arial"/>
              </a:rPr>
              <a:t>Multiplicative model (logs)</a:t>
            </a:r>
          </a:p>
        </p:txBody>
      </p:sp>
      <p:pic>
        <p:nvPicPr>
          <p:cNvPr id="22" name="Raw and SA 1" descr="Raw and seasonally and calendar adjusted e-invoicing, 2019-202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" y="2103120"/>
            <a:ext cx="5486400" cy="2741748"/>
          </a:xfrm>
          <a:prstGeom prst="rect">
            <a:avLst/>
          </a:prstGeom>
        </p:spPr>
      </p:pic>
      <p:sp>
        <p:nvSpPr>
          <p:cNvPr id="23" name="Decomposition 1"/>
          <p:cNvSpPr txBox="1"/>
          <p:nvPr/>
        </p:nvSpPr>
        <p:spPr>
          <a:xfrm>
            <a:off x="466344" y="4890588"/>
            <a:ext cx="548640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GB" sz="1400" b="0" i="0" dirty="0">
                <a:solidFill>
                  <a:srgbClr val="595959"/>
                </a:solidFill>
                <a:latin typeface="Arial"/>
                <a:cs typeface="Arial"/>
              </a:rPr>
              <a:t>Raw = trend × seasonal × calendar × irregular: the adjustment divides.</a:t>
            </a:r>
          </a:p>
        </p:txBody>
      </p:sp>
      <p:sp>
        <p:nvSpPr>
          <p:cNvPr id="30" name="Series name 2"/>
          <p:cNvSpPr txBox="1"/>
          <p:nvPr/>
        </p:nvSpPr>
        <p:spPr>
          <a:xfrm>
            <a:off x="6236208" y="1280160"/>
            <a:ext cx="548640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GB" sz="2000" b="1" i="0" dirty="0">
                <a:solidFill>
                  <a:srgbClr val="595959"/>
                </a:solidFill>
                <a:latin typeface="Arial"/>
                <a:cs typeface="Arial"/>
              </a:rPr>
              <a:t>Electricity demand</a:t>
            </a:r>
            <a:r>
              <a:rPr lang="en-GB" sz="1400" b="0" i="0" dirty="0">
                <a:solidFill>
                  <a:srgbClr val="7B7C7E"/>
                </a:solidFill>
                <a:latin typeface="Arial"/>
                <a:cs typeface="Arial"/>
              </a:rPr>
              <a:t>   2012–2025, daily MWh</a:t>
            </a:r>
          </a:p>
        </p:txBody>
      </p:sp>
      <p:sp>
        <p:nvSpPr>
          <p:cNvPr id="31" name="Model 2"/>
          <p:cNvSpPr txBox="1"/>
          <p:nvPr/>
        </p:nvSpPr>
        <p:spPr>
          <a:xfrm>
            <a:off x="6236208" y="1691640"/>
            <a:ext cx="548640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GB" sz="1600" b="1" i="0" dirty="0">
                <a:solidFill>
                  <a:srgbClr val="C00000"/>
                </a:solidFill>
                <a:latin typeface="Arial"/>
                <a:cs typeface="Arial"/>
              </a:rPr>
              <a:t>Additive model (levels)</a:t>
            </a:r>
          </a:p>
        </p:txBody>
      </p:sp>
      <p:pic>
        <p:nvPicPr>
          <p:cNvPr id="32" name="Raw and SA 2" descr="Raw and seasonally and calendar adjusted electricity demand, 2012-202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6208" y="2103120"/>
            <a:ext cx="5486400" cy="2741748"/>
          </a:xfrm>
          <a:prstGeom prst="rect">
            <a:avLst/>
          </a:prstGeom>
        </p:spPr>
      </p:pic>
      <p:sp>
        <p:nvSpPr>
          <p:cNvPr id="33" name="Decomposition 2"/>
          <p:cNvSpPr txBox="1"/>
          <p:nvPr/>
        </p:nvSpPr>
        <p:spPr>
          <a:xfrm>
            <a:off x="6236208" y="4890588"/>
            <a:ext cx="548640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GB" sz="1400" b="0" i="0" dirty="0">
                <a:solidFill>
                  <a:srgbClr val="595959"/>
                </a:solidFill>
                <a:latin typeface="Arial"/>
                <a:cs typeface="Arial"/>
              </a:rPr>
              <a:t>Raw = trend + seasonal + calendar + irregular: the adjustment subtracts.</a:t>
            </a:r>
          </a:p>
        </p:txBody>
      </p:sp>
      <p:sp>
        <p:nvSpPr>
          <p:cNvPr id="50" name="Caption"/>
          <p:cNvSpPr txBox="1"/>
          <p:nvPr/>
        </p:nvSpPr>
        <p:spPr>
          <a:xfrm>
            <a:off x="466344" y="5623560"/>
            <a:ext cx="11256264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GB" sz="1200" b="0" i="1" dirty="0">
                <a:solidFill>
                  <a:srgbClr val="7B7C7E"/>
                </a:solidFill>
                <a:latin typeface="Arial"/>
                <a:cs typeface="Arial"/>
              </a:rPr>
              <a:t>Raw (yellow) and seasonally and calendar adjusted series (green), final calendar. Sequential AMB: weekly, then annual seasonality; logs or levels chosen by AICc.</a:t>
            </a:r>
          </a:p>
        </p:txBody>
      </p:sp>
    </p:spTree>
    <p:extLst>
      <p:ext uri="{BB962C8B-B14F-4D97-AF65-F5344CB8AC3E}">
        <p14:creationId xmlns:p14="http://schemas.microsoft.com/office/powerpoint/2010/main" val="17819166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1" name="Titolo 4"/>
          <p:cNvSpPr>
            <a:spLocks noGrp="1"/>
          </p:cNvSpPr>
          <p:nvPr>
            <p:ph type="title"/>
          </p:nvPr>
        </p:nvSpPr>
        <p:spPr>
          <a:xfrm>
            <a:off x="468313" y="482109"/>
            <a:ext cx="11269662" cy="405304"/>
          </a:xfrm>
        </p:spPr>
        <p:txBody>
          <a:bodyPr/>
          <a:lstStyle/>
          <a:p>
            <a:r>
              <a:rPr lang="en-GB" altLang="it-IT" sz="3600" dirty="0">
                <a:solidFill>
                  <a:srgbClr val="C00000"/>
                </a:solidFill>
              </a:rPr>
              <a:t>The Day-to-Month Ratio (DMR)</a:t>
            </a:r>
          </a:p>
        </p:txBody>
      </p:sp>
      <p:sp>
        <p:nvSpPr>
          <p:cNvPr id="9" name="Segnaposto numero diapositiva 4">
            <a:extLst>
              <a:ext uri="{FF2B5EF4-FFF2-40B4-BE49-F238E27FC236}">
                <a16:creationId xmlns:a16="http://schemas.microsoft.com/office/drawing/2014/main" id="{43529721-AF16-448D-9B7A-D70C2ADC200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0" y="6392815"/>
            <a:ext cx="50165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48B4153A-D4C5-4CEF-8992-0D8815C829E3}" type="slidenum">
              <a:rPr lang="en-US" smtClean="0"/>
              <a:pPr>
                <a:defRPr/>
              </a:pPr>
              <a:t>4</a:t>
            </a:fld>
            <a:endParaRPr lang="en-US" dirty="0"/>
          </a:p>
        </p:txBody>
      </p:sp>
      <p:sp>
        <p:nvSpPr>
          <p:cNvPr id="8" name="Segnaposto piè di pagina 3">
            <a:extLst>
              <a:ext uri="{FF2B5EF4-FFF2-40B4-BE49-F238E27FC236}">
                <a16:creationId xmlns:a16="http://schemas.microsoft.com/office/drawing/2014/main" id="{3223DD80-9C7E-474F-A668-27B6983A568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35830" y="6382305"/>
            <a:ext cx="9644444" cy="259965"/>
          </a:xfrm>
        </p:spPr>
        <p:txBody>
          <a:bodyPr/>
          <a:lstStyle/>
          <a:p>
            <a:pPr>
              <a:defRPr/>
            </a:pPr>
            <a:r>
              <a:rPr lang="en-US" dirty="0"/>
              <a:t>Building calendars for daily seasonal adjustment</a:t>
            </a:r>
          </a:p>
        </p:txBody>
      </p:sp>
      <p:sp>
        <p:nvSpPr>
          <p:cNvPr id="20" name="Formula box"/>
          <p:cNvSpPr/>
          <p:nvPr/>
        </p:nvSpPr>
        <p:spPr>
          <a:xfrm>
            <a:off x="3928735" y="1672119"/>
            <a:ext cx="4348817" cy="11430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 w="57150">
            <a:solidFill>
              <a:srgbClr val="C00000"/>
            </a:solidFill>
          </a:ln>
        </p:spPr>
        <p:txBody>
          <a:bodyPr wrap="square" lIns="0" tIns="0" rIns="0" bIns="0" anchor="ctr">
            <a:noAutofit/>
          </a:bodyPr>
          <a:lstStyle/>
          <a:p>
            <a:endParaRPr lang="en-GB" dirty="0"/>
          </a:p>
        </p:txBody>
      </p:sp>
      <p:sp>
        <p:nvSpPr>
          <p:cNvPr id="21" name="Reading value 1"/>
          <p:cNvSpPr txBox="1"/>
          <p:nvPr/>
        </p:nvSpPr>
        <p:spPr>
          <a:xfrm>
            <a:off x="466344" y="3130476"/>
            <a:ext cx="3520440" cy="777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GB" sz="4400" b="1" i="0" dirty="0">
                <a:solidFill>
                  <a:srgbClr val="595959"/>
                </a:solidFill>
                <a:latin typeface="Arial"/>
                <a:cs typeface="Arial"/>
              </a:rPr>
              <a:t>= 1</a:t>
            </a:r>
          </a:p>
        </p:txBody>
      </p:sp>
      <p:sp>
        <p:nvSpPr>
          <p:cNvPr id="22" name="Reading label 1"/>
          <p:cNvSpPr txBox="1"/>
          <p:nvPr/>
        </p:nvSpPr>
        <p:spPr>
          <a:xfrm>
            <a:off x="466344" y="3907716"/>
            <a:ext cx="352044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GB" sz="1800" b="0" i="0" dirty="0">
                <a:solidFill>
                  <a:srgbClr val="595959"/>
                </a:solidFill>
                <a:latin typeface="Arial"/>
                <a:cs typeface="Arial"/>
              </a:rPr>
              <a:t>No residual calendar effect</a:t>
            </a:r>
          </a:p>
        </p:txBody>
      </p:sp>
      <p:sp>
        <p:nvSpPr>
          <p:cNvPr id="23" name="Reading value 2"/>
          <p:cNvSpPr txBox="1"/>
          <p:nvPr/>
        </p:nvSpPr>
        <p:spPr>
          <a:xfrm>
            <a:off x="4334256" y="3130476"/>
            <a:ext cx="3520440" cy="777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GB" sz="4400" b="1" i="0" dirty="0">
                <a:solidFill>
                  <a:srgbClr val="C00000"/>
                </a:solidFill>
                <a:latin typeface="Arial"/>
                <a:cs typeface="Arial"/>
              </a:rPr>
              <a:t>&gt; 1</a:t>
            </a:r>
          </a:p>
        </p:txBody>
      </p:sp>
      <p:sp>
        <p:nvSpPr>
          <p:cNvPr id="24" name="Reading label 2"/>
          <p:cNvSpPr txBox="1"/>
          <p:nvPr/>
        </p:nvSpPr>
        <p:spPr>
          <a:xfrm>
            <a:off x="4334256" y="3907716"/>
            <a:ext cx="352044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GB" sz="1800" b="0" i="0" dirty="0">
                <a:solidFill>
                  <a:srgbClr val="595959"/>
                </a:solidFill>
                <a:latin typeface="Arial"/>
                <a:cs typeface="Arial"/>
              </a:rPr>
              <a:t>Day still above its month</a:t>
            </a:r>
          </a:p>
        </p:txBody>
      </p:sp>
      <p:sp>
        <p:nvSpPr>
          <p:cNvPr id="25" name="Reading value 3"/>
          <p:cNvSpPr txBox="1"/>
          <p:nvPr/>
        </p:nvSpPr>
        <p:spPr>
          <a:xfrm>
            <a:off x="8202168" y="3130476"/>
            <a:ext cx="3520440" cy="777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GB" sz="4400" b="1" i="0" dirty="0">
                <a:solidFill>
                  <a:srgbClr val="942639"/>
                </a:solidFill>
                <a:latin typeface="Arial"/>
                <a:cs typeface="Arial"/>
              </a:rPr>
              <a:t>&lt; 1</a:t>
            </a:r>
          </a:p>
        </p:txBody>
      </p:sp>
      <p:sp>
        <p:nvSpPr>
          <p:cNvPr id="26" name="Reading label 3"/>
          <p:cNvSpPr txBox="1"/>
          <p:nvPr/>
        </p:nvSpPr>
        <p:spPr>
          <a:xfrm>
            <a:off x="8202168" y="3907716"/>
            <a:ext cx="352044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GB" sz="1800" b="0" i="0" dirty="0">
                <a:solidFill>
                  <a:srgbClr val="595959"/>
                </a:solidFill>
                <a:latin typeface="Arial"/>
                <a:cs typeface="Arial"/>
              </a:rPr>
              <a:t>Day still below its month</a:t>
            </a:r>
          </a:p>
        </p:txBody>
      </p:sp>
      <p:sp>
        <p:nvSpPr>
          <p:cNvPr id="30" name="DMR reading notes"/>
          <p:cNvSpPr txBox="1"/>
          <p:nvPr/>
        </p:nvSpPr>
        <p:spPr>
          <a:xfrm>
            <a:off x="466344" y="4551384"/>
            <a:ext cx="11256264" cy="151466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GB" sz="1800" b="1" i="0" dirty="0">
                <a:solidFill>
                  <a:srgbClr val="636462"/>
                </a:solidFill>
                <a:latin typeface="Arial"/>
                <a:cs typeface="Arial"/>
              </a:rPr>
              <a:t>Median DMR </a:t>
            </a:r>
            <a:r>
              <a:rPr lang="en-GB" sz="1800" b="0" i="0" dirty="0">
                <a:solidFill>
                  <a:srgbClr val="636462"/>
                </a:solidFill>
                <a:latin typeface="Arial"/>
                <a:cs typeface="Arial"/>
              </a:rPr>
              <a:t>for each group of days, over the whole sample</a:t>
            </a:r>
          </a:p>
          <a:p>
            <a:pPr marL="0" indent="0" algn="l">
              <a:spcBef>
                <a:spcPts val="800"/>
              </a:spcBef>
              <a:buNone/>
            </a:pPr>
            <a:r>
              <a:rPr lang="en-GB" sz="1800" b="1" i="0" dirty="0">
                <a:solidFill>
                  <a:srgbClr val="636462"/>
                </a:solidFill>
                <a:latin typeface="Arial"/>
                <a:cs typeface="Arial"/>
              </a:rPr>
              <a:t>Tolerance: </a:t>
            </a:r>
            <a:r>
              <a:rPr lang="en-GB" sz="1800" b="0" i="0" dirty="0">
                <a:solidFill>
                  <a:srgbClr val="636462"/>
                </a:solidFill>
                <a:latin typeface="Arial"/>
                <a:cs typeface="Arial"/>
              </a:rPr>
              <a:t>groups within ±5% of 1 are considered adjusted</a:t>
            </a:r>
          </a:p>
          <a:p>
            <a:pPr marL="0" indent="0" algn="l">
              <a:spcBef>
                <a:spcPts val="800"/>
              </a:spcBef>
              <a:buNone/>
            </a:pPr>
            <a:r>
              <a:rPr lang="en-GB" sz="1800" b="1" i="0" dirty="0">
                <a:solidFill>
                  <a:srgbClr val="636462"/>
                </a:solidFill>
                <a:latin typeface="Arial"/>
                <a:cs typeface="Arial"/>
              </a:rPr>
              <a:t>Medians, not means: </a:t>
            </a:r>
            <a:r>
              <a:rPr lang="en-GB" sz="1800" b="0" i="0" dirty="0">
                <a:solidFill>
                  <a:srgbClr val="636462"/>
                </a:solidFill>
                <a:latin typeface="Arial"/>
                <a:cs typeface="Arial"/>
              </a:rPr>
              <a:t>robust to outliers and to unusual months</a:t>
            </a:r>
          </a:p>
          <a:p>
            <a:pPr marL="0" indent="0" algn="l">
              <a:spcBef>
                <a:spcPts val="800"/>
              </a:spcBef>
              <a:buNone/>
            </a:pPr>
            <a:r>
              <a:rPr lang="en-GB" sz="1800" b="1" i="0" dirty="0">
                <a:solidFill>
                  <a:srgbClr val="636462"/>
                </a:solidFill>
                <a:latin typeface="Arial"/>
                <a:cs typeface="Arial"/>
              </a:rPr>
              <a:t>Above or below 1: </a:t>
            </a:r>
            <a:r>
              <a:rPr lang="en-GB" sz="1800" b="0" i="0" dirty="0">
                <a:solidFill>
                  <a:srgbClr val="636462"/>
                </a:solidFill>
                <a:latin typeface="Arial"/>
                <a:cs typeface="Arial"/>
              </a:rPr>
              <a:t>over- or under-correction, depending on the sign of the calendar effect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CasellaDiTesto 1">
                <a:extLst>
                  <a:ext uri="{FF2B5EF4-FFF2-40B4-BE49-F238E27FC236}">
                    <a16:creationId xmlns:a16="http://schemas.microsoft.com/office/drawing/2014/main" id="{A6CEF60E-13DE-460C-8E46-6010702A6E7B}"/>
                  </a:ext>
                </a:extLst>
              </p:cNvPr>
              <p:cNvSpPr txBox="1"/>
              <p:nvPr/>
            </p:nvSpPr>
            <p:spPr>
              <a:xfrm>
                <a:off x="4066880" y="1867277"/>
                <a:ext cx="4072525" cy="6315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it-IT" i="0">
                              <a:latin typeface="Cambria Math" panose="02040503050406030204" pitchFamily="18" charset="0"/>
                            </a:rPr>
                            <m:t>DMR</m:t>
                          </m:r>
                        </m:e>
                        <m:sub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it-IT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it-IT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it-IT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it-IT" b="0" i="0" smtClean="0">
                                  <a:latin typeface="Cambria Math" panose="02040503050406030204" pitchFamily="18" charset="0"/>
                                </a:rPr>
                                <m:t>SCA</m:t>
                              </m:r>
                            </m:sup>
                          </m:sSup>
                        </m:num>
                        <m:den>
                          <m:r>
                            <m:rPr>
                              <m:sty m:val="p"/>
                            </m:rPr>
                            <a:rPr lang="it-IT" b="0" i="0" smtClean="0">
                              <a:latin typeface="Cambria Math" panose="02040503050406030204" pitchFamily="18" charset="0"/>
                            </a:rPr>
                            <m:t>median</m:t>
                          </m:r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{</m:t>
                          </m:r>
                          <m:sSubSup>
                            <m:sSubSupPr>
                              <m:ctrlP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lang="it-IT" b="0" i="0" smtClean="0">
                                  <a:latin typeface="Cambria Math" panose="02040503050406030204" pitchFamily="18" charset="0"/>
                                </a:rPr>
                                <m:t>SCA</m:t>
                              </m:r>
                            </m:sup>
                          </m:sSubSup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:</m:t>
                          </m:r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it-I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r>
                            <m:rPr>
                              <m:sty m:val="p"/>
                            </m:rPr>
                            <a:rPr lang="it-IT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month</m:t>
                          </m:r>
                          <m:r>
                            <a:rPr lang="it-IT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it-IT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of</m:t>
                          </m:r>
                          <m:r>
                            <a:rPr lang="it-IT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it-I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}</m:t>
                          </m:r>
                        </m:den>
                      </m:f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2" name="CasellaDiTesto 1">
                <a:extLst>
                  <a:ext uri="{FF2B5EF4-FFF2-40B4-BE49-F238E27FC236}">
                    <a16:creationId xmlns:a16="http://schemas.microsoft.com/office/drawing/2014/main" id="{A6CEF60E-13DE-460C-8E46-6010702A6E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6880" y="1867277"/>
                <a:ext cx="4072525" cy="63158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CasellaDiTesto 15">
                <a:extLst>
                  <a:ext uri="{FF2B5EF4-FFF2-40B4-BE49-F238E27FC236}">
                    <a16:creationId xmlns:a16="http://schemas.microsoft.com/office/drawing/2014/main" id="{8E80496D-DCA0-4331-AFFD-6ADFB5ABEB77}"/>
                  </a:ext>
                </a:extLst>
              </p:cNvPr>
              <p:cNvSpPr txBox="1"/>
              <p:nvPr/>
            </p:nvSpPr>
            <p:spPr>
              <a:xfrm>
                <a:off x="461682" y="1156757"/>
                <a:ext cx="6096000" cy="37587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it-IT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it-IT" b="0" i="0" smtClean="0">
                            <a:latin typeface="Cambria Math" panose="02040503050406030204" pitchFamily="18" charset="0"/>
                          </a:rPr>
                          <m:t>SCA</m:t>
                        </m:r>
                      </m:sup>
                    </m:sSup>
                  </m:oMath>
                </a14:m>
                <a:r>
                  <a:rPr lang="it-IT" dirty="0"/>
                  <a:t>: </a:t>
                </a:r>
                <a:r>
                  <a:rPr lang="it-IT" dirty="0" err="1"/>
                  <a:t>seasonally</a:t>
                </a:r>
                <a:r>
                  <a:rPr lang="it-IT" dirty="0"/>
                  <a:t> and </a:t>
                </a:r>
                <a:r>
                  <a:rPr lang="it-IT" dirty="0" err="1"/>
                  <a:t>calendar</a:t>
                </a:r>
                <a:r>
                  <a:rPr lang="it-IT" dirty="0"/>
                  <a:t> </a:t>
                </a:r>
                <a:r>
                  <a:rPr lang="it-IT" dirty="0" err="1"/>
                  <a:t>adjusted</a:t>
                </a:r>
                <a:r>
                  <a:rPr lang="it-IT" dirty="0"/>
                  <a:t> </a:t>
                </a:r>
                <a:r>
                  <a:rPr lang="it-IT" dirty="0" err="1"/>
                  <a:t>series</a:t>
                </a:r>
                <a:endParaRPr lang="it-IT" dirty="0"/>
              </a:p>
            </p:txBody>
          </p:sp>
        </mc:Choice>
        <mc:Fallback xmlns="">
          <p:sp>
            <p:nvSpPr>
              <p:cNvPr id="16" name="CasellaDiTesto 15">
                <a:extLst>
                  <a:ext uri="{FF2B5EF4-FFF2-40B4-BE49-F238E27FC236}">
                    <a16:creationId xmlns:a16="http://schemas.microsoft.com/office/drawing/2014/main" id="{8E80496D-DCA0-4331-AFFD-6ADFB5ABEB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682" y="1156757"/>
                <a:ext cx="6096000" cy="375872"/>
              </a:xfrm>
              <a:prstGeom prst="rect">
                <a:avLst/>
              </a:prstGeom>
              <a:blipFill>
                <a:blip r:embed="rId3"/>
                <a:stretch>
                  <a:fillRect t="-8197" b="-26230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819166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1" name="Titolo 4"/>
          <p:cNvSpPr>
            <a:spLocks noGrp="1"/>
          </p:cNvSpPr>
          <p:nvPr>
            <p:ph type="title"/>
          </p:nvPr>
        </p:nvSpPr>
        <p:spPr>
          <a:xfrm>
            <a:off x="468313" y="482109"/>
            <a:ext cx="11269662" cy="405304"/>
          </a:xfrm>
        </p:spPr>
        <p:txBody>
          <a:bodyPr/>
          <a:lstStyle/>
          <a:p>
            <a:r>
              <a:rPr lang="en-GB" altLang="it-IT" sz="3600" dirty="0">
                <a:solidFill>
                  <a:srgbClr val="C00000"/>
                </a:solidFill>
              </a:rPr>
              <a:t>Which DMR charts? The mechanism decides</a:t>
            </a:r>
          </a:p>
        </p:txBody>
      </p:sp>
      <p:sp>
        <p:nvSpPr>
          <p:cNvPr id="9" name="Segnaposto numero diapositiva 4">
            <a:extLst>
              <a:ext uri="{FF2B5EF4-FFF2-40B4-BE49-F238E27FC236}">
                <a16:creationId xmlns:a16="http://schemas.microsoft.com/office/drawing/2014/main" id="{43529721-AF16-448D-9B7A-D70C2ADC200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0" y="6392815"/>
            <a:ext cx="50165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48B4153A-D4C5-4CEF-8992-0D8815C829E3}" type="slidenum">
              <a:rPr lang="en-US" smtClean="0"/>
              <a:pPr>
                <a:defRPr/>
              </a:pPr>
              <a:t>5</a:t>
            </a:fld>
            <a:endParaRPr lang="en-US" dirty="0"/>
          </a:p>
        </p:txBody>
      </p:sp>
      <p:sp>
        <p:nvSpPr>
          <p:cNvPr id="8" name="Segnaposto piè di pagina 3">
            <a:extLst>
              <a:ext uri="{FF2B5EF4-FFF2-40B4-BE49-F238E27FC236}">
                <a16:creationId xmlns:a16="http://schemas.microsoft.com/office/drawing/2014/main" id="{3223DD80-9C7E-474F-A668-27B6983A568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35830" y="6382305"/>
            <a:ext cx="9644444" cy="259965"/>
          </a:xfrm>
        </p:spPr>
        <p:txBody>
          <a:bodyPr/>
          <a:lstStyle/>
          <a:p>
            <a:pPr>
              <a:defRPr/>
            </a:pPr>
            <a:r>
              <a:rPr lang="en-US" dirty="0"/>
              <a:t>Building calendars for daily seasonal adjustment</a:t>
            </a:r>
          </a:p>
        </p:txBody>
      </p:sp>
      <p:sp>
        <p:nvSpPr>
          <p:cNvPr id="20" name="Step 1 card"/>
          <p:cNvSpPr/>
          <p:nvPr/>
        </p:nvSpPr>
        <p:spPr>
          <a:xfrm>
            <a:off x="466344" y="1325880"/>
            <a:ext cx="2606040" cy="361188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GB" dirty="0"/>
          </a:p>
        </p:txBody>
      </p:sp>
      <p:sp>
        <p:nvSpPr>
          <p:cNvPr id="21" name="Step 1 number"/>
          <p:cNvSpPr/>
          <p:nvPr/>
        </p:nvSpPr>
        <p:spPr>
          <a:xfrm>
            <a:off x="667512" y="1527048"/>
            <a:ext cx="566928" cy="566928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GB" sz="2400" b="1" i="0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</a:p>
        </p:txBody>
      </p:sp>
      <p:sp>
        <p:nvSpPr>
          <p:cNvPr id="22" name="Step 1 heading"/>
          <p:cNvSpPr txBox="1"/>
          <p:nvPr/>
        </p:nvSpPr>
        <p:spPr>
          <a:xfrm>
            <a:off x="667512" y="2240280"/>
            <a:ext cx="2203704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GB" sz="1900" b="1" i="0" dirty="0">
                <a:solidFill>
                  <a:srgbClr val="595959"/>
                </a:solidFill>
                <a:latin typeface="Arial"/>
                <a:cs typeface="Arial"/>
              </a:rPr>
              <a:t>Find candidate days</a:t>
            </a:r>
          </a:p>
        </p:txBody>
      </p:sp>
      <p:sp>
        <p:nvSpPr>
          <p:cNvPr id="23" name="Step 1 text"/>
          <p:cNvSpPr txBox="1"/>
          <p:nvPr/>
        </p:nvSpPr>
        <p:spPr>
          <a:xfrm>
            <a:off x="667512" y="2926080"/>
            <a:ext cx="2203704" cy="1463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en-GB" sz="1400" b="0" i="0" dirty="0">
                <a:solidFill>
                  <a:srgbClr val="636462"/>
                </a:solidFill>
                <a:latin typeface="Arial"/>
                <a:cs typeface="Arial"/>
              </a:rPr>
              <a:t>Domain knowledge and the raw data: deadlines, month end, holidays.</a:t>
            </a:r>
          </a:p>
        </p:txBody>
      </p:sp>
      <p:sp>
        <p:nvSpPr>
          <p:cNvPr id="24" name="Step 1 charts"/>
          <p:cNvSpPr txBox="1"/>
          <p:nvPr/>
        </p:nvSpPr>
        <p:spPr>
          <a:xfrm>
            <a:off x="667512" y="4480560"/>
            <a:ext cx="2203704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GB" sz="1300" b="1" i="1" dirty="0">
                <a:solidFill>
                  <a:srgbClr val="C00000"/>
                </a:solidFill>
                <a:latin typeface="Arial"/>
                <a:cs typeface="Arial"/>
              </a:rPr>
              <a:t>Raw data</a:t>
            </a:r>
          </a:p>
        </p:txBody>
      </p:sp>
      <p:sp>
        <p:nvSpPr>
          <p:cNvPr id="26" name="Step 2 card"/>
          <p:cNvSpPr/>
          <p:nvPr/>
        </p:nvSpPr>
        <p:spPr>
          <a:xfrm>
            <a:off x="3349447" y="1325880"/>
            <a:ext cx="2606040" cy="361188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GB" dirty="0"/>
          </a:p>
        </p:txBody>
      </p:sp>
      <p:sp>
        <p:nvSpPr>
          <p:cNvPr id="27" name="Step 2 number"/>
          <p:cNvSpPr/>
          <p:nvPr/>
        </p:nvSpPr>
        <p:spPr>
          <a:xfrm>
            <a:off x="3550615" y="1527048"/>
            <a:ext cx="566928" cy="566928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GB" sz="2400" b="1" i="0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28" name="Step 2 heading"/>
          <p:cNvSpPr txBox="1"/>
          <p:nvPr/>
        </p:nvSpPr>
        <p:spPr>
          <a:xfrm>
            <a:off x="3550615" y="2240280"/>
            <a:ext cx="2203704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GB" sz="1900" b="1" i="0" dirty="0">
                <a:solidFill>
                  <a:srgbClr val="595959"/>
                </a:solidFill>
                <a:latin typeface="Arial"/>
                <a:cs typeface="Arial"/>
              </a:rPr>
              <a:t>Group by mechanism</a:t>
            </a:r>
          </a:p>
        </p:txBody>
      </p:sp>
      <p:sp>
        <p:nvSpPr>
          <p:cNvPr id="29" name="Step 2 text"/>
          <p:cNvSpPr txBox="1"/>
          <p:nvPr/>
        </p:nvSpPr>
        <p:spPr>
          <a:xfrm>
            <a:off x="3550615" y="2926080"/>
            <a:ext cx="2203704" cy="1463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en-GB" sz="1400" b="0" i="0" dirty="0">
                <a:solidFill>
                  <a:srgbClr val="636462"/>
                </a:solidFill>
                <a:latin typeface="Arial"/>
                <a:cs typeface="Arial"/>
              </a:rPr>
              <a:t>Fixed dates by day of the month, month end by days to the end, holidays by distance from the holiday. Groups outside ±5% are critical.</a:t>
            </a:r>
          </a:p>
        </p:txBody>
      </p:sp>
      <p:sp>
        <p:nvSpPr>
          <p:cNvPr id="30" name="Step 2 charts"/>
          <p:cNvSpPr txBox="1"/>
          <p:nvPr/>
        </p:nvSpPr>
        <p:spPr>
          <a:xfrm>
            <a:off x="3550615" y="4480560"/>
            <a:ext cx="2203704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GB" sz="1300" b="1" i="1" dirty="0">
                <a:solidFill>
                  <a:srgbClr val="C00000"/>
                </a:solidFill>
                <a:latin typeface="Arial"/>
                <a:cs typeface="Arial"/>
              </a:rPr>
              <a:t>Slides 6–10</a:t>
            </a:r>
          </a:p>
        </p:txBody>
      </p:sp>
      <p:sp>
        <p:nvSpPr>
          <p:cNvPr id="32" name="Step 3 card"/>
          <p:cNvSpPr/>
          <p:nvPr/>
        </p:nvSpPr>
        <p:spPr>
          <a:xfrm>
            <a:off x="6232550" y="1325880"/>
            <a:ext cx="2606040" cy="361188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GB" dirty="0"/>
          </a:p>
        </p:txBody>
      </p:sp>
      <p:sp>
        <p:nvSpPr>
          <p:cNvPr id="33" name="Step 3 number"/>
          <p:cNvSpPr/>
          <p:nvPr/>
        </p:nvSpPr>
        <p:spPr>
          <a:xfrm>
            <a:off x="6433718" y="1527048"/>
            <a:ext cx="566928" cy="566928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GB" sz="2400" b="1" i="0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</a:p>
        </p:txBody>
      </p:sp>
      <p:sp>
        <p:nvSpPr>
          <p:cNvPr id="34" name="Step 3 heading"/>
          <p:cNvSpPr txBox="1"/>
          <p:nvPr/>
        </p:nvSpPr>
        <p:spPr>
          <a:xfrm>
            <a:off x="6433718" y="2240280"/>
            <a:ext cx="2203704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GB" sz="1900" b="1" i="0" dirty="0">
                <a:solidFill>
                  <a:srgbClr val="595959"/>
                </a:solidFill>
                <a:latin typeface="Arial"/>
                <a:cs typeface="Arial"/>
              </a:rPr>
              <a:t>Split for interactions</a:t>
            </a:r>
          </a:p>
        </p:txBody>
      </p:sp>
      <p:sp>
        <p:nvSpPr>
          <p:cNvPr id="35" name="Step 3 text"/>
          <p:cNvSpPr txBox="1"/>
          <p:nvPr/>
        </p:nvSpPr>
        <p:spPr>
          <a:xfrm>
            <a:off x="6433718" y="2926080"/>
            <a:ext cx="2203704" cy="1463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en-GB" sz="1400" b="0" i="0" dirty="0">
                <a:solidFill>
                  <a:srgbClr val="636462"/>
                </a:solidFill>
                <a:latin typeface="Arial"/>
                <a:cs typeface="Arial"/>
              </a:rPr>
              <a:t>Split critical days by day type (weekday, Saturday, Sunday): a median close to 1 can hide opposite errors.</a:t>
            </a:r>
          </a:p>
        </p:txBody>
      </p:sp>
      <p:sp>
        <p:nvSpPr>
          <p:cNvPr id="36" name="Step 3 charts"/>
          <p:cNvSpPr txBox="1"/>
          <p:nvPr/>
        </p:nvSpPr>
        <p:spPr>
          <a:xfrm>
            <a:off x="6433718" y="4480560"/>
            <a:ext cx="2203704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GB" sz="1300" b="1" i="1" dirty="0">
                <a:solidFill>
                  <a:srgbClr val="C00000"/>
                </a:solidFill>
                <a:latin typeface="Arial"/>
                <a:cs typeface="Arial"/>
              </a:rPr>
              <a:t>Slide 11</a:t>
            </a:r>
          </a:p>
        </p:txBody>
      </p:sp>
      <p:sp>
        <p:nvSpPr>
          <p:cNvPr id="38" name="Step 4 card"/>
          <p:cNvSpPr/>
          <p:nvPr/>
        </p:nvSpPr>
        <p:spPr>
          <a:xfrm>
            <a:off x="9115654" y="1325880"/>
            <a:ext cx="2606040" cy="361188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GB" dirty="0"/>
          </a:p>
        </p:txBody>
      </p:sp>
      <p:sp>
        <p:nvSpPr>
          <p:cNvPr id="39" name="Step 4 number"/>
          <p:cNvSpPr/>
          <p:nvPr/>
        </p:nvSpPr>
        <p:spPr>
          <a:xfrm>
            <a:off x="9316822" y="1527048"/>
            <a:ext cx="566928" cy="566928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GB" sz="2400" b="1" i="0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</a:p>
        </p:txBody>
      </p:sp>
      <p:sp>
        <p:nvSpPr>
          <p:cNvPr id="40" name="Step 4 heading"/>
          <p:cNvSpPr txBox="1"/>
          <p:nvPr/>
        </p:nvSpPr>
        <p:spPr>
          <a:xfrm>
            <a:off x="9316822" y="2240280"/>
            <a:ext cx="2203704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GB" sz="1900" b="1" i="0" dirty="0">
                <a:solidFill>
                  <a:srgbClr val="595959"/>
                </a:solidFill>
                <a:latin typeface="Arial"/>
                <a:cs typeface="Arial"/>
              </a:rPr>
              <a:t>Check, then model</a:t>
            </a:r>
          </a:p>
        </p:txBody>
      </p:sp>
      <p:sp>
        <p:nvSpPr>
          <p:cNvPr id="41" name="Step 4 text"/>
          <p:cNvSpPr txBox="1"/>
          <p:nvPr/>
        </p:nvSpPr>
        <p:spPr>
          <a:xfrm>
            <a:off x="9316822" y="2926080"/>
            <a:ext cx="2203704" cy="1463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en-GB" sz="1400" b="0" i="0" dirty="0">
                <a:solidFill>
                  <a:srgbClr val="636462"/>
                </a:solidFill>
                <a:latin typeface="Arial"/>
                <a:cs typeface="Arial"/>
              </a:rPr>
              <a:t>Test each hypothesis with a dedicated chart before adding a regressor; after each change, redo all charts.</a:t>
            </a:r>
          </a:p>
        </p:txBody>
      </p:sp>
      <p:sp>
        <p:nvSpPr>
          <p:cNvPr id="42" name="Step 4 charts"/>
          <p:cNvSpPr txBox="1"/>
          <p:nvPr/>
        </p:nvSpPr>
        <p:spPr>
          <a:xfrm>
            <a:off x="9316822" y="4480560"/>
            <a:ext cx="2203704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GB" sz="1300" b="1" i="1" dirty="0">
                <a:solidFill>
                  <a:srgbClr val="C00000"/>
                </a:solidFill>
                <a:latin typeface="Arial"/>
                <a:cs typeface="Arial"/>
              </a:rPr>
              <a:t>Slide 12</a:t>
            </a:r>
          </a:p>
        </p:txBody>
      </p:sp>
      <p:sp>
        <p:nvSpPr>
          <p:cNvPr id="50" name="Key message"/>
          <p:cNvSpPr txBox="1"/>
          <p:nvPr/>
        </p:nvSpPr>
        <p:spPr>
          <a:xfrm>
            <a:off x="466344" y="5166360"/>
            <a:ext cx="11256264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GB" sz="1800" b="1" i="0" dirty="0">
                <a:solidFill>
                  <a:srgbClr val="595959"/>
                </a:solidFill>
                <a:latin typeface="Arial"/>
                <a:cs typeface="Arial"/>
              </a:rPr>
              <a:t>The denominator is always the monthly median: only the grouping of days changes.</a:t>
            </a:r>
          </a:p>
        </p:txBody>
      </p:sp>
    </p:spTree>
    <p:extLst>
      <p:ext uri="{BB962C8B-B14F-4D97-AF65-F5344CB8AC3E}">
        <p14:creationId xmlns:p14="http://schemas.microsoft.com/office/powerpoint/2010/main" val="17819166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1" name="Titolo 4"/>
          <p:cNvSpPr>
            <a:spLocks noGrp="1"/>
          </p:cNvSpPr>
          <p:nvPr>
            <p:ph type="title"/>
          </p:nvPr>
        </p:nvSpPr>
        <p:spPr>
          <a:xfrm>
            <a:off x="468313" y="482109"/>
            <a:ext cx="11269662" cy="405304"/>
          </a:xfrm>
        </p:spPr>
        <p:txBody>
          <a:bodyPr/>
          <a:lstStyle/>
          <a:p>
            <a:r>
              <a:rPr lang="en-GB" altLang="it-IT" sz="3600" dirty="0">
                <a:solidFill>
                  <a:srgbClr val="C00000"/>
                </a:solidFill>
              </a:rPr>
              <a:t>Day of the week: weekends stand out</a:t>
            </a:r>
          </a:p>
        </p:txBody>
      </p:sp>
      <p:sp>
        <p:nvSpPr>
          <p:cNvPr id="9" name="Segnaposto numero diapositiva 4">
            <a:extLst>
              <a:ext uri="{FF2B5EF4-FFF2-40B4-BE49-F238E27FC236}">
                <a16:creationId xmlns:a16="http://schemas.microsoft.com/office/drawing/2014/main" id="{43529721-AF16-448D-9B7A-D70C2ADC200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0" y="6392815"/>
            <a:ext cx="50165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48B4153A-D4C5-4CEF-8992-0D8815C829E3}" type="slidenum">
              <a:rPr lang="en-US" smtClean="0"/>
              <a:pPr>
                <a:defRPr/>
              </a:pPr>
              <a:t>6</a:t>
            </a:fld>
            <a:endParaRPr lang="en-US" dirty="0"/>
          </a:p>
        </p:txBody>
      </p:sp>
      <p:sp>
        <p:nvSpPr>
          <p:cNvPr id="8" name="Segnaposto piè di pagina 3">
            <a:extLst>
              <a:ext uri="{FF2B5EF4-FFF2-40B4-BE49-F238E27FC236}">
                <a16:creationId xmlns:a16="http://schemas.microsoft.com/office/drawing/2014/main" id="{3223DD80-9C7E-474F-A668-27B6983A568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35830" y="6382305"/>
            <a:ext cx="9644444" cy="259965"/>
          </a:xfrm>
        </p:spPr>
        <p:txBody>
          <a:bodyPr/>
          <a:lstStyle/>
          <a:p>
            <a:pPr>
              <a:defRPr/>
            </a:pPr>
            <a:r>
              <a:rPr lang="en-US" dirty="0"/>
              <a:t>Building calendars for daily seasonal adjustment</a:t>
            </a:r>
          </a:p>
        </p:txBody>
      </p:sp>
      <p:pic>
        <p:nvPicPr>
          <p:cNvPr id="40" name="DMR chart" descr="Boxplots of the DMR by day of the week, basic calenda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7517" y="1216152"/>
            <a:ext cx="9176662" cy="4206240"/>
          </a:xfrm>
          <a:prstGeom prst="rect">
            <a:avLst/>
          </a:prstGeom>
        </p:spPr>
      </p:pic>
      <p:sp>
        <p:nvSpPr>
          <p:cNvPr id="41" name="Chart caption"/>
          <p:cNvSpPr txBox="1"/>
          <p:nvPr/>
        </p:nvSpPr>
        <p:spPr>
          <a:xfrm>
            <a:off x="466344" y="5504688"/>
            <a:ext cx="11256264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en-GB" sz="1400" b="1" i="0" dirty="0">
                <a:solidFill>
                  <a:srgbClr val="C00000"/>
                </a:solidFill>
                <a:latin typeface="Arial"/>
                <a:cs typeface="Arial"/>
              </a:rPr>
              <a:t>Step 2 · Basic calendar.  </a:t>
            </a:r>
            <a:r>
              <a:rPr lang="en-GB" sz="1400" b="0" i="1" dirty="0">
                <a:solidFill>
                  <a:srgbClr val="7B7C7E"/>
                </a:solidFill>
                <a:latin typeface="Arial"/>
                <a:cs typeface="Arial"/>
              </a:rPr>
              <a:t>Median DMR about 1.0 on weekdays, about 0.9 on Saturdays and Sundays, with a much wider spread at weekends</a:t>
            </a:r>
          </a:p>
        </p:txBody>
      </p:sp>
    </p:spTree>
    <p:extLst>
      <p:ext uri="{BB962C8B-B14F-4D97-AF65-F5344CB8AC3E}">
        <p14:creationId xmlns:p14="http://schemas.microsoft.com/office/powerpoint/2010/main" val="17819166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1" name="Titolo 4"/>
          <p:cNvSpPr>
            <a:spLocks noGrp="1"/>
          </p:cNvSpPr>
          <p:nvPr>
            <p:ph type="title"/>
          </p:nvPr>
        </p:nvSpPr>
        <p:spPr>
          <a:xfrm>
            <a:off x="468313" y="482109"/>
            <a:ext cx="11269662" cy="405304"/>
          </a:xfrm>
        </p:spPr>
        <p:txBody>
          <a:bodyPr/>
          <a:lstStyle/>
          <a:p>
            <a:r>
              <a:rPr lang="en-GB" altLang="it-IT" sz="3600" dirty="0">
                <a:solidFill>
                  <a:srgbClr val="C00000"/>
                </a:solidFill>
              </a:rPr>
              <a:t>Day of the month: peaks on 1, 15 and 20</a:t>
            </a:r>
          </a:p>
        </p:txBody>
      </p:sp>
      <p:sp>
        <p:nvSpPr>
          <p:cNvPr id="9" name="Segnaposto numero diapositiva 4">
            <a:extLst>
              <a:ext uri="{FF2B5EF4-FFF2-40B4-BE49-F238E27FC236}">
                <a16:creationId xmlns:a16="http://schemas.microsoft.com/office/drawing/2014/main" id="{43529721-AF16-448D-9B7A-D70C2ADC200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0" y="6392815"/>
            <a:ext cx="50165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48B4153A-D4C5-4CEF-8992-0D8815C829E3}" type="slidenum">
              <a:rPr lang="en-US" smtClean="0"/>
              <a:pPr>
                <a:defRPr/>
              </a:pPr>
              <a:t>7</a:t>
            </a:fld>
            <a:endParaRPr lang="en-US" dirty="0"/>
          </a:p>
        </p:txBody>
      </p:sp>
      <p:sp>
        <p:nvSpPr>
          <p:cNvPr id="8" name="Segnaposto piè di pagina 3">
            <a:extLst>
              <a:ext uri="{FF2B5EF4-FFF2-40B4-BE49-F238E27FC236}">
                <a16:creationId xmlns:a16="http://schemas.microsoft.com/office/drawing/2014/main" id="{3223DD80-9C7E-474F-A668-27B6983A568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35830" y="6382305"/>
            <a:ext cx="9644444" cy="259965"/>
          </a:xfrm>
        </p:spPr>
        <p:txBody>
          <a:bodyPr/>
          <a:lstStyle/>
          <a:p>
            <a:pPr>
              <a:defRPr/>
            </a:pPr>
            <a:r>
              <a:rPr lang="en-US" dirty="0"/>
              <a:t>Building calendars for daily seasonal adjustment</a:t>
            </a:r>
          </a:p>
        </p:txBody>
      </p:sp>
      <p:pic>
        <p:nvPicPr>
          <p:cNvPr id="40" name="DMR chart" descr="Boxplots of the DMR by day of the month, basic calenda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7517" y="1216152"/>
            <a:ext cx="9176662" cy="4206240"/>
          </a:xfrm>
          <a:prstGeom prst="rect">
            <a:avLst/>
          </a:prstGeom>
        </p:spPr>
      </p:pic>
      <p:sp>
        <p:nvSpPr>
          <p:cNvPr id="41" name="Chart caption"/>
          <p:cNvSpPr txBox="1"/>
          <p:nvPr/>
        </p:nvSpPr>
        <p:spPr>
          <a:xfrm>
            <a:off x="466344" y="5504688"/>
            <a:ext cx="11256264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en-GB" sz="1400" b="1" i="0" dirty="0">
                <a:solidFill>
                  <a:srgbClr val="C00000"/>
                </a:solidFill>
                <a:latin typeface="Arial"/>
                <a:cs typeface="Arial"/>
              </a:rPr>
              <a:t>Step 2 · Basic calendar.  </a:t>
            </a:r>
            <a:r>
              <a:rPr lang="en-GB" sz="1400" b="0" i="1" dirty="0">
                <a:solidFill>
                  <a:srgbClr val="7B7C7E"/>
                </a:solidFill>
                <a:latin typeface="Arial"/>
                <a:cs typeface="Arial"/>
              </a:rPr>
              <a:t>Median DMR: day 1 = 1.13, day 15 = 1.27, day 20 = 1.09; days 30 and 31 = 0.82 and 0.76</a:t>
            </a:r>
          </a:p>
        </p:txBody>
      </p:sp>
    </p:spTree>
    <p:extLst>
      <p:ext uri="{BB962C8B-B14F-4D97-AF65-F5344CB8AC3E}">
        <p14:creationId xmlns:p14="http://schemas.microsoft.com/office/powerpoint/2010/main" val="17819166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1" name="Titolo 4"/>
          <p:cNvSpPr>
            <a:spLocks noGrp="1"/>
          </p:cNvSpPr>
          <p:nvPr>
            <p:ph type="title"/>
          </p:nvPr>
        </p:nvSpPr>
        <p:spPr>
          <a:xfrm>
            <a:off x="468313" y="482109"/>
            <a:ext cx="11269662" cy="405304"/>
          </a:xfrm>
        </p:spPr>
        <p:txBody>
          <a:bodyPr/>
          <a:lstStyle/>
          <a:p>
            <a:r>
              <a:rPr lang="en-GB" altLang="it-IT" sz="3600" dirty="0">
                <a:solidFill>
                  <a:srgbClr val="C00000"/>
                </a:solidFill>
              </a:rPr>
              <a:t>Month end: a dip at the end, a ramp before</a:t>
            </a:r>
          </a:p>
        </p:txBody>
      </p:sp>
      <p:sp>
        <p:nvSpPr>
          <p:cNvPr id="9" name="Segnaposto numero diapositiva 4">
            <a:extLst>
              <a:ext uri="{FF2B5EF4-FFF2-40B4-BE49-F238E27FC236}">
                <a16:creationId xmlns:a16="http://schemas.microsoft.com/office/drawing/2014/main" id="{43529721-AF16-448D-9B7A-D70C2ADC200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0" y="6392815"/>
            <a:ext cx="50165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48B4153A-D4C5-4CEF-8992-0D8815C829E3}" type="slidenum">
              <a:rPr lang="en-US" smtClean="0"/>
              <a:pPr>
                <a:defRPr/>
              </a:pPr>
              <a:t>8</a:t>
            </a:fld>
            <a:endParaRPr lang="en-US" dirty="0"/>
          </a:p>
        </p:txBody>
      </p:sp>
      <p:sp>
        <p:nvSpPr>
          <p:cNvPr id="8" name="Segnaposto piè di pagina 3">
            <a:extLst>
              <a:ext uri="{FF2B5EF4-FFF2-40B4-BE49-F238E27FC236}">
                <a16:creationId xmlns:a16="http://schemas.microsoft.com/office/drawing/2014/main" id="{3223DD80-9C7E-474F-A668-27B6983A568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35830" y="6382305"/>
            <a:ext cx="9644444" cy="259965"/>
          </a:xfrm>
        </p:spPr>
        <p:txBody>
          <a:bodyPr/>
          <a:lstStyle/>
          <a:p>
            <a:pPr>
              <a:defRPr/>
            </a:pPr>
            <a:r>
              <a:rPr lang="en-US" dirty="0"/>
              <a:t>Building calendars for daily seasonal adjustment</a:t>
            </a:r>
          </a:p>
        </p:txBody>
      </p:sp>
      <p:pic>
        <p:nvPicPr>
          <p:cNvPr id="40" name="DMR chart" descr="Boxplots of the DMR by days to the end of the month, basic calenda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7517" y="1216152"/>
            <a:ext cx="9176662" cy="4206240"/>
          </a:xfrm>
          <a:prstGeom prst="rect">
            <a:avLst/>
          </a:prstGeom>
        </p:spPr>
      </p:pic>
      <p:sp>
        <p:nvSpPr>
          <p:cNvPr id="41" name="Chart caption"/>
          <p:cNvSpPr txBox="1"/>
          <p:nvPr/>
        </p:nvSpPr>
        <p:spPr>
          <a:xfrm>
            <a:off x="466344" y="5504688"/>
            <a:ext cx="11256264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en-GB" sz="1400" b="1" i="0" dirty="0">
                <a:solidFill>
                  <a:srgbClr val="C00000"/>
                </a:solidFill>
                <a:latin typeface="Arial"/>
                <a:cs typeface="Arial"/>
              </a:rPr>
              <a:t>Step 2 · Basic calendar.  </a:t>
            </a:r>
            <a:r>
              <a:rPr lang="en-GB" sz="1400" b="0" i="1" dirty="0">
                <a:solidFill>
                  <a:srgbClr val="7B7C7E"/>
                </a:solidFill>
                <a:latin typeface="Arial"/>
                <a:cs typeface="Arial"/>
              </a:rPr>
              <a:t>Median DMR: last day 0.79, one day before 0.82, three to five days before 1.06–1.11. Wide boxes on the last days mix different weekdays</a:t>
            </a:r>
          </a:p>
        </p:txBody>
      </p:sp>
    </p:spTree>
    <p:extLst>
      <p:ext uri="{BB962C8B-B14F-4D97-AF65-F5344CB8AC3E}">
        <p14:creationId xmlns:p14="http://schemas.microsoft.com/office/powerpoint/2010/main" val="17819166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1" name="Titolo 4"/>
          <p:cNvSpPr>
            <a:spLocks noGrp="1"/>
          </p:cNvSpPr>
          <p:nvPr>
            <p:ph type="title"/>
          </p:nvPr>
        </p:nvSpPr>
        <p:spPr>
          <a:xfrm>
            <a:off x="468313" y="482109"/>
            <a:ext cx="11269662" cy="405304"/>
          </a:xfrm>
        </p:spPr>
        <p:txBody>
          <a:bodyPr/>
          <a:lstStyle/>
          <a:p>
            <a:r>
              <a:rPr lang="en-GB" altLang="it-IT" sz="3600" dirty="0">
                <a:solidFill>
                  <a:srgbClr val="C00000"/>
                </a:solidFill>
              </a:rPr>
              <a:t>Holidays: one dummy fails on weekends</a:t>
            </a:r>
          </a:p>
        </p:txBody>
      </p:sp>
      <p:sp>
        <p:nvSpPr>
          <p:cNvPr id="9" name="Segnaposto numero diapositiva 4">
            <a:extLst>
              <a:ext uri="{FF2B5EF4-FFF2-40B4-BE49-F238E27FC236}">
                <a16:creationId xmlns:a16="http://schemas.microsoft.com/office/drawing/2014/main" id="{43529721-AF16-448D-9B7A-D70C2ADC200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0" y="6392815"/>
            <a:ext cx="50165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48B4153A-D4C5-4CEF-8992-0D8815C829E3}" type="slidenum">
              <a:rPr lang="en-US" smtClean="0"/>
              <a:pPr>
                <a:defRPr/>
              </a:pPr>
              <a:t>9</a:t>
            </a:fld>
            <a:endParaRPr lang="en-US" dirty="0"/>
          </a:p>
        </p:txBody>
      </p:sp>
      <p:sp>
        <p:nvSpPr>
          <p:cNvPr id="8" name="Segnaposto piè di pagina 3">
            <a:extLst>
              <a:ext uri="{FF2B5EF4-FFF2-40B4-BE49-F238E27FC236}">
                <a16:creationId xmlns:a16="http://schemas.microsoft.com/office/drawing/2014/main" id="{3223DD80-9C7E-474F-A668-27B6983A568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35830" y="6382305"/>
            <a:ext cx="9644444" cy="259965"/>
          </a:xfrm>
        </p:spPr>
        <p:txBody>
          <a:bodyPr/>
          <a:lstStyle/>
          <a:p>
            <a:pPr>
              <a:defRPr/>
            </a:pPr>
            <a:r>
              <a:rPr lang="en-US" dirty="0"/>
              <a:t>Building calendars for daily seasonal adjustment</a:t>
            </a:r>
          </a:p>
        </p:txBody>
      </p:sp>
      <p:pic>
        <p:nvPicPr>
          <p:cNvPr id="40" name="DMR chart" descr="Boxplots of the DMR on holidays by weekday of the holiday, basic calenda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7517" y="1216152"/>
            <a:ext cx="9176662" cy="4206240"/>
          </a:xfrm>
          <a:prstGeom prst="rect">
            <a:avLst/>
          </a:prstGeom>
        </p:spPr>
      </p:pic>
      <p:sp>
        <p:nvSpPr>
          <p:cNvPr id="41" name="Chart caption"/>
          <p:cNvSpPr txBox="1"/>
          <p:nvPr/>
        </p:nvSpPr>
        <p:spPr>
          <a:xfrm>
            <a:off x="466344" y="5504688"/>
            <a:ext cx="11256264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en-GB" sz="1400" b="1" i="0" dirty="0">
                <a:solidFill>
                  <a:srgbClr val="C00000"/>
                </a:solidFill>
                <a:latin typeface="Arial"/>
                <a:cs typeface="Arial"/>
              </a:rPr>
              <a:t>Step 2 · Basic calendar, holidays active on every day.  </a:t>
            </a:r>
            <a:r>
              <a:rPr lang="en-GB" sz="1400" b="0" i="1" dirty="0">
                <a:solidFill>
                  <a:srgbClr val="7B7C7E"/>
                </a:solidFill>
                <a:latin typeface="Arial"/>
                <a:cs typeface="Arial"/>
              </a:rPr>
              <a:t>Median DMR: holidays on weekdays 0.6–0.7, holidays on Saturdays and Sundays about 3</a:t>
            </a:r>
          </a:p>
        </p:txBody>
      </p:sp>
    </p:spTree>
    <p:extLst>
      <p:ext uri="{BB962C8B-B14F-4D97-AF65-F5344CB8AC3E}">
        <p14:creationId xmlns:p14="http://schemas.microsoft.com/office/powerpoint/2010/main" val="17819166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1" name="Titolo 4"/>
          <p:cNvSpPr>
            <a:spLocks noGrp="1"/>
          </p:cNvSpPr>
          <p:nvPr>
            <p:ph type="title"/>
          </p:nvPr>
        </p:nvSpPr>
        <p:spPr>
          <a:xfrm>
            <a:off x="468313" y="482109"/>
            <a:ext cx="11269662" cy="405304"/>
          </a:xfrm>
        </p:spPr>
        <p:txBody>
          <a:bodyPr/>
          <a:lstStyle/>
          <a:p>
            <a:r>
              <a:rPr lang="en-GB" altLang="it-IT" sz="3600" dirty="0">
                <a:solidFill>
                  <a:srgbClr val="C00000"/>
                </a:solidFill>
              </a:rPr>
              <a:t>Around holidays: the dip spreads earlier</a:t>
            </a:r>
          </a:p>
        </p:txBody>
      </p:sp>
      <p:sp>
        <p:nvSpPr>
          <p:cNvPr id="9" name="Segnaposto numero diapositiva 4">
            <a:extLst>
              <a:ext uri="{FF2B5EF4-FFF2-40B4-BE49-F238E27FC236}">
                <a16:creationId xmlns:a16="http://schemas.microsoft.com/office/drawing/2014/main" id="{43529721-AF16-448D-9B7A-D70C2ADC200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0" y="6392815"/>
            <a:ext cx="50165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48B4153A-D4C5-4CEF-8992-0D8815C829E3}" type="slidenum">
              <a:rPr lang="en-US" smtClean="0"/>
              <a:pPr>
                <a:defRPr/>
              </a:pPr>
              <a:t>10</a:t>
            </a:fld>
            <a:endParaRPr lang="en-US" dirty="0"/>
          </a:p>
        </p:txBody>
      </p:sp>
      <p:sp>
        <p:nvSpPr>
          <p:cNvPr id="8" name="Segnaposto piè di pagina 3">
            <a:extLst>
              <a:ext uri="{FF2B5EF4-FFF2-40B4-BE49-F238E27FC236}">
                <a16:creationId xmlns:a16="http://schemas.microsoft.com/office/drawing/2014/main" id="{3223DD80-9C7E-474F-A668-27B6983A568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35830" y="6382305"/>
            <a:ext cx="9644444" cy="259965"/>
          </a:xfrm>
        </p:spPr>
        <p:txBody>
          <a:bodyPr/>
          <a:lstStyle/>
          <a:p>
            <a:pPr>
              <a:defRPr/>
            </a:pPr>
            <a:r>
              <a:rPr lang="en-US" dirty="0"/>
              <a:t>Building calendars for daily seasonal adjustment</a:t>
            </a:r>
          </a:p>
        </p:txBody>
      </p:sp>
      <p:pic>
        <p:nvPicPr>
          <p:cNvPr id="40" name="DMR chart" descr="Boxplots of the DMR from three days before to three days after a weekday holiday, basic calenda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7517" y="1216152"/>
            <a:ext cx="9176662" cy="4206240"/>
          </a:xfrm>
          <a:prstGeom prst="rect">
            <a:avLst/>
          </a:prstGeom>
        </p:spPr>
      </p:pic>
      <p:sp>
        <p:nvSpPr>
          <p:cNvPr id="41" name="Chart caption"/>
          <p:cNvSpPr txBox="1"/>
          <p:nvPr/>
        </p:nvSpPr>
        <p:spPr>
          <a:xfrm>
            <a:off x="466344" y="5504688"/>
            <a:ext cx="11256264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en-GB" sz="1400" b="1" i="0" dirty="0">
                <a:solidFill>
                  <a:srgbClr val="C00000"/>
                </a:solidFill>
                <a:latin typeface="Arial"/>
                <a:cs typeface="Arial"/>
              </a:rPr>
              <a:t>Step 2 · Basic calendar, weekday holidays, Christmas period excluded.  </a:t>
            </a:r>
            <a:r>
              <a:rPr lang="en-GB" sz="1400" b="0" i="1" dirty="0">
                <a:solidFill>
                  <a:srgbClr val="7B7C7E"/>
                </a:solidFill>
                <a:latin typeface="Arial"/>
                <a:cs typeface="Arial"/>
              </a:rPr>
              <a:t>Median DMR: holiday 0.68, the two days before 0.82–0.86, back to about 1 from the day after</a:t>
            </a:r>
          </a:p>
        </p:txBody>
      </p:sp>
    </p:spTree>
    <p:extLst>
      <p:ext uri="{BB962C8B-B14F-4D97-AF65-F5344CB8AC3E}">
        <p14:creationId xmlns:p14="http://schemas.microsoft.com/office/powerpoint/2010/main" val="17819166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1" name="Titolo 4"/>
          <p:cNvSpPr>
            <a:spLocks noGrp="1"/>
          </p:cNvSpPr>
          <p:nvPr>
            <p:ph type="title"/>
          </p:nvPr>
        </p:nvSpPr>
        <p:spPr>
          <a:xfrm>
            <a:off x="468313" y="482109"/>
            <a:ext cx="11269662" cy="405304"/>
          </a:xfrm>
        </p:spPr>
        <p:txBody>
          <a:bodyPr/>
          <a:lstStyle/>
          <a:p>
            <a:r>
              <a:rPr lang="en-GB" altLang="it-IT" sz="3600" dirty="0">
                <a:solidFill>
                  <a:srgbClr val="C00000"/>
                </a:solidFill>
              </a:rPr>
              <a:t>Split by day type: errors of opposite sign</a:t>
            </a:r>
          </a:p>
        </p:txBody>
      </p:sp>
      <p:sp>
        <p:nvSpPr>
          <p:cNvPr id="9" name="Segnaposto numero diapositiva 4">
            <a:extLst>
              <a:ext uri="{FF2B5EF4-FFF2-40B4-BE49-F238E27FC236}">
                <a16:creationId xmlns:a16="http://schemas.microsoft.com/office/drawing/2014/main" id="{43529721-AF16-448D-9B7A-D70C2ADC200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0" y="6392815"/>
            <a:ext cx="50165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48B4153A-D4C5-4CEF-8992-0D8815C829E3}" type="slidenum">
              <a:rPr lang="en-US" smtClean="0"/>
              <a:pPr>
                <a:defRPr/>
              </a:pPr>
              <a:t>11</a:t>
            </a:fld>
            <a:endParaRPr lang="en-US" dirty="0"/>
          </a:p>
        </p:txBody>
      </p:sp>
      <p:sp>
        <p:nvSpPr>
          <p:cNvPr id="8" name="Segnaposto piè di pagina 3">
            <a:extLst>
              <a:ext uri="{FF2B5EF4-FFF2-40B4-BE49-F238E27FC236}">
                <a16:creationId xmlns:a16="http://schemas.microsoft.com/office/drawing/2014/main" id="{3223DD80-9C7E-474F-A668-27B6983A568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35830" y="6382305"/>
            <a:ext cx="9644444" cy="259965"/>
          </a:xfrm>
        </p:spPr>
        <p:txBody>
          <a:bodyPr/>
          <a:lstStyle/>
          <a:p>
            <a:pPr>
              <a:defRPr/>
            </a:pPr>
            <a:r>
              <a:rPr lang="en-US" dirty="0"/>
              <a:t>Building calendars for daily seasonal adjustment</a:t>
            </a:r>
          </a:p>
        </p:txBody>
      </p:sp>
      <p:pic>
        <p:nvPicPr>
          <p:cNvPr id="40" name="DMR chart" descr="Boxplots of the DMR for month-end and fixed days, split into weekday, Saturday and Sunday, basic calenda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9608" y="1216152"/>
            <a:ext cx="8412480" cy="4206240"/>
          </a:xfrm>
          <a:prstGeom prst="rect">
            <a:avLst/>
          </a:prstGeom>
        </p:spPr>
      </p:pic>
      <p:sp>
        <p:nvSpPr>
          <p:cNvPr id="41" name="Chart caption"/>
          <p:cNvSpPr txBox="1"/>
          <p:nvPr/>
        </p:nvSpPr>
        <p:spPr>
          <a:xfrm>
            <a:off x="467716" y="5499671"/>
            <a:ext cx="11256264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en-GB" sz="1400" b="1" i="0" dirty="0">
                <a:solidFill>
                  <a:srgbClr val="C00000"/>
                </a:solidFill>
                <a:latin typeface="Arial"/>
                <a:cs typeface="Arial"/>
              </a:rPr>
              <a:t>Step 3 · Basic calendar.  </a:t>
            </a:r>
            <a:r>
              <a:rPr lang="en-GB" sz="1400" b="0" i="1" dirty="0">
                <a:solidFill>
                  <a:srgbClr val="7B7C7E"/>
                </a:solidFill>
                <a:latin typeface="Arial"/>
                <a:cs typeface="Arial"/>
              </a:rPr>
              <a:t>Last day of the month: median DMR 0.73 on weekdays, 1.96 on Saturdays, 4.3 on Sundays. One coefficient cannot fit all three</a:t>
            </a: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25E9FCC2-34F1-4F1E-AB88-7875D1A9CFE6}"/>
              </a:ext>
            </a:extLst>
          </p:cNvPr>
          <p:cNvSpPr txBox="1"/>
          <p:nvPr/>
        </p:nvSpPr>
        <p:spPr>
          <a:xfrm>
            <a:off x="385295" y="4999366"/>
            <a:ext cx="22146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 err="1">
                <a:solidFill>
                  <a:schemeClr val="accent1">
                    <a:lumMod val="50000"/>
                  </a:schemeClr>
                </a:solidFill>
              </a:rPr>
              <a:t>EoM</a:t>
            </a:r>
            <a:r>
              <a:rPr lang="it-IT" sz="1400" dirty="0">
                <a:solidFill>
                  <a:schemeClr val="accent1">
                    <a:lumMod val="50000"/>
                  </a:schemeClr>
                </a:solidFill>
              </a:rPr>
              <a:t> = End of </a:t>
            </a:r>
            <a:r>
              <a:rPr lang="it-IT" sz="1400" dirty="0" err="1">
                <a:solidFill>
                  <a:schemeClr val="accent1">
                    <a:lumMod val="50000"/>
                  </a:schemeClr>
                </a:solidFill>
              </a:rPr>
              <a:t>Month</a:t>
            </a:r>
            <a:endParaRPr lang="it-IT" sz="1400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19166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1" name="Titolo 4"/>
          <p:cNvSpPr>
            <a:spLocks noGrp="1"/>
          </p:cNvSpPr>
          <p:nvPr>
            <p:ph type="title"/>
          </p:nvPr>
        </p:nvSpPr>
        <p:spPr>
          <a:xfrm>
            <a:off x="468313" y="482109"/>
            <a:ext cx="11269662" cy="405304"/>
          </a:xfrm>
        </p:spPr>
        <p:txBody>
          <a:bodyPr/>
          <a:lstStyle/>
          <a:p>
            <a:r>
              <a:rPr lang="en-GB" altLang="it-IT" sz="3600" dirty="0">
                <a:solidFill>
                  <a:srgbClr val="C00000"/>
                </a:solidFill>
              </a:rPr>
              <a:t>Weekend month end: Friday takes the billing</a:t>
            </a:r>
          </a:p>
        </p:txBody>
      </p:sp>
      <p:sp>
        <p:nvSpPr>
          <p:cNvPr id="9" name="Segnaposto numero diapositiva 4">
            <a:extLst>
              <a:ext uri="{FF2B5EF4-FFF2-40B4-BE49-F238E27FC236}">
                <a16:creationId xmlns:a16="http://schemas.microsoft.com/office/drawing/2014/main" id="{43529721-AF16-448D-9B7A-D70C2ADC200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0" y="6392815"/>
            <a:ext cx="50165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48B4153A-D4C5-4CEF-8992-0D8815C829E3}" type="slidenum">
              <a:rPr lang="en-US" smtClean="0"/>
              <a:pPr>
                <a:defRPr/>
              </a:pPr>
              <a:t>12</a:t>
            </a:fld>
            <a:endParaRPr lang="en-US" dirty="0"/>
          </a:p>
        </p:txBody>
      </p:sp>
      <p:sp>
        <p:nvSpPr>
          <p:cNvPr id="8" name="Segnaposto piè di pagina 3">
            <a:extLst>
              <a:ext uri="{FF2B5EF4-FFF2-40B4-BE49-F238E27FC236}">
                <a16:creationId xmlns:a16="http://schemas.microsoft.com/office/drawing/2014/main" id="{3223DD80-9C7E-474F-A668-27B6983A568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35830" y="6382305"/>
            <a:ext cx="9644444" cy="259965"/>
          </a:xfrm>
        </p:spPr>
        <p:txBody>
          <a:bodyPr/>
          <a:lstStyle/>
          <a:p>
            <a:pPr>
              <a:defRPr/>
            </a:pPr>
            <a:r>
              <a:rPr lang="en-US" dirty="0"/>
              <a:t>Building calendars for daily seasonal adjustment</a:t>
            </a:r>
          </a:p>
        </p:txBody>
      </p:sp>
      <p:pic>
        <p:nvPicPr>
          <p:cNvPr id="40" name="DMR chart" descr="Boxplots of the DMR one and two days before the month end, Fridays versus Monday to Thursday, basic calenda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7517" y="1216152"/>
            <a:ext cx="9176662" cy="4206240"/>
          </a:xfrm>
          <a:prstGeom prst="rect">
            <a:avLst/>
          </a:prstGeom>
        </p:spPr>
      </p:pic>
      <p:sp>
        <p:nvSpPr>
          <p:cNvPr id="41" name="Chart caption"/>
          <p:cNvSpPr txBox="1"/>
          <p:nvPr/>
        </p:nvSpPr>
        <p:spPr>
          <a:xfrm>
            <a:off x="466344" y="5504688"/>
            <a:ext cx="11256264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en-GB" sz="1400" b="1" i="0" dirty="0">
                <a:solidFill>
                  <a:srgbClr val="C00000"/>
                </a:solidFill>
                <a:latin typeface="Arial"/>
                <a:cs typeface="Arial"/>
              </a:rPr>
              <a:t>Step 4 · Basic calendar, working days only.  </a:t>
            </a:r>
            <a:r>
              <a:rPr lang="en-GB" sz="1400" b="0" i="1" dirty="0">
                <a:solidFill>
                  <a:srgbClr val="7B7C7E"/>
                </a:solidFill>
                <a:latin typeface="Arial"/>
                <a:cs typeface="Arial"/>
              </a:rPr>
              <a:t>Median DMR on Fridays 1.46 and 2.2, on Monday–Thursday 0.81 and 1.03: a regressor for the last working day</a:t>
            </a:r>
          </a:p>
        </p:txBody>
      </p:sp>
    </p:spTree>
    <p:extLst>
      <p:ext uri="{BB962C8B-B14F-4D97-AF65-F5344CB8AC3E}">
        <p14:creationId xmlns:p14="http://schemas.microsoft.com/office/powerpoint/2010/main" val="17819166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1" name="Titolo 4"/>
          <p:cNvSpPr>
            <a:spLocks noGrp="1"/>
          </p:cNvSpPr>
          <p:nvPr>
            <p:ph type="title"/>
          </p:nvPr>
        </p:nvSpPr>
        <p:spPr>
          <a:xfrm>
            <a:off x="468313" y="482109"/>
            <a:ext cx="11269662" cy="405304"/>
          </a:xfrm>
        </p:spPr>
        <p:txBody>
          <a:bodyPr/>
          <a:lstStyle/>
          <a:p>
            <a:r>
              <a:rPr lang="en-GB" altLang="it-IT" sz="3600" dirty="0">
                <a:solidFill>
                  <a:srgbClr val="C00000"/>
                </a:solidFill>
              </a:rPr>
              <a:t>The final model: 32 calendar regressors</a:t>
            </a:r>
          </a:p>
        </p:txBody>
      </p:sp>
      <p:sp>
        <p:nvSpPr>
          <p:cNvPr id="9" name="Segnaposto numero diapositiva 4">
            <a:extLst>
              <a:ext uri="{FF2B5EF4-FFF2-40B4-BE49-F238E27FC236}">
                <a16:creationId xmlns:a16="http://schemas.microsoft.com/office/drawing/2014/main" id="{43529721-AF16-448D-9B7A-D70C2ADC200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0" y="6392815"/>
            <a:ext cx="50165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48B4153A-D4C5-4CEF-8992-0D8815C829E3}" type="slidenum">
              <a:rPr lang="en-US" smtClean="0"/>
              <a:pPr>
                <a:defRPr/>
              </a:pPr>
              <a:t>13</a:t>
            </a:fld>
            <a:endParaRPr lang="en-US" dirty="0"/>
          </a:p>
        </p:txBody>
      </p:sp>
      <p:sp>
        <p:nvSpPr>
          <p:cNvPr id="8" name="Segnaposto piè di pagina 3">
            <a:extLst>
              <a:ext uri="{FF2B5EF4-FFF2-40B4-BE49-F238E27FC236}">
                <a16:creationId xmlns:a16="http://schemas.microsoft.com/office/drawing/2014/main" id="{3223DD80-9C7E-474F-A668-27B6983A568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35830" y="6382305"/>
            <a:ext cx="9644444" cy="259965"/>
          </a:xfrm>
        </p:spPr>
        <p:txBody>
          <a:bodyPr/>
          <a:lstStyle/>
          <a:p>
            <a:pPr>
              <a:defRPr/>
            </a:pPr>
            <a:r>
              <a:rPr lang="en-US" dirty="0"/>
              <a:t>Building calendars for daily seasonal adjustment</a:t>
            </a:r>
          </a:p>
        </p:txBody>
      </p:sp>
      <p:pic>
        <p:nvPicPr>
          <p:cNvPr id="40" name="Pre-treatment table" descr="Table of pre-treatment estimates: holidays, month-end and fixed days by day type, model parameters, outlier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" y="1216152"/>
            <a:ext cx="6736823" cy="4206240"/>
          </a:xfrm>
          <a:prstGeom prst="rect">
            <a:avLst/>
          </a:prstGeom>
        </p:spPr>
      </p:pic>
      <p:sp>
        <p:nvSpPr>
          <p:cNvPr id="41" name="Takeaways card"/>
          <p:cNvSpPr/>
          <p:nvPr/>
        </p:nvSpPr>
        <p:spPr>
          <a:xfrm>
            <a:off x="7477487" y="1280160"/>
            <a:ext cx="4247864" cy="406908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GB" dirty="0"/>
          </a:p>
        </p:txBody>
      </p:sp>
      <p:sp>
        <p:nvSpPr>
          <p:cNvPr id="42" name="Takeaway value 1"/>
          <p:cNvSpPr txBox="1"/>
          <p:nvPr/>
        </p:nvSpPr>
        <p:spPr>
          <a:xfrm>
            <a:off x="7706087" y="1463040"/>
            <a:ext cx="3790664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GB" sz="3200" b="1" i="0" dirty="0">
                <a:solidFill>
                  <a:srgbClr val="C00000"/>
                </a:solidFill>
                <a:latin typeface="Arial"/>
                <a:cs typeface="Arial"/>
              </a:rPr>
              <a:t>32</a:t>
            </a:r>
          </a:p>
        </p:txBody>
      </p:sp>
      <p:sp>
        <p:nvSpPr>
          <p:cNvPr id="43" name="Takeaway label 1"/>
          <p:cNvSpPr txBox="1"/>
          <p:nvPr/>
        </p:nvSpPr>
        <p:spPr>
          <a:xfrm>
            <a:off x="7706087" y="2029968"/>
            <a:ext cx="3790664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GB" sz="1500" b="0" i="0" dirty="0">
                <a:solidFill>
                  <a:srgbClr val="595959"/>
                </a:solidFill>
                <a:latin typeface="Arial"/>
                <a:cs typeface="Arial"/>
              </a:rPr>
              <a:t>calendar regressors, all significant (|t| &gt; 4)</a:t>
            </a:r>
          </a:p>
        </p:txBody>
      </p:sp>
      <p:sp>
        <p:nvSpPr>
          <p:cNvPr id="44" name="Takeaway value 2"/>
          <p:cNvSpPr txBox="1"/>
          <p:nvPr/>
        </p:nvSpPr>
        <p:spPr>
          <a:xfrm>
            <a:off x="7706087" y="2743200"/>
            <a:ext cx="3790664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GB" sz="3200" b="1" i="0" dirty="0">
                <a:solidFill>
                  <a:srgbClr val="942639"/>
                </a:solidFill>
                <a:latin typeface="Arial"/>
                <a:cs typeface="Arial"/>
              </a:rPr>
              <a:t>×69</a:t>
            </a:r>
          </a:p>
        </p:txBody>
      </p:sp>
      <p:sp>
        <p:nvSpPr>
          <p:cNvPr id="45" name="Takeaway label 2"/>
          <p:cNvSpPr txBox="1"/>
          <p:nvPr/>
        </p:nvSpPr>
        <p:spPr>
          <a:xfrm>
            <a:off x="7706087" y="3310128"/>
            <a:ext cx="3790664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GB" sz="1500" b="0" i="0" dirty="0">
                <a:solidFill>
                  <a:srgbClr val="595959"/>
                </a:solidFill>
                <a:latin typeface="Arial"/>
                <a:cs typeface="Arial"/>
              </a:rPr>
              <a:t>last day of the month on a Sunday (×8.6 on weekdays, ×30 on Saturdays)</a:t>
            </a:r>
          </a:p>
        </p:txBody>
      </p:sp>
      <p:sp>
        <p:nvSpPr>
          <p:cNvPr id="46" name="Takeaway value 3"/>
          <p:cNvSpPr txBox="1"/>
          <p:nvPr/>
        </p:nvSpPr>
        <p:spPr>
          <a:xfrm>
            <a:off x="7706087" y="4023360"/>
            <a:ext cx="3790664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GB" sz="3200" b="1" i="0" dirty="0">
                <a:solidFill>
                  <a:srgbClr val="C00000"/>
                </a:solidFill>
                <a:latin typeface="Arial"/>
                <a:cs typeface="Arial"/>
              </a:rPr>
              <a:t>7</a:t>
            </a:r>
          </a:p>
        </p:txBody>
      </p:sp>
      <p:sp>
        <p:nvSpPr>
          <p:cNvPr id="47" name="Takeaway label 3"/>
          <p:cNvSpPr txBox="1"/>
          <p:nvPr/>
        </p:nvSpPr>
        <p:spPr>
          <a:xfrm>
            <a:off x="7706087" y="4590288"/>
            <a:ext cx="3790664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GB" sz="1500" b="0" i="0" dirty="0">
                <a:solidFill>
                  <a:srgbClr val="595959"/>
                </a:solidFill>
                <a:latin typeface="Arial"/>
                <a:cs typeface="Arial"/>
              </a:rPr>
              <a:t>outliers, four of them in the Covid-19 period</a:t>
            </a:r>
          </a:p>
        </p:txBody>
      </p:sp>
      <p:sp>
        <p:nvSpPr>
          <p:cNvPr id="50" name="Table caption"/>
          <p:cNvSpPr txBox="1"/>
          <p:nvPr/>
        </p:nvSpPr>
        <p:spPr>
          <a:xfrm>
            <a:off x="466344" y="5532120"/>
            <a:ext cx="11256264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GB" sz="1300" b="0" i="1" dirty="0">
                <a:solidFill>
                  <a:srgbClr val="7B7C7E"/>
                </a:solidFill>
                <a:latin typeface="Arial"/>
                <a:cs typeface="Arial"/>
              </a:rPr>
              <a:t>Pre-treatment estimates on the log scale; t-statistics in parentheses in panel B.</a:t>
            </a:r>
          </a:p>
        </p:txBody>
      </p:sp>
    </p:spTree>
    <p:extLst>
      <p:ext uri="{BB962C8B-B14F-4D97-AF65-F5344CB8AC3E}">
        <p14:creationId xmlns:p14="http://schemas.microsoft.com/office/powerpoint/2010/main" val="17819166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1" name="Titolo 4"/>
          <p:cNvSpPr>
            <a:spLocks noGrp="1"/>
          </p:cNvSpPr>
          <p:nvPr>
            <p:ph type="title"/>
          </p:nvPr>
        </p:nvSpPr>
        <p:spPr>
          <a:xfrm>
            <a:off x="468313" y="482109"/>
            <a:ext cx="11269662" cy="405304"/>
          </a:xfrm>
        </p:spPr>
        <p:txBody>
          <a:bodyPr/>
          <a:lstStyle/>
          <a:p>
            <a:r>
              <a:rPr lang="en-GB" altLang="it-IT" sz="3600" dirty="0">
                <a:solidFill>
                  <a:srgbClr val="C00000"/>
                </a:solidFill>
              </a:rPr>
              <a:t>Final calendar: a flat day-of-month profile</a:t>
            </a:r>
          </a:p>
        </p:txBody>
      </p:sp>
      <p:sp>
        <p:nvSpPr>
          <p:cNvPr id="9" name="Segnaposto numero diapositiva 4">
            <a:extLst>
              <a:ext uri="{FF2B5EF4-FFF2-40B4-BE49-F238E27FC236}">
                <a16:creationId xmlns:a16="http://schemas.microsoft.com/office/drawing/2014/main" id="{43529721-AF16-448D-9B7A-D70C2ADC200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0" y="6392815"/>
            <a:ext cx="50165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48B4153A-D4C5-4CEF-8992-0D8815C829E3}" type="slidenum">
              <a:rPr lang="en-US" smtClean="0"/>
              <a:pPr>
                <a:defRPr/>
              </a:pPr>
              <a:t>14</a:t>
            </a:fld>
            <a:endParaRPr lang="en-US" dirty="0"/>
          </a:p>
        </p:txBody>
      </p:sp>
      <p:sp>
        <p:nvSpPr>
          <p:cNvPr id="8" name="Segnaposto piè di pagina 3">
            <a:extLst>
              <a:ext uri="{FF2B5EF4-FFF2-40B4-BE49-F238E27FC236}">
                <a16:creationId xmlns:a16="http://schemas.microsoft.com/office/drawing/2014/main" id="{3223DD80-9C7E-474F-A668-27B6983A568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35830" y="6382305"/>
            <a:ext cx="9644444" cy="259965"/>
          </a:xfrm>
        </p:spPr>
        <p:txBody>
          <a:bodyPr/>
          <a:lstStyle/>
          <a:p>
            <a:pPr>
              <a:defRPr/>
            </a:pPr>
            <a:r>
              <a:rPr lang="en-US" dirty="0"/>
              <a:t>Building calendars for daily seasonal adjustment</a:t>
            </a:r>
          </a:p>
        </p:txBody>
      </p:sp>
      <p:pic>
        <p:nvPicPr>
          <p:cNvPr id="40" name="DMR chart" descr="Median DMR by day of the month, basic calendar versus final calenda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7517" y="1216152"/>
            <a:ext cx="9176662" cy="4206240"/>
          </a:xfrm>
          <a:prstGeom prst="rect">
            <a:avLst/>
          </a:prstGeom>
        </p:spPr>
      </p:pic>
      <p:sp>
        <p:nvSpPr>
          <p:cNvPr id="41" name="Chart caption"/>
          <p:cNvSpPr txBox="1"/>
          <p:nvPr/>
        </p:nvSpPr>
        <p:spPr>
          <a:xfrm>
            <a:off x="466344" y="5504688"/>
            <a:ext cx="11256264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en-GB" sz="1400" b="1" i="0" dirty="0">
                <a:solidFill>
                  <a:srgbClr val="C00000"/>
                </a:solidFill>
                <a:latin typeface="Arial"/>
                <a:cs typeface="Arial"/>
              </a:rPr>
              <a:t>Result · Basic vs final calendar.  </a:t>
            </a:r>
            <a:r>
              <a:rPr lang="en-GB" sz="1400" b="0" i="1" dirty="0">
                <a:solidFill>
                  <a:srgbClr val="7B7C7E"/>
                </a:solidFill>
                <a:latin typeface="Arial"/>
                <a:cs typeface="Arial"/>
              </a:rPr>
              <a:t>Final calendar (32 regressors): every day within ±5% except days 2 and 9 (0.95 and 0.94)</a:t>
            </a:r>
          </a:p>
        </p:txBody>
      </p:sp>
    </p:spTree>
    <p:extLst>
      <p:ext uri="{BB962C8B-B14F-4D97-AF65-F5344CB8AC3E}">
        <p14:creationId xmlns:p14="http://schemas.microsoft.com/office/powerpoint/2010/main" val="17819166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1" name="Titolo 4"/>
          <p:cNvSpPr>
            <a:spLocks noGrp="1"/>
          </p:cNvSpPr>
          <p:nvPr>
            <p:ph type="title"/>
          </p:nvPr>
        </p:nvSpPr>
        <p:spPr>
          <a:xfrm>
            <a:off x="468313" y="482109"/>
            <a:ext cx="11269662" cy="405304"/>
          </a:xfrm>
        </p:spPr>
        <p:txBody>
          <a:bodyPr/>
          <a:lstStyle/>
          <a:p>
            <a:r>
              <a:rPr lang="en-GB" altLang="it-IT" sz="3600" dirty="0">
                <a:solidFill>
                  <a:srgbClr val="C00000"/>
                </a:solidFill>
              </a:rPr>
              <a:t>Day by day: the residual pattern disappears</a:t>
            </a:r>
          </a:p>
        </p:txBody>
      </p:sp>
      <p:sp>
        <p:nvSpPr>
          <p:cNvPr id="9" name="Segnaposto numero diapositiva 4">
            <a:extLst>
              <a:ext uri="{FF2B5EF4-FFF2-40B4-BE49-F238E27FC236}">
                <a16:creationId xmlns:a16="http://schemas.microsoft.com/office/drawing/2014/main" id="{43529721-AF16-448D-9B7A-D70C2ADC200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0" y="6392815"/>
            <a:ext cx="50165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48B4153A-D4C5-4CEF-8992-0D8815C829E3}" type="slidenum">
              <a:rPr lang="en-US" smtClean="0"/>
              <a:pPr>
                <a:defRPr/>
              </a:pPr>
              <a:t>15</a:t>
            </a:fld>
            <a:endParaRPr lang="en-US" dirty="0"/>
          </a:p>
        </p:txBody>
      </p:sp>
      <p:sp>
        <p:nvSpPr>
          <p:cNvPr id="8" name="Segnaposto piè di pagina 3">
            <a:extLst>
              <a:ext uri="{FF2B5EF4-FFF2-40B4-BE49-F238E27FC236}">
                <a16:creationId xmlns:a16="http://schemas.microsoft.com/office/drawing/2014/main" id="{3223DD80-9C7E-474F-A668-27B6983A568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35830" y="6382305"/>
            <a:ext cx="9644444" cy="259965"/>
          </a:xfrm>
        </p:spPr>
        <p:txBody>
          <a:bodyPr/>
          <a:lstStyle/>
          <a:p>
            <a:pPr>
              <a:defRPr/>
            </a:pPr>
            <a:r>
              <a:rPr lang="en-US" dirty="0"/>
              <a:t>Building calendars for daily seasonal adjustment</a:t>
            </a:r>
          </a:p>
        </p:txBody>
      </p:sp>
      <p:pic>
        <p:nvPicPr>
          <p:cNvPr id="40" name="DMR boxplots basic vs final" descr="Boxplots of the DMR by day of the month, basic calendar above and final calendar below, same sca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" y="1188720"/>
            <a:ext cx="5345070" cy="4343400"/>
          </a:xfrm>
          <a:prstGeom prst="rect">
            <a:avLst/>
          </a:prstGeom>
        </p:spPr>
      </p:pic>
      <p:sp>
        <p:nvSpPr>
          <p:cNvPr id="41" name="Before-after header"/>
          <p:cNvSpPr txBox="1"/>
          <p:nvPr/>
        </p:nvSpPr>
        <p:spPr>
          <a:xfrm>
            <a:off x="6222894" y="1325880"/>
            <a:ext cx="5502457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GB" sz="1800" b="1" i="0" dirty="0">
                <a:solidFill>
                  <a:srgbClr val="595959"/>
                </a:solidFill>
                <a:latin typeface="Arial"/>
                <a:cs typeface="Arial"/>
              </a:rPr>
              <a:t>Median DMR</a:t>
            </a:r>
            <a:r>
              <a:rPr lang="en-GB" sz="1600" b="0" i="0" dirty="0">
                <a:solidFill>
                  <a:srgbClr val="7B7C7E"/>
                </a:solidFill>
                <a:latin typeface="Arial"/>
                <a:cs typeface="Arial"/>
              </a:rPr>
              <a:t>   basic → final</a:t>
            </a:r>
          </a:p>
        </p:txBody>
      </p:sp>
      <p:sp>
        <p:nvSpPr>
          <p:cNvPr id="42" name="Row card 1"/>
          <p:cNvSpPr/>
          <p:nvPr/>
        </p:nvSpPr>
        <p:spPr>
          <a:xfrm>
            <a:off x="6222894" y="1920240"/>
            <a:ext cx="5502457" cy="82296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GB" dirty="0"/>
          </a:p>
        </p:txBody>
      </p:sp>
      <p:sp>
        <p:nvSpPr>
          <p:cNvPr id="43" name="Row day 1"/>
          <p:cNvSpPr txBox="1"/>
          <p:nvPr/>
        </p:nvSpPr>
        <p:spPr>
          <a:xfrm>
            <a:off x="6451494" y="2103120"/>
            <a:ext cx="146304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GB" sz="2000" b="1" i="0" dirty="0">
                <a:solidFill>
                  <a:srgbClr val="595959"/>
                </a:solidFill>
                <a:latin typeface="Arial"/>
                <a:cs typeface="Arial"/>
              </a:rPr>
              <a:t>Day 1</a:t>
            </a:r>
          </a:p>
        </p:txBody>
      </p:sp>
      <p:sp>
        <p:nvSpPr>
          <p:cNvPr id="44" name="Row values 1"/>
          <p:cNvSpPr txBox="1"/>
          <p:nvPr/>
        </p:nvSpPr>
        <p:spPr>
          <a:xfrm>
            <a:off x="7914534" y="2057400"/>
            <a:ext cx="3582217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GB" sz="2600" b="1" i="0" dirty="0">
                <a:solidFill>
                  <a:srgbClr val="C00000"/>
                </a:solidFill>
                <a:latin typeface="Arial"/>
                <a:cs typeface="Arial"/>
              </a:rPr>
              <a:t>1.13</a:t>
            </a:r>
            <a:r>
              <a:rPr lang="en-GB" sz="2200" b="0" i="0" dirty="0">
                <a:solidFill>
                  <a:srgbClr val="7B7C7E"/>
                </a:solidFill>
                <a:latin typeface="Arial"/>
                <a:cs typeface="Arial"/>
              </a:rPr>
              <a:t>  →  </a:t>
            </a:r>
            <a:r>
              <a:rPr lang="en-GB" sz="2600" b="1" i="0" dirty="0">
                <a:solidFill>
                  <a:srgbClr val="0072B2"/>
                </a:solidFill>
                <a:latin typeface="Arial"/>
                <a:cs typeface="Arial"/>
              </a:rPr>
              <a:t>0.99</a:t>
            </a:r>
          </a:p>
        </p:txBody>
      </p:sp>
      <p:sp>
        <p:nvSpPr>
          <p:cNvPr id="45" name="Row card 2"/>
          <p:cNvSpPr/>
          <p:nvPr/>
        </p:nvSpPr>
        <p:spPr>
          <a:xfrm>
            <a:off x="6222894" y="2880360"/>
            <a:ext cx="5502457" cy="82296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GB" dirty="0"/>
          </a:p>
        </p:txBody>
      </p:sp>
      <p:sp>
        <p:nvSpPr>
          <p:cNvPr id="46" name="Row day 2"/>
          <p:cNvSpPr txBox="1"/>
          <p:nvPr/>
        </p:nvSpPr>
        <p:spPr>
          <a:xfrm>
            <a:off x="6451494" y="3063240"/>
            <a:ext cx="146304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GB" sz="2000" b="1" i="0" dirty="0">
                <a:solidFill>
                  <a:srgbClr val="595959"/>
                </a:solidFill>
                <a:latin typeface="Arial"/>
                <a:cs typeface="Arial"/>
              </a:rPr>
              <a:t>Day 15</a:t>
            </a:r>
          </a:p>
        </p:txBody>
      </p:sp>
      <p:sp>
        <p:nvSpPr>
          <p:cNvPr id="47" name="Row values 2"/>
          <p:cNvSpPr txBox="1"/>
          <p:nvPr/>
        </p:nvSpPr>
        <p:spPr>
          <a:xfrm>
            <a:off x="7914534" y="3017520"/>
            <a:ext cx="3582217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GB" sz="2600" b="1" i="0" dirty="0">
                <a:solidFill>
                  <a:srgbClr val="C00000"/>
                </a:solidFill>
                <a:latin typeface="Arial"/>
                <a:cs typeface="Arial"/>
              </a:rPr>
              <a:t>1.27</a:t>
            </a:r>
            <a:r>
              <a:rPr lang="en-GB" sz="2200" b="0" i="0" dirty="0">
                <a:solidFill>
                  <a:srgbClr val="7B7C7E"/>
                </a:solidFill>
                <a:latin typeface="Arial"/>
                <a:cs typeface="Arial"/>
              </a:rPr>
              <a:t>  →  </a:t>
            </a:r>
            <a:r>
              <a:rPr lang="en-GB" sz="2600" b="1" i="0" dirty="0">
                <a:solidFill>
                  <a:srgbClr val="0072B2"/>
                </a:solidFill>
                <a:latin typeface="Arial"/>
                <a:cs typeface="Arial"/>
              </a:rPr>
              <a:t>1.01</a:t>
            </a:r>
          </a:p>
        </p:txBody>
      </p:sp>
      <p:sp>
        <p:nvSpPr>
          <p:cNvPr id="48" name="Row card 3"/>
          <p:cNvSpPr/>
          <p:nvPr/>
        </p:nvSpPr>
        <p:spPr>
          <a:xfrm>
            <a:off x="6222894" y="3840480"/>
            <a:ext cx="5502457" cy="82296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GB" dirty="0"/>
          </a:p>
        </p:txBody>
      </p:sp>
      <p:sp>
        <p:nvSpPr>
          <p:cNvPr id="49" name="Row day 3"/>
          <p:cNvSpPr txBox="1"/>
          <p:nvPr/>
        </p:nvSpPr>
        <p:spPr>
          <a:xfrm>
            <a:off x="6451494" y="4023360"/>
            <a:ext cx="146304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GB" sz="2000" b="1" i="0" dirty="0">
                <a:solidFill>
                  <a:srgbClr val="595959"/>
                </a:solidFill>
                <a:latin typeface="Arial"/>
                <a:cs typeface="Arial"/>
              </a:rPr>
              <a:t>Day 31</a:t>
            </a:r>
          </a:p>
        </p:txBody>
      </p:sp>
      <p:sp>
        <p:nvSpPr>
          <p:cNvPr id="50" name="Row values 3"/>
          <p:cNvSpPr txBox="1"/>
          <p:nvPr/>
        </p:nvSpPr>
        <p:spPr>
          <a:xfrm>
            <a:off x="7914534" y="3977640"/>
            <a:ext cx="3582217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GB" sz="2600" b="1" i="0" dirty="0">
                <a:solidFill>
                  <a:srgbClr val="C00000"/>
                </a:solidFill>
                <a:latin typeface="Arial"/>
                <a:cs typeface="Arial"/>
              </a:rPr>
              <a:t>0.76</a:t>
            </a:r>
            <a:r>
              <a:rPr lang="en-GB" sz="2200" b="0" i="0" dirty="0">
                <a:solidFill>
                  <a:srgbClr val="7B7C7E"/>
                </a:solidFill>
                <a:latin typeface="Arial"/>
                <a:cs typeface="Arial"/>
              </a:rPr>
              <a:t>  →  </a:t>
            </a:r>
            <a:r>
              <a:rPr lang="en-GB" sz="2600" b="1" i="0" dirty="0">
                <a:solidFill>
                  <a:srgbClr val="0072B2"/>
                </a:solidFill>
                <a:latin typeface="Arial"/>
                <a:cs typeface="Arial"/>
              </a:rPr>
              <a:t>1.00</a:t>
            </a:r>
          </a:p>
        </p:txBody>
      </p:sp>
      <p:sp>
        <p:nvSpPr>
          <p:cNvPr id="52" name="Spread note"/>
          <p:cNvSpPr txBox="1"/>
          <p:nvPr/>
        </p:nvSpPr>
        <p:spPr>
          <a:xfrm>
            <a:off x="6222894" y="4846320"/>
            <a:ext cx="5502457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GB" sz="1500" b="0" i="0" dirty="0">
                <a:solidFill>
                  <a:srgbClr val="595959"/>
                </a:solidFill>
                <a:latin typeface="Arial"/>
                <a:cs typeface="Arial"/>
              </a:rPr>
              <a:t>The boxes also shrink: at the end of the month the spread falls the most.</a:t>
            </a:r>
          </a:p>
        </p:txBody>
      </p:sp>
      <p:sp>
        <p:nvSpPr>
          <p:cNvPr id="53" name="Boxplot caption"/>
          <p:cNvSpPr txBox="1"/>
          <p:nvPr/>
        </p:nvSpPr>
        <p:spPr>
          <a:xfrm>
            <a:off x="466344" y="5577840"/>
            <a:ext cx="11256264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GB" sz="1300" b="1" i="0" dirty="0">
                <a:solidFill>
                  <a:srgbClr val="C00000"/>
                </a:solidFill>
                <a:latin typeface="Arial"/>
                <a:cs typeface="Arial"/>
              </a:rPr>
              <a:t>Result · Basic vs final calendar.  </a:t>
            </a:r>
            <a:r>
              <a:rPr lang="en-GB" sz="1300" b="0" i="1" dirty="0">
                <a:solidFill>
                  <a:srgbClr val="7B7C7E"/>
                </a:solidFill>
                <a:latin typeface="Arial"/>
                <a:cs typeface="Arial"/>
              </a:rPr>
              <a:t>Same scale in both panels.</a:t>
            </a:r>
          </a:p>
        </p:txBody>
      </p:sp>
    </p:spTree>
    <p:extLst>
      <p:ext uri="{BB962C8B-B14F-4D97-AF65-F5344CB8AC3E}">
        <p14:creationId xmlns:p14="http://schemas.microsoft.com/office/powerpoint/2010/main" val="17819166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1" name="Titolo 4"/>
          <p:cNvSpPr>
            <a:spLocks noGrp="1"/>
          </p:cNvSpPr>
          <p:nvPr>
            <p:ph type="title"/>
          </p:nvPr>
        </p:nvSpPr>
        <p:spPr>
          <a:xfrm>
            <a:off x="468313" y="482109"/>
            <a:ext cx="11269662" cy="405304"/>
          </a:xfrm>
        </p:spPr>
        <p:txBody>
          <a:bodyPr/>
          <a:lstStyle/>
          <a:p>
            <a:r>
              <a:rPr lang="en-GB" altLang="it-IT" sz="3600" dirty="0">
                <a:solidFill>
                  <a:srgbClr val="C00000"/>
                </a:solidFill>
              </a:rPr>
              <a:t>Revisions: fewer on every group of days</a:t>
            </a:r>
          </a:p>
        </p:txBody>
      </p:sp>
      <p:sp>
        <p:nvSpPr>
          <p:cNvPr id="9" name="Segnaposto numero diapositiva 4">
            <a:extLst>
              <a:ext uri="{FF2B5EF4-FFF2-40B4-BE49-F238E27FC236}">
                <a16:creationId xmlns:a16="http://schemas.microsoft.com/office/drawing/2014/main" id="{43529721-AF16-448D-9B7A-D70C2ADC200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0" y="6392815"/>
            <a:ext cx="50165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48B4153A-D4C5-4CEF-8992-0D8815C829E3}" type="slidenum">
              <a:rPr lang="en-US" smtClean="0"/>
              <a:pPr>
                <a:defRPr/>
              </a:pPr>
              <a:t>16</a:t>
            </a:fld>
            <a:endParaRPr lang="en-US" dirty="0"/>
          </a:p>
        </p:txBody>
      </p:sp>
      <p:sp>
        <p:nvSpPr>
          <p:cNvPr id="8" name="Segnaposto piè di pagina 3">
            <a:extLst>
              <a:ext uri="{FF2B5EF4-FFF2-40B4-BE49-F238E27FC236}">
                <a16:creationId xmlns:a16="http://schemas.microsoft.com/office/drawing/2014/main" id="{3223DD80-9C7E-474F-A668-27B6983A568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35830" y="6382305"/>
            <a:ext cx="9644444" cy="259965"/>
          </a:xfrm>
        </p:spPr>
        <p:txBody>
          <a:bodyPr/>
          <a:lstStyle/>
          <a:p>
            <a:pPr>
              <a:defRPr/>
            </a:pPr>
            <a:r>
              <a:rPr lang="en-US" dirty="0"/>
              <a:t>Building calendars for daily seasonal adjustment</a:t>
            </a:r>
          </a:p>
        </p:txBody>
      </p:sp>
      <p:pic>
        <p:nvPicPr>
          <p:cNvPr id="40" name="E-invoicing revisions by group of days" descr="Mean absolute revision over the last year of each vintage for holidays, month days and other days, basic versus final e-invoicing calenda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153" y="1298448"/>
            <a:ext cx="6731293" cy="4114800"/>
          </a:xfrm>
          <a:prstGeom prst="rect">
            <a:avLst/>
          </a:prstGeom>
        </p:spPr>
      </p:pic>
      <p:sp>
        <p:nvSpPr>
          <p:cNvPr id="41" name="Cards header"/>
          <p:cNvSpPr txBox="1"/>
          <p:nvPr/>
        </p:nvSpPr>
        <p:spPr>
          <a:xfrm>
            <a:off x="8092440" y="1234440"/>
            <a:ext cx="3632911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GB" sz="1800" b="1" i="0" dirty="0">
                <a:solidFill>
                  <a:srgbClr val="595959"/>
                </a:solidFill>
                <a:latin typeface="Arial"/>
                <a:cs typeface="Arial"/>
              </a:rPr>
              <a:t>Last year</a:t>
            </a:r>
            <a:r>
              <a:rPr lang="en-GB" sz="1400" b="0" i="0" dirty="0">
                <a:solidFill>
                  <a:srgbClr val="7B7C7E"/>
                </a:solidFill>
                <a:latin typeface="Arial"/>
                <a:cs typeface="Arial"/>
              </a:rPr>
              <a:t>   basic → final</a:t>
            </a:r>
          </a:p>
        </p:txBody>
      </p:sp>
      <p:sp>
        <p:nvSpPr>
          <p:cNvPr id="42" name="Rev card 1"/>
          <p:cNvSpPr/>
          <p:nvPr/>
        </p:nvSpPr>
        <p:spPr>
          <a:xfrm>
            <a:off x="8092440" y="1691640"/>
            <a:ext cx="3632911" cy="896112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GB" dirty="0"/>
          </a:p>
        </p:txBody>
      </p:sp>
      <p:sp>
        <p:nvSpPr>
          <p:cNvPr id="43" name="Rev card label 1"/>
          <p:cNvSpPr txBox="1"/>
          <p:nvPr/>
        </p:nvSpPr>
        <p:spPr>
          <a:xfrm>
            <a:off x="8275320" y="1737360"/>
            <a:ext cx="3267151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GB" sz="1400" b="1" i="0" dirty="0">
                <a:solidFill>
                  <a:srgbClr val="595959"/>
                </a:solidFill>
                <a:latin typeface="Arial"/>
                <a:cs typeface="Arial"/>
              </a:rPr>
              <a:t>Holidays</a:t>
            </a:r>
          </a:p>
        </p:txBody>
      </p:sp>
      <p:sp>
        <p:nvSpPr>
          <p:cNvPr id="44" name="Rev card values 1"/>
          <p:cNvSpPr txBox="1"/>
          <p:nvPr/>
        </p:nvSpPr>
        <p:spPr>
          <a:xfrm>
            <a:off x="8275320" y="2057400"/>
            <a:ext cx="3267151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GB" sz="2000" b="1" i="0" dirty="0">
                <a:solidFill>
                  <a:srgbClr val="C00000"/>
                </a:solidFill>
                <a:latin typeface="Arial"/>
                <a:cs typeface="Arial"/>
              </a:rPr>
              <a:t>14.2%</a:t>
            </a:r>
            <a:r>
              <a:rPr lang="en-GB" sz="1600" b="0" i="0" dirty="0">
                <a:solidFill>
                  <a:srgbClr val="7B7C7E"/>
                </a:solidFill>
                <a:latin typeface="Arial"/>
                <a:cs typeface="Arial"/>
              </a:rPr>
              <a:t> → </a:t>
            </a:r>
            <a:r>
              <a:rPr lang="en-GB" sz="2000" b="1" i="0" dirty="0">
                <a:solidFill>
                  <a:srgbClr val="0072B2"/>
                </a:solidFill>
                <a:latin typeface="Arial"/>
                <a:cs typeface="Arial"/>
              </a:rPr>
              <a:t>1.7%</a:t>
            </a:r>
            <a:r>
              <a:rPr lang="en-GB" sz="1500" b="1" i="0" dirty="0">
                <a:solidFill>
                  <a:srgbClr val="7B7C7E"/>
                </a:solidFill>
                <a:latin typeface="Arial"/>
                <a:cs typeface="Arial"/>
              </a:rPr>
              <a:t>   −88%</a:t>
            </a:r>
          </a:p>
        </p:txBody>
      </p:sp>
      <p:sp>
        <p:nvSpPr>
          <p:cNvPr id="45" name="Rev card 2"/>
          <p:cNvSpPr/>
          <p:nvPr/>
        </p:nvSpPr>
        <p:spPr>
          <a:xfrm>
            <a:off x="8092440" y="2679192"/>
            <a:ext cx="3632911" cy="896112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GB" dirty="0"/>
          </a:p>
        </p:txBody>
      </p:sp>
      <p:sp>
        <p:nvSpPr>
          <p:cNvPr id="46" name="Rev card label 2"/>
          <p:cNvSpPr txBox="1"/>
          <p:nvPr/>
        </p:nvSpPr>
        <p:spPr>
          <a:xfrm>
            <a:off x="8275320" y="2724912"/>
            <a:ext cx="3267151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GB" sz="1400" b="1" i="0" dirty="0">
                <a:solidFill>
                  <a:srgbClr val="595959"/>
                </a:solidFill>
                <a:latin typeface="Arial"/>
                <a:cs typeface="Arial"/>
              </a:rPr>
              <a:t>Month days</a:t>
            </a:r>
          </a:p>
        </p:txBody>
      </p:sp>
      <p:sp>
        <p:nvSpPr>
          <p:cNvPr id="47" name="Rev card values 2"/>
          <p:cNvSpPr txBox="1"/>
          <p:nvPr/>
        </p:nvSpPr>
        <p:spPr>
          <a:xfrm>
            <a:off x="8275320" y="3044952"/>
            <a:ext cx="3267151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GB" sz="2000" b="1" i="0" dirty="0">
                <a:solidFill>
                  <a:srgbClr val="C00000"/>
                </a:solidFill>
                <a:latin typeface="Arial"/>
                <a:cs typeface="Arial"/>
              </a:rPr>
              <a:t>3.0%</a:t>
            </a:r>
            <a:r>
              <a:rPr lang="en-GB" sz="1600" b="0" i="0" dirty="0">
                <a:solidFill>
                  <a:srgbClr val="7B7C7E"/>
                </a:solidFill>
                <a:latin typeface="Arial"/>
                <a:cs typeface="Arial"/>
              </a:rPr>
              <a:t> → </a:t>
            </a:r>
            <a:r>
              <a:rPr lang="en-GB" sz="2000" b="1" i="0" dirty="0">
                <a:solidFill>
                  <a:srgbClr val="0072B2"/>
                </a:solidFill>
                <a:latin typeface="Arial"/>
                <a:cs typeface="Arial"/>
              </a:rPr>
              <a:t>1.1%</a:t>
            </a:r>
            <a:r>
              <a:rPr lang="en-GB" sz="1500" b="1" i="0" dirty="0">
                <a:solidFill>
                  <a:srgbClr val="7B7C7E"/>
                </a:solidFill>
                <a:latin typeface="Arial"/>
                <a:cs typeface="Arial"/>
              </a:rPr>
              <a:t>   −62%</a:t>
            </a:r>
          </a:p>
        </p:txBody>
      </p:sp>
      <p:sp>
        <p:nvSpPr>
          <p:cNvPr id="48" name="Rev card 3"/>
          <p:cNvSpPr/>
          <p:nvPr/>
        </p:nvSpPr>
        <p:spPr>
          <a:xfrm>
            <a:off x="8092440" y="3666744"/>
            <a:ext cx="3632911" cy="896112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GB" dirty="0"/>
          </a:p>
        </p:txBody>
      </p:sp>
      <p:sp>
        <p:nvSpPr>
          <p:cNvPr id="49" name="Rev card label 3"/>
          <p:cNvSpPr txBox="1"/>
          <p:nvPr/>
        </p:nvSpPr>
        <p:spPr>
          <a:xfrm>
            <a:off x="8275320" y="3712464"/>
            <a:ext cx="3267151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GB" sz="1400" b="1" i="0" dirty="0">
                <a:solidFill>
                  <a:srgbClr val="595959"/>
                </a:solidFill>
                <a:latin typeface="Arial"/>
                <a:cs typeface="Arial"/>
              </a:rPr>
              <a:t>Other days</a:t>
            </a:r>
          </a:p>
        </p:txBody>
      </p:sp>
      <p:sp>
        <p:nvSpPr>
          <p:cNvPr id="50" name="Rev card values 3"/>
          <p:cNvSpPr txBox="1"/>
          <p:nvPr/>
        </p:nvSpPr>
        <p:spPr>
          <a:xfrm>
            <a:off x="8275320" y="4032504"/>
            <a:ext cx="3267151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GB" sz="2000" b="1" i="0" dirty="0">
                <a:solidFill>
                  <a:srgbClr val="C00000"/>
                </a:solidFill>
                <a:latin typeface="Arial"/>
                <a:cs typeface="Arial"/>
              </a:rPr>
              <a:t>2.1%</a:t>
            </a:r>
            <a:r>
              <a:rPr lang="en-GB" sz="1600" b="0" i="0" dirty="0">
                <a:solidFill>
                  <a:srgbClr val="7B7C7E"/>
                </a:solidFill>
                <a:latin typeface="Arial"/>
                <a:cs typeface="Arial"/>
              </a:rPr>
              <a:t> → </a:t>
            </a:r>
            <a:r>
              <a:rPr lang="en-GB" sz="2000" b="1" i="0" dirty="0">
                <a:solidFill>
                  <a:srgbClr val="0072B2"/>
                </a:solidFill>
                <a:latin typeface="Arial"/>
                <a:cs typeface="Arial"/>
              </a:rPr>
              <a:t>1.2%</a:t>
            </a:r>
            <a:r>
              <a:rPr lang="en-GB" sz="1500" b="1" i="0" dirty="0">
                <a:solidFill>
                  <a:srgbClr val="7B7C7E"/>
                </a:solidFill>
                <a:latin typeface="Arial"/>
                <a:cs typeface="Arial"/>
              </a:rPr>
              <a:t>   −42%</a:t>
            </a:r>
          </a:p>
        </p:txBody>
      </p:sp>
      <p:sp>
        <p:nvSpPr>
          <p:cNvPr id="52" name="Rev note"/>
          <p:cNvSpPr txBox="1"/>
          <p:nvPr/>
        </p:nvSpPr>
        <p:spPr>
          <a:xfrm>
            <a:off x="8092440" y="4663440"/>
            <a:ext cx="3632911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GB" sz="1300" b="1" i="0" dirty="0">
                <a:solidFill>
                  <a:srgbClr val="595959"/>
                </a:solidFill>
                <a:latin typeface="Arial"/>
                <a:cs typeface="Arial"/>
              </a:rPr>
              <a:t>Historical sample: 3.0% → 0.9% (−71%). </a:t>
            </a:r>
            <a:r>
              <a:rPr lang="en-GB" sz="1300" b="0" i="0" dirty="0">
                <a:solidFill>
                  <a:srgbClr val="595959"/>
                </a:solidFill>
                <a:latin typeface="Arial"/>
                <a:cs typeface="Arial"/>
              </a:rPr>
              <a:t>Basic calendar: weekend-holiday outliers come and go, one day revised by over 400%; no lockdown level shift detected.</a:t>
            </a:r>
          </a:p>
        </p:txBody>
      </p:sp>
      <p:sp>
        <p:nvSpPr>
          <p:cNvPr id="53" name="Caption"/>
          <p:cNvSpPr txBox="1"/>
          <p:nvPr/>
        </p:nvSpPr>
        <p:spPr>
          <a:xfrm>
            <a:off x="466344" y="5532120"/>
            <a:ext cx="11256264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GB" sz="1300" b="1" i="0" dirty="0">
                <a:solidFill>
                  <a:srgbClr val="C00000"/>
                </a:solidFill>
                <a:latin typeface="Arial"/>
                <a:cs typeface="Arial"/>
              </a:rPr>
              <a:t>Result · Revisions, e-invoicing.  </a:t>
            </a:r>
            <a:r>
              <a:rPr lang="en-GB" sz="1300" b="0" i="1" dirty="0">
                <a:solidFill>
                  <a:srgbClr val="7B7C7E"/>
                </a:solidFill>
                <a:latin typeface="Arial"/>
                <a:cs typeface="Arial"/>
              </a:rPr>
              <a:t>Fixed coefficients. Full sample vs six vintages ending 7 to 730 days earlier; mean absolute revision (%) over the last year of each vintage.</a:t>
            </a:r>
          </a:p>
        </p:txBody>
      </p:sp>
    </p:spTree>
    <p:extLst>
      <p:ext uri="{BB962C8B-B14F-4D97-AF65-F5344CB8AC3E}">
        <p14:creationId xmlns:p14="http://schemas.microsoft.com/office/powerpoint/2010/main" val="17819166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1" name="Titolo 4"/>
          <p:cNvSpPr>
            <a:spLocks noGrp="1"/>
          </p:cNvSpPr>
          <p:nvPr>
            <p:ph type="title"/>
          </p:nvPr>
        </p:nvSpPr>
        <p:spPr>
          <a:xfrm>
            <a:off x="468313" y="482109"/>
            <a:ext cx="11269662" cy="405304"/>
          </a:xfrm>
        </p:spPr>
        <p:txBody>
          <a:bodyPr/>
          <a:lstStyle/>
          <a:p>
            <a:r>
              <a:rPr lang="en-GB" altLang="it-IT" sz="3600" dirty="0">
                <a:solidFill>
                  <a:srgbClr val="C00000"/>
                </a:solidFill>
              </a:rPr>
              <a:t>Electricity demand: a production calendar</a:t>
            </a:r>
          </a:p>
        </p:txBody>
      </p:sp>
      <p:sp>
        <p:nvSpPr>
          <p:cNvPr id="9" name="Segnaposto numero diapositiva 4">
            <a:extLst>
              <a:ext uri="{FF2B5EF4-FFF2-40B4-BE49-F238E27FC236}">
                <a16:creationId xmlns:a16="http://schemas.microsoft.com/office/drawing/2014/main" id="{43529721-AF16-448D-9B7A-D70C2ADC200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0" y="6392815"/>
            <a:ext cx="50165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48B4153A-D4C5-4CEF-8992-0D8815C829E3}" type="slidenum">
              <a:rPr lang="en-US" smtClean="0"/>
              <a:pPr>
                <a:defRPr/>
              </a:pPr>
              <a:t>17</a:t>
            </a:fld>
            <a:endParaRPr lang="en-US" dirty="0"/>
          </a:p>
        </p:txBody>
      </p:sp>
      <p:sp>
        <p:nvSpPr>
          <p:cNvPr id="8" name="Segnaposto piè di pagina 3">
            <a:extLst>
              <a:ext uri="{FF2B5EF4-FFF2-40B4-BE49-F238E27FC236}">
                <a16:creationId xmlns:a16="http://schemas.microsoft.com/office/drawing/2014/main" id="{3223DD80-9C7E-474F-A668-27B6983A568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35830" y="6382305"/>
            <a:ext cx="9644444" cy="259965"/>
          </a:xfrm>
        </p:spPr>
        <p:txBody>
          <a:bodyPr/>
          <a:lstStyle/>
          <a:p>
            <a:pPr>
              <a:defRPr/>
            </a:pPr>
            <a:r>
              <a:rPr lang="en-US" dirty="0"/>
              <a:t>Building calendars for daily seasonal adjustment</a:t>
            </a:r>
          </a:p>
        </p:txBody>
      </p:sp>
      <p:sp>
        <p:nvSpPr>
          <p:cNvPr id="20" name="Procedure line"/>
          <p:cNvSpPr txBox="1"/>
          <p:nvPr/>
        </p:nvSpPr>
        <p:spPr>
          <a:xfrm>
            <a:off x="466344" y="1261872"/>
            <a:ext cx="11256264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GB" sz="1700" b="1" i="0" dirty="0">
                <a:solidFill>
                  <a:srgbClr val="595959"/>
                </a:solidFill>
                <a:latin typeface="Arial"/>
                <a:cs typeface="Arial"/>
              </a:rPr>
              <a:t>Same procedure as for e-invoicing: </a:t>
            </a:r>
            <a:r>
              <a:rPr lang="en-GB" sz="1700" b="0" i="0" dirty="0">
                <a:solidFill>
                  <a:srgbClr val="636462"/>
                </a:solidFill>
                <a:latin typeface="Arial"/>
                <a:cs typeface="Arial"/>
              </a:rPr>
              <a:t>DMR charts grouped by mechanism, split by day type, a regressor only when a chart supports it.</a:t>
            </a:r>
          </a:p>
        </p:txBody>
      </p:sp>
      <p:sp>
        <p:nvSpPr>
          <p:cNvPr id="21" name="E-invoicing column"/>
          <p:cNvSpPr/>
          <p:nvPr/>
        </p:nvSpPr>
        <p:spPr>
          <a:xfrm>
            <a:off x="2578608" y="1874520"/>
            <a:ext cx="4480560" cy="3785616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GB" dirty="0"/>
          </a:p>
        </p:txBody>
      </p:sp>
      <p:sp>
        <p:nvSpPr>
          <p:cNvPr id="22" name="Electricity column"/>
          <p:cNvSpPr/>
          <p:nvPr/>
        </p:nvSpPr>
        <p:spPr>
          <a:xfrm>
            <a:off x="7242048" y="1874520"/>
            <a:ext cx="4480560" cy="3785616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GB" dirty="0"/>
          </a:p>
        </p:txBody>
      </p:sp>
      <p:sp>
        <p:nvSpPr>
          <p:cNvPr id="23" name="E-invoicing header"/>
          <p:cNvSpPr txBox="1"/>
          <p:nvPr/>
        </p:nvSpPr>
        <p:spPr>
          <a:xfrm>
            <a:off x="2761488" y="1984248"/>
            <a:ext cx="41148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GB" sz="1800" b="1" i="0" dirty="0">
                <a:solidFill>
                  <a:srgbClr val="7B7C7E"/>
                </a:solidFill>
                <a:latin typeface="Arial"/>
                <a:cs typeface="Arial"/>
              </a:rPr>
              <a:t>E-invoicing: </a:t>
            </a:r>
            <a:r>
              <a:rPr lang="en-GB" sz="1800" b="0" i="0" dirty="0">
                <a:solidFill>
                  <a:srgbClr val="7B7C7E"/>
                </a:solidFill>
                <a:latin typeface="Arial"/>
                <a:cs typeface="Arial"/>
              </a:rPr>
              <a:t>administrative</a:t>
            </a:r>
          </a:p>
        </p:txBody>
      </p:sp>
      <p:sp>
        <p:nvSpPr>
          <p:cNvPr id="24" name="Electricity header"/>
          <p:cNvSpPr txBox="1"/>
          <p:nvPr/>
        </p:nvSpPr>
        <p:spPr>
          <a:xfrm>
            <a:off x="7424928" y="1984248"/>
            <a:ext cx="41148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GB" sz="1800" b="1" i="0" dirty="0">
                <a:solidFill>
                  <a:srgbClr val="C00000"/>
                </a:solidFill>
                <a:latin typeface="Arial"/>
                <a:cs typeface="Arial"/>
              </a:rPr>
              <a:t>Electricity: </a:t>
            </a:r>
            <a:r>
              <a:rPr lang="en-GB" sz="1800" b="0" i="0" dirty="0">
                <a:solidFill>
                  <a:srgbClr val="C00000"/>
                </a:solidFill>
                <a:latin typeface="Arial"/>
                <a:cs typeface="Arial"/>
              </a:rPr>
              <a:t>production</a:t>
            </a:r>
          </a:p>
        </p:txBody>
      </p:sp>
      <p:sp>
        <p:nvSpPr>
          <p:cNvPr id="30" name="Row label Driver"/>
          <p:cNvSpPr txBox="1"/>
          <p:nvPr/>
        </p:nvSpPr>
        <p:spPr>
          <a:xfrm>
            <a:off x="466344" y="2478024"/>
            <a:ext cx="196596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GB" sz="1500" b="1" i="0" dirty="0">
                <a:solidFill>
                  <a:srgbClr val="595959"/>
                </a:solidFill>
                <a:latin typeface="Arial"/>
                <a:cs typeface="Arial"/>
              </a:rPr>
              <a:t>Driver</a:t>
            </a:r>
          </a:p>
        </p:txBody>
      </p:sp>
      <p:sp>
        <p:nvSpPr>
          <p:cNvPr id="31" name="E-invoicing Driver"/>
          <p:cNvSpPr txBox="1"/>
          <p:nvPr/>
        </p:nvSpPr>
        <p:spPr>
          <a:xfrm>
            <a:off x="2761488" y="2478024"/>
            <a:ext cx="41148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GB" sz="1500" b="0" i="0" dirty="0">
                <a:solidFill>
                  <a:srgbClr val="636462"/>
                </a:solidFill>
                <a:latin typeface="Arial"/>
                <a:cs typeface="Arial"/>
              </a:rPr>
              <a:t>Billing rules and fiscal deadlines</a:t>
            </a:r>
          </a:p>
        </p:txBody>
      </p:sp>
      <p:sp>
        <p:nvSpPr>
          <p:cNvPr id="32" name="Electricity Driver"/>
          <p:cNvSpPr txBox="1"/>
          <p:nvPr/>
        </p:nvSpPr>
        <p:spPr>
          <a:xfrm>
            <a:off x="7424928" y="2478024"/>
            <a:ext cx="41148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GB" sz="1500" b="0" i="0" dirty="0">
                <a:solidFill>
                  <a:srgbClr val="595959"/>
                </a:solidFill>
                <a:latin typeface="Arial"/>
                <a:cs typeface="Arial"/>
              </a:rPr>
              <a:t>Plant activity and closures</a:t>
            </a:r>
          </a:p>
        </p:txBody>
      </p:sp>
      <p:sp>
        <p:nvSpPr>
          <p:cNvPr id="33" name="Row label Model"/>
          <p:cNvSpPr txBox="1"/>
          <p:nvPr/>
        </p:nvSpPr>
        <p:spPr>
          <a:xfrm>
            <a:off x="466344" y="2935224"/>
            <a:ext cx="196596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GB" sz="1500" b="1" i="0" dirty="0">
                <a:solidFill>
                  <a:srgbClr val="595959"/>
                </a:solidFill>
                <a:latin typeface="Arial"/>
                <a:cs typeface="Arial"/>
              </a:rPr>
              <a:t>Model</a:t>
            </a:r>
          </a:p>
        </p:txBody>
      </p:sp>
      <p:sp>
        <p:nvSpPr>
          <p:cNvPr id="34" name="E-invoicing Model"/>
          <p:cNvSpPr txBox="1"/>
          <p:nvPr/>
        </p:nvSpPr>
        <p:spPr>
          <a:xfrm>
            <a:off x="2761488" y="2935224"/>
            <a:ext cx="41148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GB" sz="1500" b="0" i="0" dirty="0">
                <a:solidFill>
                  <a:srgbClr val="636462"/>
                </a:solidFill>
                <a:latin typeface="Arial"/>
                <a:cs typeface="Arial"/>
              </a:rPr>
              <a:t>Multiplicative (log)</a:t>
            </a:r>
          </a:p>
        </p:txBody>
      </p:sp>
      <p:sp>
        <p:nvSpPr>
          <p:cNvPr id="35" name="Electricity Model"/>
          <p:cNvSpPr txBox="1"/>
          <p:nvPr/>
        </p:nvSpPr>
        <p:spPr>
          <a:xfrm>
            <a:off x="7424928" y="2935224"/>
            <a:ext cx="41148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GB" sz="1500" b="0" i="0" dirty="0">
                <a:solidFill>
                  <a:srgbClr val="595959"/>
                </a:solidFill>
                <a:latin typeface="Arial"/>
                <a:cs typeface="Arial"/>
              </a:rPr>
              <a:t>Additive (MWh)</a:t>
            </a:r>
          </a:p>
        </p:txBody>
      </p:sp>
      <p:sp>
        <p:nvSpPr>
          <p:cNvPr id="36" name="Row label Within the month"/>
          <p:cNvSpPr txBox="1"/>
          <p:nvPr/>
        </p:nvSpPr>
        <p:spPr>
          <a:xfrm>
            <a:off x="466344" y="3392424"/>
            <a:ext cx="196596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GB" sz="1500" b="1" i="0" dirty="0">
                <a:solidFill>
                  <a:srgbClr val="595959"/>
                </a:solidFill>
                <a:latin typeface="Arial"/>
                <a:cs typeface="Arial"/>
              </a:rPr>
              <a:t>Within the month</a:t>
            </a:r>
          </a:p>
        </p:txBody>
      </p:sp>
      <p:sp>
        <p:nvSpPr>
          <p:cNvPr id="37" name="E-invoicing Within the month"/>
          <p:cNvSpPr txBox="1"/>
          <p:nvPr/>
        </p:nvSpPr>
        <p:spPr>
          <a:xfrm>
            <a:off x="2761488" y="3392424"/>
            <a:ext cx="41148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GB" sz="1500" b="0" i="0" dirty="0">
                <a:solidFill>
                  <a:srgbClr val="636462"/>
                </a:solidFill>
                <a:latin typeface="Arial"/>
                <a:cs typeface="Arial"/>
              </a:rPr>
              <a:t>Strong: month end, days 1, 15 and 20</a:t>
            </a:r>
          </a:p>
        </p:txBody>
      </p:sp>
      <p:sp>
        <p:nvSpPr>
          <p:cNvPr id="38" name="Electricity Within the month"/>
          <p:cNvSpPr txBox="1"/>
          <p:nvPr/>
        </p:nvSpPr>
        <p:spPr>
          <a:xfrm>
            <a:off x="7424928" y="3392424"/>
            <a:ext cx="41148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GB" sz="1500" b="0" i="0" dirty="0">
                <a:solidFill>
                  <a:srgbClr val="595959"/>
                </a:solidFill>
                <a:latin typeface="Arial"/>
                <a:cs typeface="Arial"/>
              </a:rPr>
              <a:t>None: flat DMR profiles</a:t>
            </a:r>
          </a:p>
        </p:txBody>
      </p:sp>
      <p:sp>
        <p:nvSpPr>
          <p:cNvPr id="39" name="Row label Holidays"/>
          <p:cNvSpPr txBox="1"/>
          <p:nvPr/>
        </p:nvSpPr>
        <p:spPr>
          <a:xfrm>
            <a:off x="466344" y="3849624"/>
            <a:ext cx="196596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GB" sz="1500" b="1" i="0" dirty="0">
                <a:solidFill>
                  <a:srgbClr val="595959"/>
                </a:solidFill>
                <a:latin typeface="Arial"/>
                <a:cs typeface="Arial"/>
              </a:rPr>
              <a:t>Holidays</a:t>
            </a:r>
          </a:p>
        </p:txBody>
      </p:sp>
      <p:sp>
        <p:nvSpPr>
          <p:cNvPr id="40" name="E-invoicing Holidays"/>
          <p:cNvSpPr txBox="1"/>
          <p:nvPr/>
        </p:nvSpPr>
        <p:spPr>
          <a:xfrm>
            <a:off x="2761488" y="3849624"/>
            <a:ext cx="411480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GB" sz="1500" b="0" i="0" dirty="0">
                <a:solidFill>
                  <a:srgbClr val="636462"/>
                </a:solidFill>
                <a:latin typeface="Arial"/>
                <a:cs typeface="Arial"/>
              </a:rPr>
              <a:t>Monday to Friday only: set to zero on weekends</a:t>
            </a:r>
          </a:p>
        </p:txBody>
      </p:sp>
      <p:sp>
        <p:nvSpPr>
          <p:cNvPr id="41" name="Electricity Holidays"/>
          <p:cNvSpPr txBox="1"/>
          <p:nvPr/>
        </p:nvSpPr>
        <p:spPr>
          <a:xfrm>
            <a:off x="7424928" y="3849624"/>
            <a:ext cx="411480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GB" sz="1500" b="0" i="0" dirty="0">
                <a:solidFill>
                  <a:srgbClr val="595959"/>
                </a:solidFill>
                <a:latin typeface="Arial"/>
                <a:cs typeface="Arial"/>
              </a:rPr>
              <a:t>Monday to Friday only (zero on weekends), plus Saturday and midweek effects</a:t>
            </a:r>
          </a:p>
        </p:txBody>
      </p:sp>
      <p:sp>
        <p:nvSpPr>
          <p:cNvPr id="42" name="Row label Other days"/>
          <p:cNvSpPr txBox="1"/>
          <p:nvPr/>
        </p:nvSpPr>
        <p:spPr>
          <a:xfrm>
            <a:off x="466344" y="4507992"/>
            <a:ext cx="196596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GB" sz="1500" b="1" i="0" dirty="0">
                <a:solidFill>
                  <a:srgbClr val="595959"/>
                </a:solidFill>
                <a:latin typeface="Arial"/>
                <a:cs typeface="Arial"/>
              </a:rPr>
              <a:t>Other days</a:t>
            </a:r>
          </a:p>
        </p:txBody>
      </p:sp>
      <p:sp>
        <p:nvSpPr>
          <p:cNvPr id="43" name="E-invoicing Other days"/>
          <p:cNvSpPr txBox="1"/>
          <p:nvPr/>
        </p:nvSpPr>
        <p:spPr>
          <a:xfrm>
            <a:off x="2761488" y="4507992"/>
            <a:ext cx="411480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GB" sz="1500" b="0" i="0" dirty="0">
                <a:solidFill>
                  <a:srgbClr val="636462"/>
                </a:solidFill>
                <a:latin typeface="Arial"/>
                <a:cs typeface="Arial"/>
              </a:rPr>
              <a:t>Last working day before a weekend month end</a:t>
            </a:r>
          </a:p>
        </p:txBody>
      </p:sp>
      <p:sp>
        <p:nvSpPr>
          <p:cNvPr id="44" name="Electricity Other days"/>
          <p:cNvSpPr txBox="1"/>
          <p:nvPr/>
        </p:nvSpPr>
        <p:spPr>
          <a:xfrm>
            <a:off x="7424928" y="4507992"/>
            <a:ext cx="411480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GB" sz="1500" b="0" i="0" dirty="0">
                <a:solidFill>
                  <a:srgbClr val="595959"/>
                </a:solidFill>
                <a:latin typeface="Arial"/>
                <a:cs typeface="Arial"/>
              </a:rPr>
              <a:t>Bridges, 24 and 31 Dec, Christmas–Epiphany working days, 14 and 16 Aug, Easter window</a:t>
            </a:r>
          </a:p>
        </p:txBody>
      </p:sp>
      <p:sp>
        <p:nvSpPr>
          <p:cNvPr id="45" name="Row label Coefficients"/>
          <p:cNvSpPr txBox="1"/>
          <p:nvPr/>
        </p:nvSpPr>
        <p:spPr>
          <a:xfrm>
            <a:off x="466344" y="5166360"/>
            <a:ext cx="196596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GB" sz="1500" b="1" i="0" dirty="0">
                <a:solidFill>
                  <a:srgbClr val="595959"/>
                </a:solidFill>
                <a:latin typeface="Arial"/>
                <a:cs typeface="Arial"/>
              </a:rPr>
              <a:t>Coefficients</a:t>
            </a:r>
          </a:p>
        </p:txBody>
      </p:sp>
      <p:sp>
        <p:nvSpPr>
          <p:cNvPr id="46" name="E-invoicing Coefficients"/>
          <p:cNvSpPr txBox="1"/>
          <p:nvPr/>
        </p:nvSpPr>
        <p:spPr>
          <a:xfrm>
            <a:off x="2761488" y="5166360"/>
            <a:ext cx="41148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GB" sz="1500" b="0" i="0" dirty="0">
                <a:solidFill>
                  <a:srgbClr val="636462"/>
                </a:solidFill>
                <a:latin typeface="Arial"/>
                <a:cs typeface="Arial"/>
              </a:rPr>
              <a:t>Fixed, 32 regressors</a:t>
            </a:r>
          </a:p>
        </p:txBody>
      </p:sp>
      <p:sp>
        <p:nvSpPr>
          <p:cNvPr id="47" name="Electricity Coefficients"/>
          <p:cNvSpPr txBox="1"/>
          <p:nvPr/>
        </p:nvSpPr>
        <p:spPr>
          <a:xfrm>
            <a:off x="7424928" y="5166360"/>
            <a:ext cx="41148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GB" sz="1500" b="0" i="0" dirty="0">
                <a:solidFill>
                  <a:srgbClr val="595959"/>
                </a:solidFill>
                <a:latin typeface="Arial"/>
                <a:cs typeface="Arial"/>
              </a:rPr>
              <a:t>Time-varying, 23 regressors</a:t>
            </a:r>
          </a:p>
        </p:txBody>
      </p:sp>
      <p:sp>
        <p:nvSpPr>
          <p:cNvPr id="48" name="Electricity caption"/>
          <p:cNvSpPr txBox="1"/>
          <p:nvPr/>
        </p:nvSpPr>
        <p:spPr>
          <a:xfrm>
            <a:off x="466344" y="5815584"/>
            <a:ext cx="11256264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GB" sz="1200" b="0" i="1" dirty="0">
                <a:solidFill>
                  <a:srgbClr val="7B7C7E"/>
                </a:solidFill>
                <a:latin typeface="Arial"/>
                <a:cs typeface="Arial"/>
              </a:rPr>
              <a:t>E-invoicing 2019–2025, electricity demand 2012–2025. Time-varying coefficients: random walks with a common variance, estimated before the outlier search (two steps).</a:t>
            </a:r>
          </a:p>
        </p:txBody>
      </p:sp>
    </p:spTree>
    <p:extLst>
      <p:ext uri="{BB962C8B-B14F-4D97-AF65-F5344CB8AC3E}">
        <p14:creationId xmlns:p14="http://schemas.microsoft.com/office/powerpoint/2010/main" val="17819166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1" name="Titolo 4"/>
          <p:cNvSpPr>
            <a:spLocks noGrp="1"/>
          </p:cNvSpPr>
          <p:nvPr>
            <p:ph type="title"/>
          </p:nvPr>
        </p:nvSpPr>
        <p:spPr>
          <a:xfrm>
            <a:off x="468313" y="482109"/>
            <a:ext cx="11269662" cy="405304"/>
          </a:xfrm>
        </p:spPr>
        <p:txBody>
          <a:bodyPr/>
          <a:lstStyle/>
          <a:p>
            <a:r>
              <a:rPr lang="en-GB" altLang="it-IT" sz="3600" dirty="0">
                <a:solidFill>
                  <a:srgbClr val="C00000"/>
                </a:solidFill>
              </a:rPr>
              <a:t>Electricity: time-varying calendar effects</a:t>
            </a:r>
          </a:p>
        </p:txBody>
      </p:sp>
      <p:sp>
        <p:nvSpPr>
          <p:cNvPr id="9" name="Segnaposto numero diapositiva 4">
            <a:extLst>
              <a:ext uri="{FF2B5EF4-FFF2-40B4-BE49-F238E27FC236}">
                <a16:creationId xmlns:a16="http://schemas.microsoft.com/office/drawing/2014/main" id="{43529721-AF16-448D-9B7A-D70C2ADC200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0" y="6392815"/>
            <a:ext cx="50165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48B4153A-D4C5-4CEF-8992-0D8815C829E3}" type="slidenum">
              <a:rPr lang="en-US" smtClean="0"/>
              <a:pPr>
                <a:defRPr/>
              </a:pPr>
              <a:t>18</a:t>
            </a:fld>
            <a:endParaRPr lang="en-US" dirty="0"/>
          </a:p>
        </p:txBody>
      </p:sp>
      <p:sp>
        <p:nvSpPr>
          <p:cNvPr id="8" name="Segnaposto piè di pagina 3">
            <a:extLst>
              <a:ext uri="{FF2B5EF4-FFF2-40B4-BE49-F238E27FC236}">
                <a16:creationId xmlns:a16="http://schemas.microsoft.com/office/drawing/2014/main" id="{3223DD80-9C7E-474F-A668-27B6983A568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35830" y="6382305"/>
            <a:ext cx="9644444" cy="259965"/>
          </a:xfrm>
        </p:spPr>
        <p:txBody>
          <a:bodyPr/>
          <a:lstStyle/>
          <a:p>
            <a:pPr>
              <a:defRPr/>
            </a:pPr>
            <a:r>
              <a:rPr lang="en-US" dirty="0"/>
              <a:t>Building calendars for daily seasonal adjustment</a:t>
            </a:r>
          </a:p>
        </p:txBody>
      </p:sp>
      <p:sp>
        <p:nvSpPr>
          <p:cNvPr id="40" name="Equations card"/>
          <p:cNvSpPr/>
          <p:nvPr/>
        </p:nvSpPr>
        <p:spPr>
          <a:xfrm>
            <a:off x="466344" y="1325880"/>
            <a:ext cx="6400800" cy="406908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GB" dirty="0"/>
          </a:p>
        </p:txBody>
      </p:sp>
      <p:pic>
        <p:nvPicPr>
          <p:cNvPr id="41" name="Model equations" descr="State-space model: observation equation with time-varying calendar coefficients, weekly airline errors, random-walk coefficients, calendar component and calendar-adjusted serie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1823432"/>
            <a:ext cx="5943600" cy="3073976"/>
          </a:xfrm>
          <a:prstGeom prst="rect">
            <a:avLst/>
          </a:prstGeom>
        </p:spPr>
      </p:pic>
      <p:sp>
        <p:nvSpPr>
          <p:cNvPr id="42" name="Model card 1"/>
          <p:cNvSpPr/>
          <p:nvPr/>
        </p:nvSpPr>
        <p:spPr>
          <a:xfrm>
            <a:off x="7132320" y="1325880"/>
            <a:ext cx="4593031" cy="128016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GB" dirty="0"/>
          </a:p>
        </p:txBody>
      </p:sp>
      <p:sp>
        <p:nvSpPr>
          <p:cNvPr id="43" name="Model heading 1"/>
          <p:cNvSpPr txBox="1"/>
          <p:nvPr/>
        </p:nvSpPr>
        <p:spPr>
          <a:xfrm>
            <a:off x="7333488" y="1417320"/>
            <a:ext cx="4227271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GB" sz="1600" b="1" i="0" dirty="0">
                <a:solidFill>
                  <a:srgbClr val="C00000"/>
                </a:solidFill>
                <a:latin typeface="Arial"/>
                <a:cs typeface="Arial"/>
              </a:rPr>
              <a:t>Why not fixed coefficients</a:t>
            </a:r>
          </a:p>
        </p:txBody>
      </p:sp>
      <p:sp>
        <p:nvSpPr>
          <p:cNvPr id="44" name="Model text 1"/>
          <p:cNvSpPr txBox="1"/>
          <p:nvPr/>
        </p:nvSpPr>
        <p:spPr>
          <a:xfrm>
            <a:off x="7333488" y="1764792"/>
            <a:ext cx="4227271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GB" sz="1300" b="0" i="0" dirty="0">
                <a:solidFill>
                  <a:srgbClr val="595959"/>
                </a:solidFill>
                <a:latin typeface="Arial"/>
                <a:cs typeface="Arial"/>
              </a:rPr>
              <a:t>Holiday effects fall by 10–18% between 2012 and 2025. Fixed coefficients would apply the 14-year average to every year.</a:t>
            </a:r>
          </a:p>
        </p:txBody>
      </p:sp>
      <p:sp>
        <p:nvSpPr>
          <p:cNvPr id="45" name="Model card 2"/>
          <p:cNvSpPr/>
          <p:nvPr/>
        </p:nvSpPr>
        <p:spPr>
          <a:xfrm>
            <a:off x="7132320" y="2715768"/>
            <a:ext cx="4593031" cy="128016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GB" dirty="0"/>
          </a:p>
        </p:txBody>
      </p:sp>
      <p:sp>
        <p:nvSpPr>
          <p:cNvPr id="46" name="Model heading 2"/>
          <p:cNvSpPr txBox="1"/>
          <p:nvPr/>
        </p:nvSpPr>
        <p:spPr>
          <a:xfrm>
            <a:off x="7333488" y="2807208"/>
            <a:ext cx="4227271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GB" sz="1600" b="1" i="0" dirty="0">
                <a:solidFill>
                  <a:srgbClr val="942639"/>
                </a:solidFill>
                <a:latin typeface="Arial"/>
                <a:cs typeface="Arial"/>
              </a:rPr>
              <a:t>Estimation</a:t>
            </a:r>
          </a:p>
        </p:txBody>
      </p:sp>
      <p:sp>
        <p:nvSpPr>
          <p:cNvPr id="47" name="Model text 2"/>
          <p:cNvSpPr txBox="1"/>
          <p:nvPr/>
        </p:nvSpPr>
        <p:spPr>
          <a:xfrm>
            <a:off x="7333488" y="3154680"/>
            <a:ext cx="4227271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GB" sz="1300" b="0" i="0" dirty="0">
                <a:solidFill>
                  <a:srgbClr val="595959"/>
                </a:solidFill>
                <a:latin typeface="Arial"/>
                <a:cs typeface="Arial"/>
              </a:rPr>
              <a:t>Kalman filter and smoother, maximum likelihood. One common variance σ²ξ for the 23 coefficients; σ²ξ = 0 gives fixed coefficients.</a:t>
            </a:r>
          </a:p>
        </p:txBody>
      </p:sp>
      <p:sp>
        <p:nvSpPr>
          <p:cNvPr id="48" name="Model card 3"/>
          <p:cNvSpPr/>
          <p:nvPr/>
        </p:nvSpPr>
        <p:spPr>
          <a:xfrm>
            <a:off x="7132320" y="4105656"/>
            <a:ext cx="4593031" cy="128016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GB" dirty="0"/>
          </a:p>
        </p:txBody>
      </p:sp>
      <p:sp>
        <p:nvSpPr>
          <p:cNvPr id="49" name="Model heading 3"/>
          <p:cNvSpPr txBox="1"/>
          <p:nvPr/>
        </p:nvSpPr>
        <p:spPr>
          <a:xfrm>
            <a:off x="7333488" y="4197096"/>
            <a:ext cx="4227271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GB" sz="1600" b="1" i="0" dirty="0">
                <a:solidFill>
                  <a:srgbClr val="7B7C7E"/>
                </a:solidFill>
                <a:latin typeface="Arial"/>
                <a:cs typeface="Arial"/>
              </a:rPr>
              <a:t>Then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Model text 3"/>
              <p:cNvSpPr txBox="1"/>
              <p:nvPr/>
            </p:nvSpPr>
            <p:spPr>
              <a:xfrm>
                <a:off x="7333488" y="4544568"/>
                <a:ext cx="4227271" cy="8229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>
                <a:noAutofit/>
              </a:bodyPr>
              <a:lstStyle/>
              <a:p>
                <a:pPr marL="0" indent="0" algn="l">
                  <a:spcBef>
                    <a:spcPts val="0"/>
                  </a:spcBef>
                  <a:buNone/>
                </a:pPr>
                <a:r>
                  <a:rPr lang="en-GB" sz="1300" b="0" i="0" dirty="0">
                    <a:solidFill>
                      <a:srgbClr val="595959"/>
                    </a:solidFill>
                    <a:latin typeface="Arial"/>
                    <a:cs typeface="Arial"/>
                  </a:rPr>
                  <a:t>Outliers and sequential AMB on the calendar-adjusted series. Additive model: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1300" b="0" i="1" smtClean="0">
                            <a:solidFill>
                              <a:srgbClr val="595959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</m:ctrlPr>
                      </m:sSubPr>
                      <m:e>
                        <m:r>
                          <a:rPr lang="it-IT" sz="1300" b="0" i="1" smtClean="0">
                            <a:solidFill>
                              <a:srgbClr val="595959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  <m:t>𝐻</m:t>
                        </m:r>
                      </m:e>
                      <m:sub>
                        <m:r>
                          <a:rPr lang="it-IT" sz="1300" b="0" i="1" smtClean="0">
                            <a:solidFill>
                              <a:srgbClr val="595959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GB" sz="1300" b="0" i="0" dirty="0">
                    <a:solidFill>
                      <a:srgbClr val="595959"/>
                    </a:solidFill>
                    <a:latin typeface="Arial"/>
                    <a:cs typeface="Arial"/>
                  </a:rPr>
                  <a:t> in MWh, subtracted.</a:t>
                </a:r>
              </a:p>
            </p:txBody>
          </p:sp>
        </mc:Choice>
        <mc:Fallback xmlns="">
          <p:sp>
            <p:nvSpPr>
              <p:cNvPr id="50" name="Model tex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33488" y="4544568"/>
                <a:ext cx="4227271" cy="822960"/>
              </a:xfrm>
              <a:prstGeom prst="rect">
                <a:avLst/>
              </a:prstGeom>
              <a:blipFill>
                <a:blip r:embed="rId3"/>
                <a:stretch>
                  <a:fillRect l="-2309" t="-666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2" name="Caption"/>
          <p:cNvSpPr txBox="1"/>
          <p:nvPr/>
        </p:nvSpPr>
        <p:spPr>
          <a:xfrm>
            <a:off x="466344" y="5577840"/>
            <a:ext cx="11256264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GB" sz="1200" b="0" i="1" dirty="0">
                <a:solidFill>
                  <a:srgbClr val="7B7C7E"/>
                </a:solidFill>
                <a:latin typeface="Arial"/>
                <a:cs typeface="Arial"/>
              </a:rPr>
              <a:t>X_k,t: 23 binary regressors. Holidays falling on Saturday or Sunday are set to zero (Easter Sunday and one Holiday_Sat regressor aside): otherwise the coefficients drift for no real reason. The annual pattern is left to the AMB step.</a:t>
            </a:r>
          </a:p>
        </p:txBody>
      </p:sp>
      <p:pic>
        <p:nvPicPr>
          <p:cNvPr id="60" name="X_t calendar dummies" descr="X sub t equals calendar dummie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76733" y="1500645"/>
            <a:ext cx="2380022" cy="322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19166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1" name="Titolo 4"/>
          <p:cNvSpPr>
            <a:spLocks noGrp="1"/>
          </p:cNvSpPr>
          <p:nvPr>
            <p:ph type="title"/>
          </p:nvPr>
        </p:nvSpPr>
        <p:spPr>
          <a:xfrm>
            <a:off x="468313" y="482109"/>
            <a:ext cx="11269662" cy="405304"/>
          </a:xfrm>
        </p:spPr>
        <p:txBody>
          <a:bodyPr/>
          <a:lstStyle/>
          <a:p>
            <a:r>
              <a:rPr lang="en-GB" altLang="it-IT" sz="3600" dirty="0">
                <a:solidFill>
                  <a:srgbClr val="C00000"/>
                </a:solidFill>
              </a:rPr>
              <a:t>Special days back within the ±5% band</a:t>
            </a:r>
          </a:p>
        </p:txBody>
      </p:sp>
      <p:sp>
        <p:nvSpPr>
          <p:cNvPr id="9" name="Segnaposto numero diapositiva 4">
            <a:extLst>
              <a:ext uri="{FF2B5EF4-FFF2-40B4-BE49-F238E27FC236}">
                <a16:creationId xmlns:a16="http://schemas.microsoft.com/office/drawing/2014/main" id="{43529721-AF16-448D-9B7A-D70C2ADC200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0" y="6392815"/>
            <a:ext cx="50165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48B4153A-D4C5-4CEF-8992-0D8815C829E3}" type="slidenum">
              <a:rPr lang="en-US" smtClean="0"/>
              <a:pPr>
                <a:defRPr/>
              </a:pPr>
              <a:t>19</a:t>
            </a:fld>
            <a:endParaRPr lang="en-US" dirty="0"/>
          </a:p>
        </p:txBody>
      </p:sp>
      <p:sp>
        <p:nvSpPr>
          <p:cNvPr id="8" name="Segnaposto piè di pagina 3">
            <a:extLst>
              <a:ext uri="{FF2B5EF4-FFF2-40B4-BE49-F238E27FC236}">
                <a16:creationId xmlns:a16="http://schemas.microsoft.com/office/drawing/2014/main" id="{3223DD80-9C7E-474F-A668-27B6983A568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35830" y="6382305"/>
            <a:ext cx="9644444" cy="259965"/>
          </a:xfrm>
        </p:spPr>
        <p:txBody>
          <a:bodyPr/>
          <a:lstStyle/>
          <a:p>
            <a:pPr>
              <a:defRPr/>
            </a:pPr>
            <a:r>
              <a:rPr lang="en-US" dirty="0"/>
              <a:t>Building calendars for daily seasonal adjustment</a:t>
            </a:r>
          </a:p>
        </p:txBody>
      </p:sp>
      <p:pic>
        <p:nvPicPr>
          <p:cNvPr id="40" name="DMR special days basic vs final" descr="Boxplots of the DMR on special days of electricity demand, basic calendar above and final calendar below, same sca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" y="1161288"/>
            <a:ext cx="5068005" cy="4434840"/>
          </a:xfrm>
          <a:prstGeom prst="rect">
            <a:avLst/>
          </a:prstGeom>
        </p:spPr>
      </p:pic>
      <p:sp>
        <p:nvSpPr>
          <p:cNvPr id="41" name="Before-after header"/>
          <p:cNvSpPr txBox="1"/>
          <p:nvPr/>
        </p:nvSpPr>
        <p:spPr>
          <a:xfrm>
            <a:off x="5945829" y="1280160"/>
            <a:ext cx="5779522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GB" sz="1800" b="1" i="0" dirty="0">
                <a:solidFill>
                  <a:srgbClr val="595959"/>
                </a:solidFill>
                <a:latin typeface="Arial"/>
                <a:cs typeface="Arial"/>
              </a:rPr>
              <a:t>Median DMR</a:t>
            </a:r>
            <a:r>
              <a:rPr lang="en-GB" sz="1600" b="0" i="0" dirty="0">
                <a:solidFill>
                  <a:srgbClr val="7B7C7E"/>
                </a:solidFill>
                <a:latin typeface="Arial"/>
                <a:cs typeface="Arial"/>
              </a:rPr>
              <a:t>   basic → final</a:t>
            </a:r>
          </a:p>
        </p:txBody>
      </p:sp>
      <p:sp>
        <p:nvSpPr>
          <p:cNvPr id="42" name="Row card 1"/>
          <p:cNvSpPr/>
          <p:nvPr/>
        </p:nvSpPr>
        <p:spPr>
          <a:xfrm>
            <a:off x="5945829" y="1810512"/>
            <a:ext cx="5779522" cy="9144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GB" dirty="0"/>
          </a:p>
        </p:txBody>
      </p:sp>
      <p:sp>
        <p:nvSpPr>
          <p:cNvPr id="43" name="Row label 1"/>
          <p:cNvSpPr txBox="1"/>
          <p:nvPr/>
        </p:nvSpPr>
        <p:spPr>
          <a:xfrm>
            <a:off x="6174429" y="1883664"/>
            <a:ext cx="5322322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GB" sz="1500" b="1" i="0" dirty="0">
                <a:solidFill>
                  <a:srgbClr val="595959"/>
                </a:solidFill>
                <a:latin typeface="Arial"/>
                <a:cs typeface="Arial"/>
              </a:rPr>
              <a:t>Holiday on Saturday</a:t>
            </a:r>
          </a:p>
        </p:txBody>
      </p:sp>
      <p:sp>
        <p:nvSpPr>
          <p:cNvPr id="44" name="Row values 1"/>
          <p:cNvSpPr txBox="1"/>
          <p:nvPr/>
        </p:nvSpPr>
        <p:spPr>
          <a:xfrm>
            <a:off x="6174429" y="2194560"/>
            <a:ext cx="5322322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GB" sz="2400" b="1" i="0" dirty="0">
                <a:solidFill>
                  <a:srgbClr val="C00000"/>
                </a:solidFill>
                <a:latin typeface="Arial"/>
                <a:cs typeface="Arial"/>
              </a:rPr>
              <a:t>1.09</a:t>
            </a:r>
            <a:r>
              <a:rPr lang="en-GB" sz="2000" b="0" i="0" dirty="0">
                <a:solidFill>
                  <a:srgbClr val="7B7C7E"/>
                </a:solidFill>
                <a:latin typeface="Arial"/>
                <a:cs typeface="Arial"/>
              </a:rPr>
              <a:t>  →  </a:t>
            </a:r>
            <a:r>
              <a:rPr lang="en-GB" sz="2400" b="1" i="0" dirty="0">
                <a:solidFill>
                  <a:srgbClr val="0072B2"/>
                </a:solidFill>
                <a:latin typeface="Arial"/>
                <a:cs typeface="Arial"/>
              </a:rPr>
              <a:t>1.01</a:t>
            </a:r>
          </a:p>
        </p:txBody>
      </p:sp>
      <p:sp>
        <p:nvSpPr>
          <p:cNvPr id="45" name="Row card 2"/>
          <p:cNvSpPr/>
          <p:nvPr/>
        </p:nvSpPr>
        <p:spPr>
          <a:xfrm>
            <a:off x="5945829" y="2834640"/>
            <a:ext cx="5779522" cy="9144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GB" dirty="0"/>
          </a:p>
        </p:txBody>
      </p:sp>
      <p:sp>
        <p:nvSpPr>
          <p:cNvPr id="46" name="Row label 2"/>
          <p:cNvSpPr txBox="1"/>
          <p:nvPr/>
        </p:nvSpPr>
        <p:spPr>
          <a:xfrm>
            <a:off x="6174429" y="2907792"/>
            <a:ext cx="5322322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GB" sz="1500" b="1" i="0" dirty="0">
                <a:solidFill>
                  <a:srgbClr val="595959"/>
                </a:solidFill>
                <a:latin typeface="Arial"/>
                <a:cs typeface="Arial"/>
              </a:rPr>
              <a:t>Monday bridge</a:t>
            </a:r>
          </a:p>
        </p:txBody>
      </p:sp>
      <p:sp>
        <p:nvSpPr>
          <p:cNvPr id="47" name="Row values 2"/>
          <p:cNvSpPr txBox="1"/>
          <p:nvPr/>
        </p:nvSpPr>
        <p:spPr>
          <a:xfrm>
            <a:off x="6174429" y="3218688"/>
            <a:ext cx="5322322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GB" sz="2400" b="1" i="0" dirty="0">
                <a:solidFill>
                  <a:srgbClr val="C00000"/>
                </a:solidFill>
                <a:latin typeface="Arial"/>
                <a:cs typeface="Arial"/>
              </a:rPr>
              <a:t>0.91</a:t>
            </a:r>
            <a:r>
              <a:rPr lang="en-GB" sz="2000" b="0" i="0" dirty="0">
                <a:solidFill>
                  <a:srgbClr val="7B7C7E"/>
                </a:solidFill>
                <a:latin typeface="Arial"/>
                <a:cs typeface="Arial"/>
              </a:rPr>
              <a:t>  →  </a:t>
            </a:r>
            <a:r>
              <a:rPr lang="en-GB" sz="2400" b="1" i="0" dirty="0">
                <a:solidFill>
                  <a:srgbClr val="0072B2"/>
                </a:solidFill>
                <a:latin typeface="Arial"/>
                <a:cs typeface="Arial"/>
              </a:rPr>
              <a:t>1.00</a:t>
            </a:r>
          </a:p>
        </p:txBody>
      </p:sp>
      <p:sp>
        <p:nvSpPr>
          <p:cNvPr id="48" name="Row card 3"/>
          <p:cNvSpPr/>
          <p:nvPr/>
        </p:nvSpPr>
        <p:spPr>
          <a:xfrm>
            <a:off x="5945829" y="3858768"/>
            <a:ext cx="5779522" cy="9144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GB" dirty="0"/>
          </a:p>
        </p:txBody>
      </p:sp>
      <p:sp>
        <p:nvSpPr>
          <p:cNvPr id="49" name="Row label 3"/>
          <p:cNvSpPr txBox="1"/>
          <p:nvPr/>
        </p:nvSpPr>
        <p:spPr>
          <a:xfrm>
            <a:off x="6174429" y="3931920"/>
            <a:ext cx="5322322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GB" sz="1500" b="1" i="0" dirty="0">
                <a:solidFill>
                  <a:srgbClr val="595959"/>
                </a:solidFill>
                <a:latin typeface="Arial"/>
                <a:cs typeface="Arial"/>
              </a:rPr>
              <a:t>Easter Tuesday</a:t>
            </a:r>
          </a:p>
        </p:txBody>
      </p:sp>
      <p:sp>
        <p:nvSpPr>
          <p:cNvPr id="50" name="Row values 3"/>
          <p:cNvSpPr txBox="1"/>
          <p:nvPr/>
        </p:nvSpPr>
        <p:spPr>
          <a:xfrm>
            <a:off x="6174429" y="4242816"/>
            <a:ext cx="5322322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GB" sz="2400" b="1" i="0" dirty="0">
                <a:solidFill>
                  <a:srgbClr val="C00000"/>
                </a:solidFill>
                <a:latin typeface="Arial"/>
                <a:cs typeface="Arial"/>
              </a:rPr>
              <a:t>0.94</a:t>
            </a:r>
            <a:r>
              <a:rPr lang="en-GB" sz="2000" b="0" i="0" dirty="0">
                <a:solidFill>
                  <a:srgbClr val="7B7C7E"/>
                </a:solidFill>
                <a:latin typeface="Arial"/>
                <a:cs typeface="Arial"/>
              </a:rPr>
              <a:t>  →  </a:t>
            </a:r>
            <a:r>
              <a:rPr lang="en-GB" sz="2400" b="1" i="0" dirty="0">
                <a:solidFill>
                  <a:srgbClr val="0072B2"/>
                </a:solidFill>
                <a:latin typeface="Arial"/>
                <a:cs typeface="Arial"/>
              </a:rPr>
              <a:t>0.98</a:t>
            </a:r>
          </a:p>
        </p:txBody>
      </p:sp>
      <p:sp>
        <p:nvSpPr>
          <p:cNvPr id="52" name="Groups note"/>
          <p:cNvSpPr txBox="1"/>
          <p:nvPr/>
        </p:nvSpPr>
        <p:spPr>
          <a:xfrm>
            <a:off x="5945829" y="4937760"/>
            <a:ext cx="5779522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GB" sz="1500" b="1" i="0" dirty="0">
                <a:solidFill>
                  <a:srgbClr val="595959"/>
                </a:solidFill>
                <a:latin typeface="Arial"/>
                <a:cs typeface="Arial"/>
              </a:rPr>
              <a:t>Groups outside ±5%: </a:t>
            </a:r>
            <a:r>
              <a:rPr lang="en-GB" sz="1500" b="0" i="0" dirty="0">
                <a:solidFill>
                  <a:srgbClr val="595959"/>
                </a:solidFill>
                <a:latin typeface="Arial"/>
                <a:cs typeface="Arial"/>
              </a:rPr>
              <a:t>7 of 14 → 1 (14 and 16 August, 0.949)</a:t>
            </a:r>
          </a:p>
        </p:txBody>
      </p:sp>
      <p:sp>
        <p:nvSpPr>
          <p:cNvPr id="53" name="Caption"/>
          <p:cNvSpPr txBox="1"/>
          <p:nvPr/>
        </p:nvSpPr>
        <p:spPr>
          <a:xfrm>
            <a:off x="466344" y="5650992"/>
            <a:ext cx="11256264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GB" sz="1300" b="1" i="0" dirty="0">
                <a:solidFill>
                  <a:srgbClr val="C00000"/>
                </a:solidFill>
                <a:latin typeface="Arial"/>
                <a:cs typeface="Arial"/>
              </a:rPr>
              <a:t>Result · Basic vs final calendar.  </a:t>
            </a:r>
            <a:r>
              <a:rPr lang="en-GB" sz="1300" b="0" i="1" dirty="0">
                <a:solidFill>
                  <a:srgbClr val="7B7C7E"/>
                </a:solidFill>
                <a:latin typeface="Arial"/>
                <a:cs typeface="Arial"/>
              </a:rPr>
              <a:t>Basic: 12 holidays on every day, fixed coefficients. Final: production calendar, 23 time-varying regressors.</a:t>
            </a:r>
          </a:p>
        </p:txBody>
      </p:sp>
    </p:spTree>
    <p:extLst>
      <p:ext uri="{BB962C8B-B14F-4D97-AF65-F5344CB8AC3E}">
        <p14:creationId xmlns:p14="http://schemas.microsoft.com/office/powerpoint/2010/main" val="17819166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1" name="Titolo 4"/>
          <p:cNvSpPr>
            <a:spLocks noGrp="1"/>
          </p:cNvSpPr>
          <p:nvPr>
            <p:ph type="title"/>
          </p:nvPr>
        </p:nvSpPr>
        <p:spPr>
          <a:xfrm>
            <a:off x="468313" y="482109"/>
            <a:ext cx="11269662" cy="405304"/>
          </a:xfrm>
        </p:spPr>
        <p:txBody>
          <a:bodyPr/>
          <a:lstStyle/>
          <a:p>
            <a:r>
              <a:rPr lang="en-GB" altLang="it-IT" sz="3600" dirty="0">
                <a:solidFill>
                  <a:srgbClr val="C00000"/>
                </a:solidFill>
              </a:rPr>
              <a:t>What remains: two known limits</a:t>
            </a:r>
          </a:p>
        </p:txBody>
      </p:sp>
      <p:sp>
        <p:nvSpPr>
          <p:cNvPr id="9" name="Segnaposto numero diapositiva 4">
            <a:extLst>
              <a:ext uri="{FF2B5EF4-FFF2-40B4-BE49-F238E27FC236}">
                <a16:creationId xmlns:a16="http://schemas.microsoft.com/office/drawing/2014/main" id="{43529721-AF16-448D-9B7A-D70C2ADC200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0" y="6392815"/>
            <a:ext cx="50165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48B4153A-D4C5-4CEF-8992-0D8815C829E3}" type="slidenum">
              <a:rPr lang="en-US" smtClean="0"/>
              <a:pPr>
                <a:defRPr/>
              </a:pPr>
              <a:t>20</a:t>
            </a:fld>
            <a:endParaRPr lang="en-US" dirty="0"/>
          </a:p>
        </p:txBody>
      </p:sp>
      <p:sp>
        <p:nvSpPr>
          <p:cNvPr id="8" name="Segnaposto piè di pagina 3">
            <a:extLst>
              <a:ext uri="{FF2B5EF4-FFF2-40B4-BE49-F238E27FC236}">
                <a16:creationId xmlns:a16="http://schemas.microsoft.com/office/drawing/2014/main" id="{3223DD80-9C7E-474F-A668-27B6983A568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35830" y="6382305"/>
            <a:ext cx="9644444" cy="259965"/>
          </a:xfrm>
        </p:spPr>
        <p:txBody>
          <a:bodyPr/>
          <a:lstStyle/>
          <a:p>
            <a:pPr>
              <a:defRPr/>
            </a:pPr>
            <a:r>
              <a:rPr lang="en-US" dirty="0"/>
              <a:t>Building calendars for daily seasonal adjustment</a:t>
            </a:r>
          </a:p>
        </p:txBody>
      </p:sp>
      <p:sp>
        <p:nvSpPr>
          <p:cNvPr id="20" name="Limit card 1"/>
          <p:cNvSpPr/>
          <p:nvPr/>
        </p:nvSpPr>
        <p:spPr>
          <a:xfrm>
            <a:off x="466344" y="1325880"/>
            <a:ext cx="5486400" cy="38862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GB" dirty="0"/>
          </a:p>
        </p:txBody>
      </p:sp>
      <p:sp>
        <p:nvSpPr>
          <p:cNvPr id="21" name="Limit heading 1"/>
          <p:cNvSpPr txBox="1"/>
          <p:nvPr/>
        </p:nvSpPr>
        <p:spPr>
          <a:xfrm>
            <a:off x="740664" y="1527048"/>
            <a:ext cx="493776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GB" sz="1900" b="1" i="0" dirty="0">
                <a:solidFill>
                  <a:srgbClr val="595959"/>
                </a:solidFill>
                <a:latin typeface="Arial"/>
                <a:cs typeface="Arial"/>
              </a:rPr>
              <a:t>Holidays: slightly under-corrected</a:t>
            </a:r>
          </a:p>
        </p:txBody>
      </p:sp>
      <p:sp>
        <p:nvSpPr>
          <p:cNvPr id="22" name="Limit value 1"/>
          <p:cNvSpPr txBox="1"/>
          <p:nvPr/>
        </p:nvSpPr>
        <p:spPr>
          <a:xfrm>
            <a:off x="740664" y="2011680"/>
            <a:ext cx="4937760" cy="10972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GB" sz="2800" b="1" i="0" dirty="0">
                <a:solidFill>
                  <a:srgbClr val="C00000"/>
                </a:solidFill>
                <a:latin typeface="Arial"/>
                <a:cs typeface="Arial"/>
              </a:rPr>
              <a:t>0.98</a:t>
            </a:r>
            <a:r>
              <a:rPr lang="en-GB" sz="1500" b="0" i="0" dirty="0">
                <a:solidFill>
                  <a:srgbClr val="7B7C7E"/>
                </a:solidFill>
                <a:latin typeface="Arial"/>
                <a:cs typeface="Arial"/>
              </a:rPr>
              <a:t>  median DMR, final calendar</a:t>
            </a:r>
          </a:p>
        </p:txBody>
      </p:sp>
      <p:sp>
        <p:nvSpPr>
          <p:cNvPr id="23" name="Limit text 1"/>
          <p:cNvSpPr txBox="1"/>
          <p:nvPr/>
        </p:nvSpPr>
        <p:spPr>
          <a:xfrm>
            <a:off x="740664" y="3154680"/>
            <a:ext cx="4937760" cy="1965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GB" sz="1500" b="0" i="0" dirty="0">
                <a:solidFill>
                  <a:srgbClr val="636462"/>
                </a:solidFill>
                <a:latin typeface="Arial"/>
                <a:cs typeface="Arial"/>
              </a:rPr>
              <a:t>Inside the ±5% band, but below 1 on every weekday and in the Easter window (0.98–0.99).</a:t>
            </a:r>
          </a:p>
          <a:p>
            <a:pPr marL="0" indent="0" algn="l">
              <a:spcBef>
                <a:spcPts val="800"/>
              </a:spcBef>
              <a:buNone/>
            </a:pPr>
            <a:r>
              <a:rPr lang="en-GB" sz="1500" b="0" i="0" dirty="0">
                <a:solidFill>
                  <a:srgbClr val="636462"/>
                </a:solidFill>
                <a:latin typeface="Arial"/>
                <a:cs typeface="Arial"/>
              </a:rPr>
              <a:t>Cause: in the two-step estimation the calendar is fitted with a weekly airline only. Its local level absorbs part of the drop, so the coefficients come out a little too small.</a:t>
            </a:r>
          </a:p>
        </p:txBody>
      </p:sp>
      <p:sp>
        <p:nvSpPr>
          <p:cNvPr id="30" name="Limit card 2"/>
          <p:cNvSpPr/>
          <p:nvPr/>
        </p:nvSpPr>
        <p:spPr>
          <a:xfrm>
            <a:off x="6236208" y="1325880"/>
            <a:ext cx="5486400" cy="38862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GB" dirty="0"/>
          </a:p>
        </p:txBody>
      </p:sp>
      <p:sp>
        <p:nvSpPr>
          <p:cNvPr id="31" name="Limit heading 2"/>
          <p:cNvSpPr txBox="1"/>
          <p:nvPr/>
        </p:nvSpPr>
        <p:spPr>
          <a:xfrm>
            <a:off x="6510528" y="1527048"/>
            <a:ext cx="493776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GB" sz="1900" b="1" i="0" dirty="0">
                <a:solidFill>
                  <a:srgbClr val="595959"/>
                </a:solidFill>
                <a:latin typeface="Arial"/>
                <a:cs typeface="Arial"/>
              </a:rPr>
              <a:t>August: a weaker weekly pattern</a:t>
            </a:r>
          </a:p>
        </p:txBody>
      </p:sp>
      <p:sp>
        <p:nvSpPr>
          <p:cNvPr id="32" name="Limit value 2"/>
          <p:cNvSpPr txBox="1"/>
          <p:nvPr/>
        </p:nvSpPr>
        <p:spPr>
          <a:xfrm>
            <a:off x="6510528" y="2011680"/>
            <a:ext cx="4937760" cy="10972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GB" sz="2800" b="1" i="0" dirty="0">
                <a:solidFill>
                  <a:srgbClr val="C00000"/>
                </a:solidFill>
                <a:latin typeface="Arial"/>
                <a:cs typeface="Arial"/>
              </a:rPr>
              <a:t>1.03–1.07</a:t>
            </a:r>
            <a:r>
              <a:rPr lang="en-GB" sz="1500" b="0" i="0" dirty="0">
                <a:solidFill>
                  <a:srgbClr val="7B7C7E"/>
                </a:solidFill>
                <a:latin typeface="Arial"/>
                <a:cs typeface="Arial"/>
              </a:rPr>
              <a:t>  weekends</a:t>
            </a:r>
          </a:p>
          <a:p>
            <a:pPr marL="0" indent="0" algn="l">
              <a:spcBef>
                <a:spcPts val="0"/>
              </a:spcBef>
              <a:buNone/>
            </a:pPr>
            <a:r>
              <a:rPr lang="en-GB" sz="2800" b="1" i="0" dirty="0">
                <a:solidFill>
                  <a:srgbClr val="0072B2"/>
                </a:solidFill>
                <a:latin typeface="Arial"/>
                <a:cs typeface="Arial"/>
              </a:rPr>
              <a:t>0.94–0.97</a:t>
            </a:r>
            <a:r>
              <a:rPr lang="en-GB" sz="1500" b="0" i="0" dirty="0">
                <a:solidFill>
                  <a:srgbClr val="7B7C7E"/>
                </a:solidFill>
                <a:latin typeface="Arial"/>
                <a:cs typeface="Arial"/>
              </a:rPr>
              <a:t>  weekdays</a:t>
            </a:r>
          </a:p>
        </p:txBody>
      </p:sp>
      <p:sp>
        <p:nvSpPr>
          <p:cNvPr id="33" name="Limit text 2"/>
          <p:cNvSpPr txBox="1"/>
          <p:nvPr/>
        </p:nvSpPr>
        <p:spPr>
          <a:xfrm>
            <a:off x="6510528" y="3154680"/>
            <a:ext cx="4937760" cy="1965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GB" sz="1500" b="0" i="0" dirty="0">
                <a:solidFill>
                  <a:srgbClr val="636462"/>
                </a:solidFill>
                <a:latin typeface="Arial"/>
                <a:cs typeface="Arial"/>
              </a:rPr>
              <a:t>Over the whole month, and the same with the basic calendar: not a calendar error.</a:t>
            </a:r>
          </a:p>
          <a:p>
            <a:pPr marL="0" indent="0" algn="l">
              <a:spcBef>
                <a:spcPts val="800"/>
              </a:spcBef>
              <a:buNone/>
            </a:pPr>
            <a:r>
              <a:rPr lang="en-GB" sz="1500" b="0" i="0" dirty="0">
                <a:solidFill>
                  <a:srgbClr val="636462"/>
                </a:solidFill>
                <a:latin typeface="Arial"/>
                <a:cs typeface="Arial"/>
              </a:rPr>
              <a:t>Cause: with plants closed, weekdays and weekends get closer, but the estimated weekly seasonality is the same all year. This also explains 14 and 16 August at 0.949.</a:t>
            </a:r>
          </a:p>
        </p:txBody>
      </p:sp>
      <p:sp>
        <p:nvSpPr>
          <p:cNvPr id="50" name="Open points"/>
          <p:cNvSpPr txBox="1"/>
          <p:nvPr/>
        </p:nvSpPr>
        <p:spPr>
          <a:xfrm>
            <a:off x="466344" y="5440680"/>
            <a:ext cx="11256264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GB" sz="1700" b="1" i="0" dirty="0">
                <a:solidFill>
                  <a:srgbClr val="C00000"/>
                </a:solidFill>
                <a:latin typeface="Arial"/>
                <a:cs typeface="Arial"/>
              </a:rPr>
              <a:t>Open points: </a:t>
            </a:r>
            <a:r>
              <a:rPr lang="en-GB" sz="1700" b="0" i="0" dirty="0">
                <a:solidFill>
                  <a:srgbClr val="595959"/>
                </a:solidFill>
                <a:latin typeface="Arial"/>
                <a:cs typeface="Arial"/>
              </a:rPr>
              <a:t>temperature (cooling and heating degree days) and a weekly pattern that changes within the year.</a:t>
            </a:r>
          </a:p>
        </p:txBody>
      </p:sp>
    </p:spTree>
    <p:extLst>
      <p:ext uri="{BB962C8B-B14F-4D97-AF65-F5344CB8AC3E}">
        <p14:creationId xmlns:p14="http://schemas.microsoft.com/office/powerpoint/2010/main" val="178191662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1" name="Titolo 4"/>
          <p:cNvSpPr>
            <a:spLocks noGrp="1"/>
          </p:cNvSpPr>
          <p:nvPr>
            <p:ph type="title"/>
          </p:nvPr>
        </p:nvSpPr>
        <p:spPr>
          <a:xfrm>
            <a:off x="468313" y="482109"/>
            <a:ext cx="11269662" cy="405304"/>
          </a:xfrm>
        </p:spPr>
        <p:txBody>
          <a:bodyPr/>
          <a:lstStyle/>
          <a:p>
            <a:r>
              <a:rPr lang="en-GB" altLang="it-IT" sz="3600" dirty="0">
                <a:solidFill>
                  <a:srgbClr val="C00000"/>
                </a:solidFill>
              </a:rPr>
              <a:t>Pre-treatment: outliers show what is missing</a:t>
            </a:r>
          </a:p>
        </p:txBody>
      </p:sp>
      <p:sp>
        <p:nvSpPr>
          <p:cNvPr id="9" name="Segnaposto numero diapositiva 4">
            <a:extLst>
              <a:ext uri="{FF2B5EF4-FFF2-40B4-BE49-F238E27FC236}">
                <a16:creationId xmlns:a16="http://schemas.microsoft.com/office/drawing/2014/main" id="{43529721-AF16-448D-9B7A-D70C2ADC200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0" y="6392815"/>
            <a:ext cx="50165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48B4153A-D4C5-4CEF-8992-0D8815C829E3}" type="slidenum">
              <a:rPr lang="en-US" smtClean="0"/>
              <a:pPr>
                <a:defRPr/>
              </a:pPr>
              <a:t>21</a:t>
            </a:fld>
            <a:endParaRPr lang="en-US" dirty="0"/>
          </a:p>
        </p:txBody>
      </p:sp>
      <p:sp>
        <p:nvSpPr>
          <p:cNvPr id="8" name="Segnaposto piè di pagina 3">
            <a:extLst>
              <a:ext uri="{FF2B5EF4-FFF2-40B4-BE49-F238E27FC236}">
                <a16:creationId xmlns:a16="http://schemas.microsoft.com/office/drawing/2014/main" id="{3223DD80-9C7E-474F-A668-27B6983A568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35830" y="6382305"/>
            <a:ext cx="9644444" cy="259965"/>
          </a:xfrm>
        </p:spPr>
        <p:txBody>
          <a:bodyPr/>
          <a:lstStyle/>
          <a:p>
            <a:pPr>
              <a:defRPr/>
            </a:pPr>
            <a:r>
              <a:rPr lang="en-US" dirty="0"/>
              <a:t>Building calendars for daily seasonal adjustment</a:t>
            </a:r>
          </a:p>
        </p:txBody>
      </p:sp>
      <p:pic>
        <p:nvPicPr>
          <p:cNvPr id="40" name="Pre-treatment table" descr="Table of the pre-treatment model for electricity demand: MA parameters and 15 outliers with dates, coefficients and event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" y="1371600"/>
            <a:ext cx="8001000" cy="3501823"/>
          </a:xfrm>
          <a:prstGeom prst="rect">
            <a:avLst/>
          </a:prstGeom>
        </p:spPr>
      </p:pic>
      <p:sp>
        <p:nvSpPr>
          <p:cNvPr id="41" name="Outlier card"/>
          <p:cNvSpPr/>
          <p:nvPr/>
        </p:nvSpPr>
        <p:spPr>
          <a:xfrm>
            <a:off x="8741664" y="1325880"/>
            <a:ext cx="2983687" cy="402336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GB" dirty="0"/>
          </a:p>
        </p:txBody>
      </p:sp>
      <p:sp>
        <p:nvSpPr>
          <p:cNvPr id="42" name="Outlier value 1"/>
          <p:cNvSpPr txBox="1"/>
          <p:nvPr/>
        </p:nvSpPr>
        <p:spPr>
          <a:xfrm>
            <a:off x="8942832" y="1463040"/>
            <a:ext cx="2617927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GB" sz="3000" b="1" i="0" dirty="0">
                <a:solidFill>
                  <a:srgbClr val="C00000"/>
                </a:solidFill>
                <a:latin typeface="Arial"/>
                <a:cs typeface="Arial"/>
              </a:rPr>
              <a:t>10</a:t>
            </a:r>
          </a:p>
        </p:txBody>
      </p:sp>
      <p:sp>
        <p:nvSpPr>
          <p:cNvPr id="43" name="Outlier label 1"/>
          <p:cNvSpPr txBox="1"/>
          <p:nvPr/>
        </p:nvSpPr>
        <p:spPr>
          <a:xfrm>
            <a:off x="8942832" y="1993392"/>
            <a:ext cx="2617927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GB" sz="1300" b="0" i="0" dirty="0">
                <a:solidFill>
                  <a:srgbClr val="595959"/>
                </a:solidFill>
                <a:latin typeface="Arial"/>
                <a:cs typeface="Arial"/>
              </a:rPr>
              <a:t>summer level shifts, mostly in pairs of opposite sign: temperature is not modelled</a:t>
            </a:r>
          </a:p>
        </p:txBody>
      </p:sp>
      <p:sp>
        <p:nvSpPr>
          <p:cNvPr id="44" name="Outlier value 2"/>
          <p:cNvSpPr txBox="1"/>
          <p:nvPr/>
        </p:nvSpPr>
        <p:spPr>
          <a:xfrm>
            <a:off x="8942832" y="2743200"/>
            <a:ext cx="2617927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GB" sz="3000" b="1" i="0" dirty="0">
                <a:solidFill>
                  <a:srgbClr val="942639"/>
                </a:solidFill>
                <a:latin typeface="Arial"/>
                <a:cs typeface="Arial"/>
              </a:rPr>
              <a:t>4</a:t>
            </a:r>
          </a:p>
        </p:txBody>
      </p:sp>
      <p:sp>
        <p:nvSpPr>
          <p:cNvPr id="45" name="Outlier label 2"/>
          <p:cNvSpPr txBox="1"/>
          <p:nvPr/>
        </p:nvSpPr>
        <p:spPr>
          <a:xfrm>
            <a:off x="8942832" y="3273552"/>
            <a:ext cx="2617927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GB" sz="1300" b="0" i="0" dirty="0">
                <a:solidFill>
                  <a:srgbClr val="595959"/>
                </a:solidFill>
                <a:latin typeface="Arial"/>
                <a:cs typeface="Arial"/>
              </a:rPr>
              <a:t>Covid-19 (lockdown, reopenings) and the 2022 energy crisis</a:t>
            </a:r>
          </a:p>
        </p:txBody>
      </p:sp>
      <p:sp>
        <p:nvSpPr>
          <p:cNvPr id="46" name="Outlier value 3"/>
          <p:cNvSpPr txBox="1"/>
          <p:nvPr/>
        </p:nvSpPr>
        <p:spPr>
          <a:xfrm>
            <a:off x="8942832" y="4023360"/>
            <a:ext cx="2617927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GB" sz="3000" b="1" i="0" dirty="0">
                <a:solidFill>
                  <a:srgbClr val="7B7C7E"/>
                </a:solidFill>
                <a:latin typeface="Arial"/>
                <a:cs typeface="Arial"/>
              </a:rPr>
              <a:t>1</a:t>
            </a:r>
          </a:p>
        </p:txBody>
      </p:sp>
      <p:sp>
        <p:nvSpPr>
          <p:cNvPr id="47" name="Outlier label 3"/>
          <p:cNvSpPr txBox="1"/>
          <p:nvPr/>
        </p:nvSpPr>
        <p:spPr>
          <a:xfrm>
            <a:off x="8942832" y="4553712"/>
            <a:ext cx="2617927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GB" sz="1300" b="0" i="0" dirty="0">
                <a:solidFill>
                  <a:srgbClr val="595959"/>
                </a:solidFill>
                <a:latin typeface="Arial"/>
                <a:cs typeface="Arial"/>
              </a:rPr>
              <a:t>additive outlier (21/08/2015): a storm with a sharp temperature drop</a:t>
            </a:r>
          </a:p>
        </p:txBody>
      </p:sp>
      <p:sp>
        <p:nvSpPr>
          <p:cNvPr id="50" name="Table caption"/>
          <p:cNvSpPr txBox="1"/>
          <p:nvPr/>
        </p:nvSpPr>
        <p:spPr>
          <a:xfrm>
            <a:off x="466344" y="5532120"/>
            <a:ext cx="11256264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GB" sz="1300" b="0" i="1" dirty="0">
                <a:solidFill>
                  <a:srgbClr val="7B7C7E"/>
                </a:solidFill>
                <a:latin typeface="Arial"/>
                <a:cs typeface="Arial"/>
              </a:rPr>
              <a:t>Pre-treatment of the calendar-adjusted series (additive model); outlier coefficients in thousand MWh. LS: level shift; AO: additive outlier.</a:t>
            </a:r>
          </a:p>
        </p:txBody>
      </p:sp>
    </p:spTree>
    <p:extLst>
      <p:ext uri="{BB962C8B-B14F-4D97-AF65-F5344CB8AC3E}">
        <p14:creationId xmlns:p14="http://schemas.microsoft.com/office/powerpoint/2010/main" val="178191662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1" name="Titolo 4"/>
          <p:cNvSpPr>
            <a:spLocks noGrp="1"/>
          </p:cNvSpPr>
          <p:nvPr>
            <p:ph type="title"/>
          </p:nvPr>
        </p:nvSpPr>
        <p:spPr>
          <a:xfrm>
            <a:off x="468313" y="482109"/>
            <a:ext cx="11269662" cy="405304"/>
          </a:xfrm>
        </p:spPr>
        <p:txBody>
          <a:bodyPr/>
          <a:lstStyle/>
          <a:p>
            <a:r>
              <a:rPr lang="en-GB" altLang="it-IT" sz="3600" dirty="0">
                <a:solidFill>
                  <a:srgbClr val="C00000"/>
                </a:solidFill>
              </a:rPr>
              <a:t>National holidays: the effects fade</a:t>
            </a:r>
          </a:p>
        </p:txBody>
      </p:sp>
      <p:sp>
        <p:nvSpPr>
          <p:cNvPr id="9" name="Segnaposto numero diapositiva 4">
            <a:extLst>
              <a:ext uri="{FF2B5EF4-FFF2-40B4-BE49-F238E27FC236}">
                <a16:creationId xmlns:a16="http://schemas.microsoft.com/office/drawing/2014/main" id="{43529721-AF16-448D-9B7A-D70C2ADC200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0" y="6392815"/>
            <a:ext cx="50165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48B4153A-D4C5-4CEF-8992-0D8815C829E3}" type="slidenum">
              <a:rPr lang="en-US" smtClean="0"/>
              <a:pPr>
                <a:defRPr/>
              </a:pPr>
              <a:t>22</a:t>
            </a:fld>
            <a:endParaRPr lang="en-US" dirty="0"/>
          </a:p>
        </p:txBody>
      </p:sp>
      <p:sp>
        <p:nvSpPr>
          <p:cNvPr id="8" name="Segnaposto piè di pagina 3">
            <a:extLst>
              <a:ext uri="{FF2B5EF4-FFF2-40B4-BE49-F238E27FC236}">
                <a16:creationId xmlns:a16="http://schemas.microsoft.com/office/drawing/2014/main" id="{3223DD80-9C7E-474F-A668-27B6983A568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35830" y="6382305"/>
            <a:ext cx="9644444" cy="259965"/>
          </a:xfrm>
        </p:spPr>
        <p:txBody>
          <a:bodyPr/>
          <a:lstStyle/>
          <a:p>
            <a:pPr>
              <a:defRPr/>
            </a:pPr>
            <a:r>
              <a:rPr lang="en-US" dirty="0"/>
              <a:t>Building calendars for daily seasonal adjustment</a:t>
            </a:r>
          </a:p>
        </p:txBody>
      </p:sp>
      <p:pic>
        <p:nvPicPr>
          <p:cNvPr id="40" name="Time-varying coefficients" descr="Time-varying effects of the 12 national holidays on electricity demand, 2012-2025, thousand MW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207008"/>
            <a:ext cx="6874105" cy="4297680"/>
          </a:xfrm>
          <a:prstGeom prst="rect">
            <a:avLst/>
          </a:prstGeom>
        </p:spPr>
      </p:pic>
      <p:sp>
        <p:nvSpPr>
          <p:cNvPr id="41" name="Cards header"/>
          <p:cNvSpPr txBox="1"/>
          <p:nvPr/>
        </p:nvSpPr>
        <p:spPr>
          <a:xfrm>
            <a:off x="7605625" y="1325880"/>
            <a:ext cx="4119727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GB" sz="1800" b="1" i="0" dirty="0">
                <a:solidFill>
                  <a:srgbClr val="595959"/>
                </a:solidFill>
                <a:latin typeface="Arial"/>
                <a:cs typeface="Arial"/>
              </a:rPr>
              <a:t>2012 → 2025</a:t>
            </a:r>
            <a:r>
              <a:rPr lang="en-GB" sz="1400" b="0" i="0" dirty="0">
                <a:solidFill>
                  <a:srgbClr val="7B7C7E"/>
                </a:solidFill>
                <a:latin typeface="Arial"/>
                <a:cs typeface="Arial"/>
              </a:rPr>
              <a:t>   thousand MWh</a:t>
            </a:r>
          </a:p>
        </p:txBody>
      </p:sp>
      <p:sp>
        <p:nvSpPr>
          <p:cNvPr id="42" name="Card 1"/>
          <p:cNvSpPr/>
          <p:nvPr/>
        </p:nvSpPr>
        <p:spPr>
          <a:xfrm>
            <a:off x="7605625" y="1828800"/>
            <a:ext cx="4119727" cy="11430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GB" dirty="0"/>
          </a:p>
        </p:txBody>
      </p:sp>
      <p:sp>
        <p:nvSpPr>
          <p:cNvPr id="43" name="Card 1 label"/>
          <p:cNvSpPr txBox="1"/>
          <p:nvPr/>
        </p:nvSpPr>
        <p:spPr>
          <a:xfrm>
            <a:off x="7806793" y="1938528"/>
            <a:ext cx="3753967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GB" sz="1600" b="1" i="0" dirty="0">
                <a:solidFill>
                  <a:srgbClr val="595959"/>
                </a:solidFill>
                <a:latin typeface="Arial"/>
                <a:cs typeface="Arial"/>
              </a:rPr>
              <a:t>Republic Day</a:t>
            </a:r>
          </a:p>
        </p:txBody>
      </p:sp>
      <p:sp>
        <p:nvSpPr>
          <p:cNvPr id="44" name="Card 1 values"/>
          <p:cNvSpPr txBox="1"/>
          <p:nvPr/>
        </p:nvSpPr>
        <p:spPr>
          <a:xfrm>
            <a:off x="7806793" y="2286000"/>
            <a:ext cx="3753967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GB" sz="2800" b="1" i="0" dirty="0">
                <a:solidFill>
                  <a:srgbClr val="7B7C7E"/>
                </a:solidFill>
                <a:latin typeface="Arial"/>
                <a:cs typeface="Arial"/>
              </a:rPr>
              <a:t>−174</a:t>
            </a:r>
            <a:r>
              <a:rPr lang="en-GB" sz="2200" b="0" i="0" dirty="0">
                <a:solidFill>
                  <a:srgbClr val="7B7C7E"/>
                </a:solidFill>
                <a:latin typeface="Arial"/>
                <a:cs typeface="Arial"/>
              </a:rPr>
              <a:t>  →  </a:t>
            </a:r>
            <a:r>
              <a:rPr lang="en-GB" sz="2800" b="1" i="0" dirty="0">
                <a:solidFill>
                  <a:srgbClr val="C00000"/>
                </a:solidFill>
                <a:latin typeface="Arial"/>
                <a:cs typeface="Arial"/>
              </a:rPr>
              <a:t>−143</a:t>
            </a:r>
          </a:p>
        </p:txBody>
      </p:sp>
      <p:sp>
        <p:nvSpPr>
          <p:cNvPr id="45" name="Card 2"/>
          <p:cNvSpPr/>
          <p:nvPr/>
        </p:nvSpPr>
        <p:spPr>
          <a:xfrm>
            <a:off x="7605625" y="3108960"/>
            <a:ext cx="4119727" cy="11430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GB" dirty="0"/>
          </a:p>
        </p:txBody>
      </p:sp>
      <p:sp>
        <p:nvSpPr>
          <p:cNvPr id="46" name="Card 2 label"/>
          <p:cNvSpPr txBox="1"/>
          <p:nvPr/>
        </p:nvSpPr>
        <p:spPr>
          <a:xfrm>
            <a:off x="7806793" y="3218688"/>
            <a:ext cx="3753967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GB" sz="1600" b="1" i="0" dirty="0">
                <a:solidFill>
                  <a:srgbClr val="595959"/>
                </a:solidFill>
                <a:latin typeface="Arial"/>
                <a:cs typeface="Arial"/>
              </a:rPr>
              <a:t>Easter Monday</a:t>
            </a:r>
          </a:p>
        </p:txBody>
      </p:sp>
      <p:sp>
        <p:nvSpPr>
          <p:cNvPr id="47" name="Card 2 values"/>
          <p:cNvSpPr txBox="1"/>
          <p:nvPr/>
        </p:nvSpPr>
        <p:spPr>
          <a:xfrm>
            <a:off x="7806793" y="3566160"/>
            <a:ext cx="3753967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GB" sz="2800" b="1" i="0" dirty="0">
                <a:solidFill>
                  <a:srgbClr val="7B7C7E"/>
                </a:solidFill>
                <a:latin typeface="Arial"/>
                <a:cs typeface="Arial"/>
              </a:rPr>
              <a:t>−221</a:t>
            </a:r>
            <a:r>
              <a:rPr lang="en-GB" sz="2200" b="0" i="0" dirty="0">
                <a:solidFill>
                  <a:srgbClr val="7B7C7E"/>
                </a:solidFill>
                <a:latin typeface="Arial"/>
                <a:cs typeface="Arial"/>
              </a:rPr>
              <a:t>  →  </a:t>
            </a:r>
            <a:r>
              <a:rPr lang="en-GB" sz="2800" b="1" i="0" dirty="0">
                <a:solidFill>
                  <a:srgbClr val="C00000"/>
                </a:solidFill>
                <a:latin typeface="Arial"/>
                <a:cs typeface="Arial"/>
              </a:rPr>
              <a:t>−198</a:t>
            </a:r>
          </a:p>
        </p:txBody>
      </p:sp>
      <p:sp>
        <p:nvSpPr>
          <p:cNvPr id="50" name="Note"/>
          <p:cNvSpPr txBox="1"/>
          <p:nvPr/>
        </p:nvSpPr>
        <p:spPr>
          <a:xfrm>
            <a:off x="7605625" y="4434840"/>
            <a:ext cx="4119727" cy="10515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GB" sz="1500" b="0" i="0" dirty="0">
                <a:solidFill>
                  <a:srgbClr val="595959"/>
                </a:solidFill>
                <a:latin typeface="Arial"/>
                <a:cs typeface="Arial"/>
              </a:rPr>
              <a:t>All holidays move together, by 10–18%, mostly after 2018. Only the Assumption is stable (−132 → −128).</a:t>
            </a:r>
          </a:p>
        </p:txBody>
      </p:sp>
      <p:sp>
        <p:nvSpPr>
          <p:cNvPr id="51" name="Caption"/>
          <p:cNvSpPr txBox="1"/>
          <p:nvPr/>
        </p:nvSpPr>
        <p:spPr>
          <a:xfrm>
            <a:off x="466344" y="5577840"/>
            <a:ext cx="11256264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GB" sz="1300" b="1" i="0" dirty="0">
                <a:solidFill>
                  <a:srgbClr val="C00000"/>
                </a:solidFill>
                <a:latin typeface="Arial"/>
                <a:cs typeface="Arial"/>
              </a:rPr>
              <a:t>Result · Time-varying coefficients.  </a:t>
            </a:r>
            <a:r>
              <a:rPr lang="en-GB" sz="1300" b="0" i="1" dirty="0">
                <a:solidFill>
                  <a:srgbClr val="7B7C7E"/>
                </a:solidFill>
                <a:latin typeface="Arial"/>
                <a:cs typeface="Arial"/>
              </a:rPr>
              <a:t>Thousand MWh; values at the end of 2012 and of 2025.</a:t>
            </a:r>
          </a:p>
        </p:txBody>
      </p:sp>
    </p:spTree>
    <p:extLst>
      <p:ext uri="{BB962C8B-B14F-4D97-AF65-F5344CB8AC3E}">
        <p14:creationId xmlns:p14="http://schemas.microsoft.com/office/powerpoint/2010/main" val="178191662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1" name="Titolo 4"/>
          <p:cNvSpPr>
            <a:spLocks noGrp="1"/>
          </p:cNvSpPr>
          <p:nvPr>
            <p:ph type="title"/>
          </p:nvPr>
        </p:nvSpPr>
        <p:spPr>
          <a:xfrm>
            <a:off x="468313" y="482109"/>
            <a:ext cx="11269662" cy="405304"/>
          </a:xfrm>
        </p:spPr>
        <p:txBody>
          <a:bodyPr/>
          <a:lstStyle/>
          <a:p>
            <a:r>
              <a:rPr lang="en-GB" altLang="it-IT" sz="3600" dirty="0">
                <a:solidFill>
                  <a:srgbClr val="C00000"/>
                </a:solidFill>
              </a:rPr>
              <a:t>Bridges and semi-closures: no fading</a:t>
            </a:r>
          </a:p>
        </p:txBody>
      </p:sp>
      <p:sp>
        <p:nvSpPr>
          <p:cNvPr id="9" name="Segnaposto numero diapositiva 4">
            <a:extLst>
              <a:ext uri="{FF2B5EF4-FFF2-40B4-BE49-F238E27FC236}">
                <a16:creationId xmlns:a16="http://schemas.microsoft.com/office/drawing/2014/main" id="{43529721-AF16-448D-9B7A-D70C2ADC200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0" y="6392815"/>
            <a:ext cx="50165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48B4153A-D4C5-4CEF-8992-0D8815C829E3}" type="slidenum">
              <a:rPr lang="en-US" smtClean="0"/>
              <a:pPr>
                <a:defRPr/>
              </a:pPr>
              <a:t>23</a:t>
            </a:fld>
            <a:endParaRPr lang="en-US" dirty="0"/>
          </a:p>
        </p:txBody>
      </p:sp>
      <p:sp>
        <p:nvSpPr>
          <p:cNvPr id="8" name="Segnaposto piè di pagina 3">
            <a:extLst>
              <a:ext uri="{FF2B5EF4-FFF2-40B4-BE49-F238E27FC236}">
                <a16:creationId xmlns:a16="http://schemas.microsoft.com/office/drawing/2014/main" id="{3223DD80-9C7E-474F-A668-27B6983A568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35830" y="6382305"/>
            <a:ext cx="9644444" cy="259965"/>
          </a:xfrm>
        </p:spPr>
        <p:txBody>
          <a:bodyPr/>
          <a:lstStyle/>
          <a:p>
            <a:pPr>
              <a:defRPr/>
            </a:pPr>
            <a:r>
              <a:rPr lang="en-US" dirty="0"/>
              <a:t>Building calendars for daily seasonal adjustment</a:t>
            </a:r>
          </a:p>
        </p:txBody>
      </p:sp>
      <p:pic>
        <p:nvPicPr>
          <p:cNvPr id="40" name="Time-varying coefficients" descr="Time-varying effects of bridges and semi-closure days on electricity demand, 2012-2025, thousand MW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207008"/>
            <a:ext cx="6874105" cy="4297680"/>
          </a:xfrm>
          <a:prstGeom prst="rect">
            <a:avLst/>
          </a:prstGeom>
        </p:spPr>
      </p:pic>
      <p:sp>
        <p:nvSpPr>
          <p:cNvPr id="41" name="Cards header"/>
          <p:cNvSpPr txBox="1"/>
          <p:nvPr/>
        </p:nvSpPr>
        <p:spPr>
          <a:xfrm>
            <a:off x="7605625" y="1325880"/>
            <a:ext cx="4119727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GB" sz="1800" b="1" i="0" dirty="0">
                <a:solidFill>
                  <a:srgbClr val="595959"/>
                </a:solidFill>
                <a:latin typeface="Arial"/>
                <a:cs typeface="Arial"/>
              </a:rPr>
              <a:t>2012 → 2025</a:t>
            </a:r>
            <a:r>
              <a:rPr lang="en-GB" sz="1400" b="0" i="0" dirty="0">
                <a:solidFill>
                  <a:srgbClr val="7B7C7E"/>
                </a:solidFill>
                <a:latin typeface="Arial"/>
                <a:cs typeface="Arial"/>
              </a:rPr>
              <a:t>   thousand MWh</a:t>
            </a:r>
          </a:p>
        </p:txBody>
      </p:sp>
      <p:sp>
        <p:nvSpPr>
          <p:cNvPr id="42" name="Card 1"/>
          <p:cNvSpPr/>
          <p:nvPr/>
        </p:nvSpPr>
        <p:spPr>
          <a:xfrm>
            <a:off x="7605625" y="1828800"/>
            <a:ext cx="4119727" cy="11430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GB" dirty="0"/>
          </a:p>
        </p:txBody>
      </p:sp>
      <p:sp>
        <p:nvSpPr>
          <p:cNvPr id="43" name="Card 1 label"/>
          <p:cNvSpPr txBox="1"/>
          <p:nvPr/>
        </p:nvSpPr>
        <p:spPr>
          <a:xfrm>
            <a:off x="7806793" y="1938528"/>
            <a:ext cx="3753967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GB" sz="1600" b="1" i="0" dirty="0">
                <a:solidFill>
                  <a:srgbClr val="595959"/>
                </a:solidFill>
                <a:latin typeface="Arial"/>
                <a:cs typeface="Arial"/>
              </a:rPr>
              <a:t>Monday bridge</a:t>
            </a:r>
          </a:p>
        </p:txBody>
      </p:sp>
      <p:sp>
        <p:nvSpPr>
          <p:cNvPr id="44" name="Card 1 values"/>
          <p:cNvSpPr txBox="1"/>
          <p:nvPr/>
        </p:nvSpPr>
        <p:spPr>
          <a:xfrm>
            <a:off x="7806793" y="2286000"/>
            <a:ext cx="3753967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GB" sz="2800" b="1" i="0" dirty="0">
                <a:solidFill>
                  <a:srgbClr val="7B7C7E"/>
                </a:solidFill>
                <a:latin typeface="Arial"/>
                <a:cs typeface="Arial"/>
              </a:rPr>
              <a:t>−52</a:t>
            </a:r>
            <a:r>
              <a:rPr lang="en-GB" sz="2200" b="0" i="0" dirty="0">
                <a:solidFill>
                  <a:srgbClr val="7B7C7E"/>
                </a:solidFill>
                <a:latin typeface="Arial"/>
                <a:cs typeface="Arial"/>
              </a:rPr>
              <a:t>  →  </a:t>
            </a:r>
            <a:r>
              <a:rPr lang="en-GB" sz="2800" b="1" i="0" dirty="0">
                <a:solidFill>
                  <a:srgbClr val="C00000"/>
                </a:solidFill>
                <a:latin typeface="Arial"/>
                <a:cs typeface="Arial"/>
              </a:rPr>
              <a:t>−77</a:t>
            </a:r>
          </a:p>
        </p:txBody>
      </p:sp>
      <p:sp>
        <p:nvSpPr>
          <p:cNvPr id="45" name="Card 2"/>
          <p:cNvSpPr/>
          <p:nvPr/>
        </p:nvSpPr>
        <p:spPr>
          <a:xfrm>
            <a:off x="7605625" y="3108960"/>
            <a:ext cx="4119727" cy="11430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GB" dirty="0"/>
          </a:p>
        </p:txBody>
      </p:sp>
      <p:sp>
        <p:nvSpPr>
          <p:cNvPr id="46" name="Card 2 label"/>
          <p:cNvSpPr txBox="1"/>
          <p:nvPr/>
        </p:nvSpPr>
        <p:spPr>
          <a:xfrm>
            <a:off x="7806793" y="3218688"/>
            <a:ext cx="3753967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GB" sz="1600" b="1" i="0" dirty="0">
                <a:solidFill>
                  <a:srgbClr val="595959"/>
                </a:solidFill>
                <a:latin typeface="Arial"/>
                <a:cs typeface="Arial"/>
              </a:rPr>
              <a:t>New Year's Eve</a:t>
            </a:r>
          </a:p>
        </p:txBody>
      </p:sp>
      <p:sp>
        <p:nvSpPr>
          <p:cNvPr id="47" name="Card 2 values"/>
          <p:cNvSpPr txBox="1"/>
          <p:nvPr/>
        </p:nvSpPr>
        <p:spPr>
          <a:xfrm>
            <a:off x="7806793" y="3566160"/>
            <a:ext cx="3753967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GB" sz="2800" b="1" i="0" dirty="0">
                <a:solidFill>
                  <a:srgbClr val="7B7C7E"/>
                </a:solidFill>
                <a:latin typeface="Arial"/>
                <a:cs typeface="Arial"/>
              </a:rPr>
              <a:t>−76</a:t>
            </a:r>
            <a:r>
              <a:rPr lang="en-GB" sz="2200" b="0" i="0" dirty="0">
                <a:solidFill>
                  <a:srgbClr val="7B7C7E"/>
                </a:solidFill>
                <a:latin typeface="Arial"/>
                <a:cs typeface="Arial"/>
              </a:rPr>
              <a:t>  →  </a:t>
            </a:r>
            <a:r>
              <a:rPr lang="en-GB" sz="2800" b="1" i="0" dirty="0">
                <a:solidFill>
                  <a:srgbClr val="C00000"/>
                </a:solidFill>
                <a:latin typeface="Arial"/>
                <a:cs typeface="Arial"/>
              </a:rPr>
              <a:t>−97</a:t>
            </a:r>
          </a:p>
        </p:txBody>
      </p:sp>
      <p:sp>
        <p:nvSpPr>
          <p:cNvPr id="50" name="Note"/>
          <p:cNvSpPr txBox="1"/>
          <p:nvPr/>
        </p:nvSpPr>
        <p:spPr>
          <a:xfrm>
            <a:off x="7605625" y="4434840"/>
            <a:ext cx="4119727" cy="10515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GB" sz="1500" b="0" i="0" dirty="0">
                <a:solidFill>
                  <a:srgbClr val="595959"/>
                </a:solidFill>
                <a:latin typeface="Arial"/>
                <a:cs typeface="Arial"/>
              </a:rPr>
              <a:t>Unlike holidays, these days do not fade: some deepen. Days next to the Assumption stay at about −30.</a:t>
            </a:r>
          </a:p>
        </p:txBody>
      </p:sp>
      <p:sp>
        <p:nvSpPr>
          <p:cNvPr id="51" name="Caption"/>
          <p:cNvSpPr txBox="1"/>
          <p:nvPr/>
        </p:nvSpPr>
        <p:spPr>
          <a:xfrm>
            <a:off x="466344" y="5577840"/>
            <a:ext cx="11256264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GB" sz="1300" b="1" i="0" dirty="0">
                <a:solidFill>
                  <a:srgbClr val="C00000"/>
                </a:solidFill>
                <a:latin typeface="Arial"/>
                <a:cs typeface="Arial"/>
              </a:rPr>
              <a:t>Result · Time-varying coefficients.  </a:t>
            </a:r>
            <a:r>
              <a:rPr lang="en-GB" sz="1300" b="0" i="1" dirty="0">
                <a:solidFill>
                  <a:srgbClr val="7B7C7E"/>
                </a:solidFill>
                <a:latin typeface="Arial"/>
                <a:cs typeface="Arial"/>
              </a:rPr>
              <a:t>Thousand MWh; values at the end of 2012 and of 2025.</a:t>
            </a:r>
          </a:p>
        </p:txBody>
      </p:sp>
    </p:spTree>
    <p:extLst>
      <p:ext uri="{BB962C8B-B14F-4D97-AF65-F5344CB8AC3E}">
        <p14:creationId xmlns:p14="http://schemas.microsoft.com/office/powerpoint/2010/main" val="178191662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1" name="Titolo 4"/>
          <p:cNvSpPr>
            <a:spLocks noGrp="1"/>
          </p:cNvSpPr>
          <p:nvPr>
            <p:ph type="title"/>
          </p:nvPr>
        </p:nvSpPr>
        <p:spPr>
          <a:xfrm>
            <a:off x="468313" y="482109"/>
            <a:ext cx="11269662" cy="405304"/>
          </a:xfrm>
        </p:spPr>
        <p:txBody>
          <a:bodyPr/>
          <a:lstStyle/>
          <a:p>
            <a:r>
              <a:rPr lang="en-GB" altLang="it-IT" sz="3600" dirty="0">
                <a:solidFill>
                  <a:srgbClr val="C00000"/>
                </a:solidFill>
              </a:rPr>
              <a:t>Saturday fades, Easter Tuesday deepens</a:t>
            </a:r>
          </a:p>
        </p:txBody>
      </p:sp>
      <p:sp>
        <p:nvSpPr>
          <p:cNvPr id="9" name="Segnaposto numero diapositiva 4">
            <a:extLst>
              <a:ext uri="{FF2B5EF4-FFF2-40B4-BE49-F238E27FC236}">
                <a16:creationId xmlns:a16="http://schemas.microsoft.com/office/drawing/2014/main" id="{43529721-AF16-448D-9B7A-D70C2ADC200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0" y="6392815"/>
            <a:ext cx="50165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48B4153A-D4C5-4CEF-8992-0D8815C829E3}" type="slidenum">
              <a:rPr lang="en-US" smtClean="0"/>
              <a:pPr>
                <a:defRPr/>
              </a:pPr>
              <a:t>24</a:t>
            </a:fld>
            <a:endParaRPr lang="en-US" dirty="0"/>
          </a:p>
        </p:txBody>
      </p:sp>
      <p:sp>
        <p:nvSpPr>
          <p:cNvPr id="8" name="Segnaposto piè di pagina 3">
            <a:extLst>
              <a:ext uri="{FF2B5EF4-FFF2-40B4-BE49-F238E27FC236}">
                <a16:creationId xmlns:a16="http://schemas.microsoft.com/office/drawing/2014/main" id="{3223DD80-9C7E-474F-A668-27B6983A568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35830" y="6382305"/>
            <a:ext cx="9644444" cy="259965"/>
          </a:xfrm>
        </p:spPr>
        <p:txBody>
          <a:bodyPr/>
          <a:lstStyle/>
          <a:p>
            <a:pPr>
              <a:defRPr/>
            </a:pPr>
            <a:r>
              <a:rPr lang="en-US" dirty="0"/>
              <a:t>Building calendars for daily seasonal adjustment</a:t>
            </a:r>
          </a:p>
        </p:txBody>
      </p:sp>
      <p:pic>
        <p:nvPicPr>
          <p:cNvPr id="40" name="Time-varying coefficients" descr="Time-varying effects of Saturday holidays, the midweek holiday effect and the Easter window, 2012-2025, thousand MW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207008"/>
            <a:ext cx="6874105" cy="4297680"/>
          </a:xfrm>
          <a:prstGeom prst="rect">
            <a:avLst/>
          </a:prstGeom>
        </p:spPr>
      </p:pic>
      <p:sp>
        <p:nvSpPr>
          <p:cNvPr id="41" name="Cards header"/>
          <p:cNvSpPr txBox="1"/>
          <p:nvPr/>
        </p:nvSpPr>
        <p:spPr>
          <a:xfrm>
            <a:off x="7605625" y="1325880"/>
            <a:ext cx="4119727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GB" sz="1800" b="1" i="0" dirty="0">
                <a:solidFill>
                  <a:srgbClr val="595959"/>
                </a:solidFill>
                <a:latin typeface="Arial"/>
                <a:cs typeface="Arial"/>
              </a:rPr>
              <a:t>2012 → 2025</a:t>
            </a:r>
            <a:r>
              <a:rPr lang="en-GB" sz="1400" b="0" i="0" dirty="0">
                <a:solidFill>
                  <a:srgbClr val="7B7C7E"/>
                </a:solidFill>
                <a:latin typeface="Arial"/>
                <a:cs typeface="Arial"/>
              </a:rPr>
              <a:t>   thousand MWh</a:t>
            </a:r>
          </a:p>
        </p:txBody>
      </p:sp>
      <p:sp>
        <p:nvSpPr>
          <p:cNvPr id="42" name="Card 1"/>
          <p:cNvSpPr/>
          <p:nvPr/>
        </p:nvSpPr>
        <p:spPr>
          <a:xfrm>
            <a:off x="7605625" y="1828800"/>
            <a:ext cx="4119727" cy="11430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GB" dirty="0"/>
          </a:p>
        </p:txBody>
      </p:sp>
      <p:sp>
        <p:nvSpPr>
          <p:cNvPr id="43" name="Card 1 label"/>
          <p:cNvSpPr txBox="1"/>
          <p:nvPr/>
        </p:nvSpPr>
        <p:spPr>
          <a:xfrm>
            <a:off x="7806793" y="1938528"/>
            <a:ext cx="3753967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GB" sz="1600" b="1" i="0" dirty="0">
                <a:solidFill>
                  <a:srgbClr val="595959"/>
                </a:solidFill>
                <a:latin typeface="Arial"/>
                <a:cs typeface="Arial"/>
              </a:rPr>
              <a:t>Holiday on Saturday</a:t>
            </a:r>
          </a:p>
        </p:txBody>
      </p:sp>
      <p:sp>
        <p:nvSpPr>
          <p:cNvPr id="44" name="Card 1 values"/>
          <p:cNvSpPr txBox="1"/>
          <p:nvPr/>
        </p:nvSpPr>
        <p:spPr>
          <a:xfrm>
            <a:off x="7806793" y="2286000"/>
            <a:ext cx="3753967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GB" sz="2800" b="1" i="0" dirty="0">
                <a:solidFill>
                  <a:srgbClr val="7B7C7E"/>
                </a:solidFill>
                <a:latin typeface="Arial"/>
                <a:cs typeface="Arial"/>
              </a:rPr>
              <a:t>−73</a:t>
            </a:r>
            <a:r>
              <a:rPr lang="en-GB" sz="2200" b="0" i="0" dirty="0">
                <a:solidFill>
                  <a:srgbClr val="7B7C7E"/>
                </a:solidFill>
                <a:latin typeface="Arial"/>
                <a:cs typeface="Arial"/>
              </a:rPr>
              <a:t>  →  </a:t>
            </a:r>
            <a:r>
              <a:rPr lang="en-GB" sz="2800" b="1" i="0" dirty="0">
                <a:solidFill>
                  <a:srgbClr val="C00000"/>
                </a:solidFill>
                <a:latin typeface="Arial"/>
                <a:cs typeface="Arial"/>
              </a:rPr>
              <a:t>−55</a:t>
            </a:r>
          </a:p>
        </p:txBody>
      </p:sp>
      <p:sp>
        <p:nvSpPr>
          <p:cNvPr id="45" name="Card 2"/>
          <p:cNvSpPr/>
          <p:nvPr/>
        </p:nvSpPr>
        <p:spPr>
          <a:xfrm>
            <a:off x="7605625" y="3108960"/>
            <a:ext cx="4119727" cy="11430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GB" dirty="0"/>
          </a:p>
        </p:txBody>
      </p:sp>
      <p:sp>
        <p:nvSpPr>
          <p:cNvPr id="46" name="Card 2 label"/>
          <p:cNvSpPr txBox="1"/>
          <p:nvPr/>
        </p:nvSpPr>
        <p:spPr>
          <a:xfrm>
            <a:off x="7806793" y="3218688"/>
            <a:ext cx="3753967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GB" sz="1600" b="1" i="0" dirty="0">
                <a:solidFill>
                  <a:srgbClr val="595959"/>
                </a:solidFill>
                <a:latin typeface="Arial"/>
                <a:cs typeface="Arial"/>
              </a:rPr>
              <a:t>Easter Tuesday</a:t>
            </a:r>
          </a:p>
        </p:txBody>
      </p:sp>
      <p:sp>
        <p:nvSpPr>
          <p:cNvPr id="47" name="Card 2 values"/>
          <p:cNvSpPr txBox="1"/>
          <p:nvPr/>
        </p:nvSpPr>
        <p:spPr>
          <a:xfrm>
            <a:off x="7806793" y="3566160"/>
            <a:ext cx="3753967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GB" sz="2800" b="1" i="0" dirty="0">
                <a:solidFill>
                  <a:srgbClr val="7B7C7E"/>
                </a:solidFill>
                <a:latin typeface="Arial"/>
                <a:cs typeface="Arial"/>
              </a:rPr>
              <a:t>−30</a:t>
            </a:r>
            <a:r>
              <a:rPr lang="en-GB" sz="2200" b="0" i="0" dirty="0">
                <a:solidFill>
                  <a:srgbClr val="7B7C7E"/>
                </a:solidFill>
                <a:latin typeface="Arial"/>
                <a:cs typeface="Arial"/>
              </a:rPr>
              <a:t>  →  </a:t>
            </a:r>
            <a:r>
              <a:rPr lang="en-GB" sz="2800" b="1" i="0" dirty="0">
                <a:solidFill>
                  <a:srgbClr val="C00000"/>
                </a:solidFill>
                <a:latin typeface="Arial"/>
                <a:cs typeface="Arial"/>
              </a:rPr>
              <a:t>−46</a:t>
            </a:r>
          </a:p>
        </p:txBody>
      </p:sp>
      <p:sp>
        <p:nvSpPr>
          <p:cNvPr id="50" name="Note"/>
          <p:cNvSpPr txBox="1"/>
          <p:nvPr/>
        </p:nvSpPr>
        <p:spPr>
          <a:xfrm>
            <a:off x="7605625" y="4434840"/>
            <a:ext cx="4119727" cy="10515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GB" sz="1500" b="0" i="0" dirty="0">
                <a:solidFill>
                  <a:srgbClr val="595959"/>
                </a:solidFill>
                <a:latin typeface="Arial"/>
                <a:cs typeface="Arial"/>
              </a:rPr>
              <a:t>The midweek effect (−21 → +2) overlaps with the single holidays: read it together with them.</a:t>
            </a:r>
          </a:p>
        </p:txBody>
      </p:sp>
      <p:sp>
        <p:nvSpPr>
          <p:cNvPr id="51" name="Caption"/>
          <p:cNvSpPr txBox="1"/>
          <p:nvPr/>
        </p:nvSpPr>
        <p:spPr>
          <a:xfrm>
            <a:off x="466344" y="5577840"/>
            <a:ext cx="11256264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GB" sz="1300" b="1" i="0" dirty="0">
                <a:solidFill>
                  <a:srgbClr val="C00000"/>
                </a:solidFill>
                <a:latin typeface="Arial"/>
                <a:cs typeface="Arial"/>
              </a:rPr>
              <a:t>Result · Time-varying coefficients.  </a:t>
            </a:r>
            <a:r>
              <a:rPr lang="en-GB" sz="1300" b="0" i="1" dirty="0">
                <a:solidFill>
                  <a:srgbClr val="7B7C7E"/>
                </a:solidFill>
                <a:latin typeface="Arial"/>
                <a:cs typeface="Arial"/>
              </a:rPr>
              <a:t>Thousand MWh; values at the end of 2012 and of 2025.</a:t>
            </a:r>
          </a:p>
        </p:txBody>
      </p:sp>
    </p:spTree>
    <p:extLst>
      <p:ext uri="{BB962C8B-B14F-4D97-AF65-F5344CB8AC3E}">
        <p14:creationId xmlns:p14="http://schemas.microsoft.com/office/powerpoint/2010/main" val="178191662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1" name="Titolo 4"/>
          <p:cNvSpPr>
            <a:spLocks noGrp="1"/>
          </p:cNvSpPr>
          <p:nvPr>
            <p:ph type="title"/>
          </p:nvPr>
        </p:nvSpPr>
        <p:spPr>
          <a:xfrm>
            <a:off x="468313" y="482109"/>
            <a:ext cx="11269662" cy="405304"/>
          </a:xfrm>
        </p:spPr>
        <p:txBody>
          <a:bodyPr/>
          <a:lstStyle/>
          <a:p>
            <a:r>
              <a:rPr lang="en-GB" altLang="it-IT" sz="3600" dirty="0">
                <a:solidFill>
                  <a:srgbClr val="C00000"/>
                </a:solidFill>
              </a:rPr>
              <a:t>Revisions: special days need the calendar</a:t>
            </a:r>
          </a:p>
        </p:txBody>
      </p:sp>
      <p:sp>
        <p:nvSpPr>
          <p:cNvPr id="9" name="Segnaposto numero diapositiva 4">
            <a:extLst>
              <a:ext uri="{FF2B5EF4-FFF2-40B4-BE49-F238E27FC236}">
                <a16:creationId xmlns:a16="http://schemas.microsoft.com/office/drawing/2014/main" id="{43529721-AF16-448D-9B7A-D70C2ADC200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0" y="6392815"/>
            <a:ext cx="50165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48B4153A-D4C5-4CEF-8992-0D8815C829E3}" type="slidenum">
              <a:rPr lang="en-US" smtClean="0"/>
              <a:pPr>
                <a:defRPr/>
              </a:pPr>
              <a:t>25</a:t>
            </a:fld>
            <a:endParaRPr lang="en-US" dirty="0"/>
          </a:p>
        </p:txBody>
      </p:sp>
      <p:sp>
        <p:nvSpPr>
          <p:cNvPr id="8" name="Segnaposto piè di pagina 3">
            <a:extLst>
              <a:ext uri="{FF2B5EF4-FFF2-40B4-BE49-F238E27FC236}">
                <a16:creationId xmlns:a16="http://schemas.microsoft.com/office/drawing/2014/main" id="{3223DD80-9C7E-474F-A668-27B6983A568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35830" y="6382305"/>
            <a:ext cx="9644444" cy="259965"/>
          </a:xfrm>
        </p:spPr>
        <p:txBody>
          <a:bodyPr/>
          <a:lstStyle/>
          <a:p>
            <a:pPr>
              <a:defRPr/>
            </a:pPr>
            <a:r>
              <a:rPr lang="en-US" dirty="0"/>
              <a:t>Building calendars for daily seasonal adjustment</a:t>
            </a:r>
          </a:p>
        </p:txBody>
      </p:sp>
      <p:pic>
        <p:nvPicPr>
          <p:cNvPr id="40" name="Revisions special vs other days" descr="Mean absolute revision over the last year of each vintage, special days and other days, for four specifications of the electricity calenda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056" y="1216152"/>
            <a:ext cx="6116695" cy="4206240"/>
          </a:xfrm>
          <a:prstGeom prst="rect">
            <a:avLst/>
          </a:prstGeom>
        </p:spPr>
      </p:pic>
      <p:sp>
        <p:nvSpPr>
          <p:cNvPr id="41" name="Cards header"/>
          <p:cNvSpPr txBox="1"/>
          <p:nvPr/>
        </p:nvSpPr>
        <p:spPr>
          <a:xfrm>
            <a:off x="7459367" y="1280160"/>
            <a:ext cx="4265984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GB" sz="1800" b="1" i="0" dirty="0">
                <a:solidFill>
                  <a:srgbClr val="595959"/>
                </a:solidFill>
                <a:latin typeface="Arial"/>
                <a:cs typeface="Arial"/>
              </a:rPr>
              <a:t>Special days</a:t>
            </a:r>
            <a:r>
              <a:rPr lang="en-GB" sz="1400" b="0" i="0" dirty="0">
                <a:solidFill>
                  <a:srgbClr val="7B7C7E"/>
                </a:solidFill>
                <a:latin typeface="Arial"/>
                <a:cs typeface="Arial"/>
              </a:rPr>
              <a:t>   basic → final</a:t>
            </a:r>
          </a:p>
        </p:txBody>
      </p:sp>
      <p:sp>
        <p:nvSpPr>
          <p:cNvPr id="42" name="Rev card 1"/>
          <p:cNvSpPr/>
          <p:nvPr/>
        </p:nvSpPr>
        <p:spPr>
          <a:xfrm>
            <a:off x="7459367" y="1783080"/>
            <a:ext cx="4265984" cy="11430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GB" dirty="0"/>
          </a:p>
        </p:txBody>
      </p:sp>
      <p:sp>
        <p:nvSpPr>
          <p:cNvPr id="43" name="Rev card label 1"/>
          <p:cNvSpPr txBox="1"/>
          <p:nvPr/>
        </p:nvSpPr>
        <p:spPr>
          <a:xfrm>
            <a:off x="7642247" y="1874520"/>
            <a:ext cx="3900224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GB" sz="1500" b="1" i="0" dirty="0">
                <a:solidFill>
                  <a:srgbClr val="595959"/>
                </a:solidFill>
                <a:latin typeface="Arial"/>
                <a:cs typeface="Arial"/>
              </a:rPr>
              <a:t>Fixed coefficients (A → B)</a:t>
            </a:r>
          </a:p>
        </p:txBody>
      </p:sp>
      <p:sp>
        <p:nvSpPr>
          <p:cNvPr id="44" name="Rev card values 1"/>
          <p:cNvSpPr txBox="1"/>
          <p:nvPr/>
        </p:nvSpPr>
        <p:spPr>
          <a:xfrm>
            <a:off x="7642247" y="2240280"/>
            <a:ext cx="3900224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GB" sz="2400" b="1" i="0" dirty="0">
                <a:solidFill>
                  <a:srgbClr val="C00000"/>
                </a:solidFill>
                <a:latin typeface="Arial"/>
                <a:cs typeface="Arial"/>
              </a:rPr>
              <a:t>0.50%</a:t>
            </a:r>
            <a:r>
              <a:rPr lang="en-GB" sz="1800" b="0" i="0" dirty="0">
                <a:solidFill>
                  <a:srgbClr val="7B7C7E"/>
                </a:solidFill>
                <a:latin typeface="Arial"/>
                <a:cs typeface="Arial"/>
              </a:rPr>
              <a:t>  →  </a:t>
            </a:r>
            <a:r>
              <a:rPr lang="en-GB" sz="2400" b="1" i="0" dirty="0">
                <a:solidFill>
                  <a:srgbClr val="0072B2"/>
                </a:solidFill>
                <a:latin typeface="Arial"/>
                <a:cs typeface="Arial"/>
              </a:rPr>
              <a:t>0.19%</a:t>
            </a:r>
            <a:r>
              <a:rPr lang="en-GB" sz="1600" b="1" i="0" dirty="0">
                <a:solidFill>
                  <a:srgbClr val="7B7C7E"/>
                </a:solidFill>
                <a:latin typeface="Arial"/>
                <a:cs typeface="Arial"/>
              </a:rPr>
              <a:t>   −63%</a:t>
            </a:r>
          </a:p>
        </p:txBody>
      </p:sp>
      <p:sp>
        <p:nvSpPr>
          <p:cNvPr id="45" name="Rev card 2"/>
          <p:cNvSpPr/>
          <p:nvPr/>
        </p:nvSpPr>
        <p:spPr>
          <a:xfrm>
            <a:off x="7459367" y="3063240"/>
            <a:ext cx="4265984" cy="11430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GB" dirty="0"/>
          </a:p>
        </p:txBody>
      </p:sp>
      <p:sp>
        <p:nvSpPr>
          <p:cNvPr id="46" name="Rev card label 2"/>
          <p:cNvSpPr txBox="1"/>
          <p:nvPr/>
        </p:nvSpPr>
        <p:spPr>
          <a:xfrm>
            <a:off x="7642247" y="3154680"/>
            <a:ext cx="3900224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GB" sz="1500" b="1" i="0" dirty="0">
                <a:solidFill>
                  <a:srgbClr val="595959"/>
                </a:solidFill>
                <a:latin typeface="Arial"/>
                <a:cs typeface="Arial"/>
              </a:rPr>
              <a:t>Time-varying (C → D)</a:t>
            </a:r>
          </a:p>
        </p:txBody>
      </p:sp>
      <p:sp>
        <p:nvSpPr>
          <p:cNvPr id="47" name="Rev card values 2"/>
          <p:cNvSpPr txBox="1"/>
          <p:nvPr/>
        </p:nvSpPr>
        <p:spPr>
          <a:xfrm>
            <a:off x="7642247" y="3520440"/>
            <a:ext cx="3900224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GB" sz="2400" b="1" i="0" dirty="0">
                <a:solidFill>
                  <a:srgbClr val="C00000"/>
                </a:solidFill>
                <a:latin typeface="Arial"/>
                <a:cs typeface="Arial"/>
              </a:rPr>
              <a:t>0.31%</a:t>
            </a:r>
            <a:r>
              <a:rPr lang="en-GB" sz="1800" b="0" i="0" dirty="0">
                <a:solidFill>
                  <a:srgbClr val="7B7C7E"/>
                </a:solidFill>
                <a:latin typeface="Arial"/>
                <a:cs typeface="Arial"/>
              </a:rPr>
              <a:t>  →  </a:t>
            </a:r>
            <a:r>
              <a:rPr lang="en-GB" sz="2400" b="1" i="0" dirty="0">
                <a:solidFill>
                  <a:srgbClr val="0072B2"/>
                </a:solidFill>
                <a:latin typeface="Arial"/>
                <a:cs typeface="Arial"/>
              </a:rPr>
              <a:t>0.23%</a:t>
            </a:r>
            <a:r>
              <a:rPr lang="en-GB" sz="1600" b="1" i="0" dirty="0">
                <a:solidFill>
                  <a:srgbClr val="7B7C7E"/>
                </a:solidFill>
                <a:latin typeface="Arial"/>
                <a:cs typeface="Arial"/>
              </a:rPr>
              <a:t>   −26%</a:t>
            </a:r>
          </a:p>
        </p:txBody>
      </p:sp>
      <p:sp>
        <p:nvSpPr>
          <p:cNvPr id="50" name="Rev note"/>
          <p:cNvSpPr txBox="1"/>
          <p:nvPr/>
        </p:nvSpPr>
        <p:spPr>
          <a:xfrm>
            <a:off x="7459367" y="4434840"/>
            <a:ext cx="4265984" cy="10058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GB" sz="1400" b="0" i="0" dirty="0">
                <a:solidFill>
                  <a:srgbClr val="595959"/>
                </a:solidFill>
                <a:latin typeface="Arial"/>
                <a:cs typeface="Arial"/>
              </a:rPr>
              <a:t>Other days: similar for all versions. Final calendar with time-varying coefficients: smallest revisions overall (0.15%).</a:t>
            </a:r>
          </a:p>
        </p:txBody>
      </p:sp>
      <p:sp>
        <p:nvSpPr>
          <p:cNvPr id="51" name="Caption"/>
          <p:cNvSpPr txBox="1"/>
          <p:nvPr/>
        </p:nvSpPr>
        <p:spPr>
          <a:xfrm>
            <a:off x="466344" y="5532120"/>
            <a:ext cx="11256264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GB" sz="1300" b="1" i="0" dirty="0">
                <a:solidFill>
                  <a:srgbClr val="C00000"/>
                </a:solidFill>
                <a:latin typeface="Arial"/>
                <a:cs typeface="Arial"/>
              </a:rPr>
              <a:t>Result · Revisions, electricity.  </a:t>
            </a:r>
            <a:r>
              <a:rPr lang="en-GB" sz="1300" b="0" i="1" dirty="0">
                <a:solidFill>
                  <a:srgbClr val="7B7C7E"/>
                </a:solidFill>
                <a:latin typeface="Arial"/>
                <a:cs typeface="Arial"/>
              </a:rPr>
              <a:t>Full sample vs six vintages ending 7 to 730 days earlier; mean absolute revision (%) over the last year of each vintage; about 24 special days per year.</a:t>
            </a:r>
          </a:p>
        </p:txBody>
      </p:sp>
    </p:spTree>
    <p:extLst>
      <p:ext uri="{BB962C8B-B14F-4D97-AF65-F5344CB8AC3E}">
        <p14:creationId xmlns:p14="http://schemas.microsoft.com/office/powerpoint/2010/main" val="178191662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1" name="Titolo 4"/>
          <p:cNvSpPr>
            <a:spLocks noGrp="1"/>
          </p:cNvSpPr>
          <p:nvPr>
            <p:ph type="title"/>
          </p:nvPr>
        </p:nvSpPr>
        <p:spPr>
          <a:xfrm>
            <a:off x="468313" y="482109"/>
            <a:ext cx="11269662" cy="405304"/>
          </a:xfrm>
        </p:spPr>
        <p:txBody>
          <a:bodyPr/>
          <a:lstStyle/>
          <a:p>
            <a:r>
              <a:rPr lang="en-GB" altLang="it-IT" sz="3600" dirty="0">
                <a:solidFill>
                  <a:srgbClr val="C00000"/>
                </a:solidFill>
              </a:rPr>
              <a:t>A good calendar also stabilises the outliers</a:t>
            </a:r>
          </a:p>
        </p:txBody>
      </p:sp>
      <p:sp>
        <p:nvSpPr>
          <p:cNvPr id="9" name="Segnaposto numero diapositiva 4">
            <a:extLst>
              <a:ext uri="{FF2B5EF4-FFF2-40B4-BE49-F238E27FC236}">
                <a16:creationId xmlns:a16="http://schemas.microsoft.com/office/drawing/2014/main" id="{43529721-AF16-448D-9B7A-D70C2ADC200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0" y="6392815"/>
            <a:ext cx="50165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48B4153A-D4C5-4CEF-8992-0D8815C829E3}" type="slidenum">
              <a:rPr lang="en-US" smtClean="0"/>
              <a:pPr>
                <a:defRPr/>
              </a:pPr>
              <a:t>26</a:t>
            </a:fld>
            <a:endParaRPr lang="en-US" dirty="0"/>
          </a:p>
        </p:txBody>
      </p:sp>
      <p:sp>
        <p:nvSpPr>
          <p:cNvPr id="8" name="Segnaposto piè di pagina 3">
            <a:extLst>
              <a:ext uri="{FF2B5EF4-FFF2-40B4-BE49-F238E27FC236}">
                <a16:creationId xmlns:a16="http://schemas.microsoft.com/office/drawing/2014/main" id="{3223DD80-9C7E-474F-A668-27B6983A568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35830" y="6382305"/>
            <a:ext cx="9644444" cy="259965"/>
          </a:xfrm>
        </p:spPr>
        <p:txBody>
          <a:bodyPr/>
          <a:lstStyle/>
          <a:p>
            <a:pPr>
              <a:defRPr/>
            </a:pPr>
            <a:r>
              <a:rPr lang="en-US" dirty="0"/>
              <a:t>Building calendars for daily seasonal adjustment</a:t>
            </a:r>
          </a:p>
        </p:txBody>
      </p:sp>
      <p:sp>
        <p:nvSpPr>
          <p:cNvPr id="20" name="Outlier card 1"/>
          <p:cNvSpPr/>
          <p:nvPr/>
        </p:nvSpPr>
        <p:spPr>
          <a:xfrm>
            <a:off x="466344" y="1298448"/>
            <a:ext cx="5486400" cy="187452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GB" dirty="0"/>
          </a:p>
        </p:txBody>
      </p:sp>
      <p:sp>
        <p:nvSpPr>
          <p:cNvPr id="21" name="Outlier letter 1"/>
          <p:cNvSpPr/>
          <p:nvPr/>
        </p:nvSpPr>
        <p:spPr>
          <a:xfrm>
            <a:off x="694944" y="1499616"/>
            <a:ext cx="502920" cy="50292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GB" sz="1800" b="1" i="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</a:p>
        </p:txBody>
      </p:sp>
      <p:sp>
        <p:nvSpPr>
          <p:cNvPr id="22" name="Outlier heading 1"/>
          <p:cNvSpPr txBox="1"/>
          <p:nvPr/>
        </p:nvSpPr>
        <p:spPr>
          <a:xfrm>
            <a:off x="1380744" y="1536192"/>
            <a:ext cx="434340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GB" sz="1800" b="1" i="0" dirty="0">
                <a:solidFill>
                  <a:srgbClr val="595959"/>
                </a:solidFill>
                <a:latin typeface="Arial"/>
                <a:cs typeface="Arial"/>
              </a:rPr>
              <a:t>Basic, fixed</a:t>
            </a:r>
          </a:p>
        </p:txBody>
      </p:sp>
      <p:sp>
        <p:nvSpPr>
          <p:cNvPr id="23" name="Outlier text 1"/>
          <p:cNvSpPr txBox="1"/>
          <p:nvPr/>
        </p:nvSpPr>
        <p:spPr>
          <a:xfrm>
            <a:off x="1380744" y="2029968"/>
            <a:ext cx="4343400" cy="10515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GB" sz="1400" b="0" i="0" dirty="0">
                <a:solidFill>
                  <a:srgbClr val="636462"/>
                </a:solidFill>
                <a:latin typeface="Arial"/>
                <a:cs typeface="Arial"/>
              </a:rPr>
              <a:t>23 of 28 outliers on weekend holidays, and they come and go: All Saints' Day 2025, New Year's Days 2017 and 2023; Epiphany 2024 changes type and date.</a:t>
            </a:r>
          </a:p>
        </p:txBody>
      </p:sp>
      <p:sp>
        <p:nvSpPr>
          <p:cNvPr id="25" name="Outlier card 2"/>
          <p:cNvSpPr/>
          <p:nvPr/>
        </p:nvSpPr>
        <p:spPr>
          <a:xfrm>
            <a:off x="6236208" y="1298448"/>
            <a:ext cx="5486400" cy="187452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GB" dirty="0"/>
          </a:p>
        </p:txBody>
      </p:sp>
      <p:sp>
        <p:nvSpPr>
          <p:cNvPr id="26" name="Outlier letter 2"/>
          <p:cNvSpPr/>
          <p:nvPr/>
        </p:nvSpPr>
        <p:spPr>
          <a:xfrm>
            <a:off x="6464808" y="1499616"/>
            <a:ext cx="502920" cy="502920"/>
          </a:xfrm>
          <a:prstGeom prst="ellipse">
            <a:avLst/>
          </a:prstGeom>
          <a:solidFill>
            <a:srgbClr val="942639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GB" sz="1800" b="1" i="0" dirty="0">
                <a:solidFill>
                  <a:srgbClr val="FFFFFF"/>
                </a:solidFill>
                <a:latin typeface="Arial"/>
                <a:cs typeface="Arial"/>
              </a:rPr>
              <a:t>B</a:t>
            </a:r>
          </a:p>
        </p:txBody>
      </p:sp>
      <p:sp>
        <p:nvSpPr>
          <p:cNvPr id="27" name="Outlier heading 2"/>
          <p:cNvSpPr txBox="1"/>
          <p:nvPr/>
        </p:nvSpPr>
        <p:spPr>
          <a:xfrm>
            <a:off x="7150608" y="1536192"/>
            <a:ext cx="434340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GB" sz="1800" b="1" i="0" dirty="0">
                <a:solidFill>
                  <a:srgbClr val="595959"/>
                </a:solidFill>
                <a:latin typeface="Arial"/>
                <a:cs typeface="Arial"/>
              </a:rPr>
              <a:t>Final, fixed</a:t>
            </a:r>
          </a:p>
        </p:txBody>
      </p:sp>
      <p:sp>
        <p:nvSpPr>
          <p:cNvPr id="28" name="Outlier text 2"/>
          <p:cNvSpPr txBox="1"/>
          <p:nvPr/>
        </p:nvSpPr>
        <p:spPr>
          <a:xfrm>
            <a:off x="7150608" y="2029968"/>
            <a:ext cx="4343400" cy="10515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GB" sz="1400" b="0" i="0" dirty="0">
                <a:solidFill>
                  <a:srgbClr val="636462"/>
                </a:solidFill>
                <a:latin typeface="Arial"/>
                <a:cs typeface="Arial"/>
              </a:rPr>
              <a:t>Weather outliers unstable: the 2015 storm and the 2023 summer level shifts appear only in some vintages. One day revised by 65 thousand MWh.</a:t>
            </a:r>
          </a:p>
        </p:txBody>
      </p:sp>
      <p:sp>
        <p:nvSpPr>
          <p:cNvPr id="30" name="Outlier card 3"/>
          <p:cNvSpPr/>
          <p:nvPr/>
        </p:nvSpPr>
        <p:spPr>
          <a:xfrm>
            <a:off x="466344" y="3355848"/>
            <a:ext cx="5486400" cy="187452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GB" dirty="0"/>
          </a:p>
        </p:txBody>
      </p:sp>
      <p:sp>
        <p:nvSpPr>
          <p:cNvPr id="31" name="Outlier letter 3"/>
          <p:cNvSpPr/>
          <p:nvPr/>
        </p:nvSpPr>
        <p:spPr>
          <a:xfrm>
            <a:off x="694944" y="3557016"/>
            <a:ext cx="502920" cy="502920"/>
          </a:xfrm>
          <a:prstGeom prst="ellipse">
            <a:avLst/>
          </a:prstGeom>
          <a:solidFill>
            <a:srgbClr val="7B7C7E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GB" sz="1800" b="1" i="0" dirty="0">
                <a:solidFill>
                  <a:srgbClr val="FFFFFF"/>
                </a:solidFill>
                <a:latin typeface="Arial"/>
                <a:cs typeface="Arial"/>
              </a:rPr>
              <a:t>C</a:t>
            </a:r>
          </a:p>
        </p:txBody>
      </p:sp>
      <p:sp>
        <p:nvSpPr>
          <p:cNvPr id="32" name="Outlier heading 3"/>
          <p:cNvSpPr txBox="1"/>
          <p:nvPr/>
        </p:nvSpPr>
        <p:spPr>
          <a:xfrm>
            <a:off x="1380744" y="3593592"/>
            <a:ext cx="434340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GB" sz="1800" b="1" i="0" dirty="0">
                <a:solidFill>
                  <a:srgbClr val="595959"/>
                </a:solidFill>
                <a:latin typeface="Arial"/>
                <a:cs typeface="Arial"/>
              </a:rPr>
              <a:t>Basic, time-varying</a:t>
            </a:r>
          </a:p>
        </p:txBody>
      </p:sp>
      <p:sp>
        <p:nvSpPr>
          <p:cNvPr id="33" name="Outlier text 3"/>
          <p:cNvSpPr txBox="1"/>
          <p:nvPr/>
        </p:nvSpPr>
        <p:spPr>
          <a:xfrm>
            <a:off x="1380744" y="4087368"/>
            <a:ext cx="4343400" cy="10515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GB" sz="1400" b="0" i="0" dirty="0">
                <a:solidFill>
                  <a:srgbClr val="636462"/>
                </a:solidFill>
                <a:latin typeface="Arial"/>
                <a:cs typeface="Arial"/>
              </a:rPr>
              <a:t>No outlier on holidays, but the error is still there: the coefficients move to absorb it, and are revised as data arrive. A switch outlier sits next to the 2016 All Saints' bridge.</a:t>
            </a:r>
          </a:p>
        </p:txBody>
      </p:sp>
      <p:sp>
        <p:nvSpPr>
          <p:cNvPr id="35" name="Outlier card 4"/>
          <p:cNvSpPr/>
          <p:nvPr/>
        </p:nvSpPr>
        <p:spPr>
          <a:xfrm>
            <a:off x="6236208" y="3355848"/>
            <a:ext cx="5486400" cy="187452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GB" dirty="0"/>
          </a:p>
        </p:txBody>
      </p:sp>
      <p:sp>
        <p:nvSpPr>
          <p:cNvPr id="36" name="Outlier letter 4"/>
          <p:cNvSpPr/>
          <p:nvPr/>
        </p:nvSpPr>
        <p:spPr>
          <a:xfrm>
            <a:off x="6464808" y="3557016"/>
            <a:ext cx="502920" cy="502920"/>
          </a:xfrm>
          <a:prstGeom prst="ellipse">
            <a:avLst/>
          </a:prstGeom>
          <a:solidFill>
            <a:srgbClr val="0072B2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GB" sz="1800" b="1" i="0" dirty="0">
                <a:solidFill>
                  <a:srgbClr val="FFFFFF"/>
                </a:solidFill>
                <a:latin typeface="Arial"/>
                <a:cs typeface="Arial"/>
              </a:rPr>
              <a:t>D</a:t>
            </a:r>
          </a:p>
        </p:txBody>
      </p:sp>
      <p:sp>
        <p:nvSpPr>
          <p:cNvPr id="37" name="Outlier heading 4"/>
          <p:cNvSpPr txBox="1"/>
          <p:nvPr/>
        </p:nvSpPr>
        <p:spPr>
          <a:xfrm>
            <a:off x="7150608" y="3593592"/>
            <a:ext cx="434340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GB" sz="1800" b="1" i="0" dirty="0">
                <a:solidFill>
                  <a:srgbClr val="595959"/>
                </a:solidFill>
                <a:latin typeface="Arial"/>
                <a:cs typeface="Arial"/>
              </a:rPr>
              <a:t>Final, time-varying (adopted)</a:t>
            </a:r>
          </a:p>
        </p:txBody>
      </p:sp>
      <p:sp>
        <p:nvSpPr>
          <p:cNvPr id="38" name="Outlier text 4"/>
          <p:cNvSpPr txBox="1"/>
          <p:nvPr/>
        </p:nvSpPr>
        <p:spPr>
          <a:xfrm>
            <a:off x="7150608" y="4087368"/>
            <a:ext cx="4343400" cy="10515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GB" sz="1400" b="0" i="0" dirty="0">
                <a:solidFill>
                  <a:srgbClr val="636462"/>
                </a:solidFill>
                <a:latin typeface="Arial"/>
                <a:cs typeface="Arial"/>
              </a:rPr>
              <a:t>The same outliers in all estimates, or all but one; on holidays only the Covid reopening of April 2020, a real event. Largest single-day revision below 10 thousand MWh.</a:t>
            </a:r>
          </a:p>
        </p:txBody>
      </p:sp>
      <p:sp>
        <p:nvSpPr>
          <p:cNvPr id="50" name="Take-home"/>
          <p:cNvSpPr txBox="1"/>
          <p:nvPr/>
        </p:nvSpPr>
        <p:spPr>
          <a:xfrm>
            <a:off x="466344" y="5532120"/>
            <a:ext cx="11256264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GB" sz="1800" b="1" i="0" dirty="0">
                <a:solidFill>
                  <a:srgbClr val="C00000"/>
                </a:solidFill>
                <a:latin typeface="Arial"/>
                <a:cs typeface="Arial"/>
              </a:rPr>
              <a:t>A well-specified calendar makes the whole model more stable, not only the calendar days.</a:t>
            </a:r>
          </a:p>
        </p:txBody>
      </p:sp>
    </p:spTree>
    <p:extLst>
      <p:ext uri="{BB962C8B-B14F-4D97-AF65-F5344CB8AC3E}">
        <p14:creationId xmlns:p14="http://schemas.microsoft.com/office/powerpoint/2010/main" val="178191662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1" name="Titolo 4"/>
          <p:cNvSpPr>
            <a:spLocks noGrp="1"/>
          </p:cNvSpPr>
          <p:nvPr>
            <p:ph type="title"/>
          </p:nvPr>
        </p:nvSpPr>
        <p:spPr>
          <a:xfrm>
            <a:off x="468313" y="482109"/>
            <a:ext cx="11269662" cy="405304"/>
          </a:xfrm>
        </p:spPr>
        <p:txBody>
          <a:bodyPr/>
          <a:lstStyle/>
          <a:p>
            <a:r>
              <a:rPr lang="en-GB" altLang="it-IT" sz="3600" dirty="0">
                <a:solidFill>
                  <a:srgbClr val="C00000"/>
                </a:solidFill>
              </a:rPr>
              <a:t>Standard diagnostics barely see the calendar</a:t>
            </a:r>
          </a:p>
        </p:txBody>
      </p:sp>
      <p:sp>
        <p:nvSpPr>
          <p:cNvPr id="9" name="Segnaposto numero diapositiva 4">
            <a:extLst>
              <a:ext uri="{FF2B5EF4-FFF2-40B4-BE49-F238E27FC236}">
                <a16:creationId xmlns:a16="http://schemas.microsoft.com/office/drawing/2014/main" id="{43529721-AF16-448D-9B7A-D70C2ADC200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0" y="6392815"/>
            <a:ext cx="50165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48B4153A-D4C5-4CEF-8992-0D8815C829E3}" type="slidenum">
              <a:rPr lang="en-US" smtClean="0"/>
              <a:pPr>
                <a:defRPr/>
              </a:pPr>
              <a:t>27</a:t>
            </a:fld>
            <a:endParaRPr lang="en-US" dirty="0"/>
          </a:p>
        </p:txBody>
      </p:sp>
      <p:sp>
        <p:nvSpPr>
          <p:cNvPr id="8" name="Segnaposto piè di pagina 3">
            <a:extLst>
              <a:ext uri="{FF2B5EF4-FFF2-40B4-BE49-F238E27FC236}">
                <a16:creationId xmlns:a16="http://schemas.microsoft.com/office/drawing/2014/main" id="{3223DD80-9C7E-474F-A668-27B6983A568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35830" y="6382305"/>
            <a:ext cx="9644444" cy="259965"/>
          </a:xfrm>
        </p:spPr>
        <p:txBody>
          <a:bodyPr/>
          <a:lstStyle/>
          <a:p>
            <a:pPr>
              <a:defRPr/>
            </a:pPr>
            <a:r>
              <a:rPr lang="en-US" dirty="0"/>
              <a:t>Building calendars for daily seasonal adjustment</a:t>
            </a:r>
          </a:p>
        </p:txBody>
      </p:sp>
      <p:pic>
        <p:nvPicPr>
          <p:cNvPr id="40" name="KDE of rolling autocorrelations" descr="Densities of rolling autocorrelations at lags 7, 30 and 365 for e-invoicing and electricity demand: raw series, basic calendar and final calenda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" y="1170432"/>
            <a:ext cx="6076143" cy="4389120"/>
          </a:xfrm>
          <a:prstGeom prst="rect">
            <a:avLst/>
          </a:prstGeom>
        </p:spPr>
      </p:pic>
      <p:sp>
        <p:nvSpPr>
          <p:cNvPr id="41" name="Point card 1"/>
          <p:cNvSpPr/>
          <p:nvPr/>
        </p:nvSpPr>
        <p:spPr>
          <a:xfrm>
            <a:off x="6908247" y="1280160"/>
            <a:ext cx="4817104" cy="1261872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GB" dirty="0"/>
          </a:p>
        </p:txBody>
      </p:sp>
      <p:sp>
        <p:nvSpPr>
          <p:cNvPr id="42" name="Point heading 1"/>
          <p:cNvSpPr txBox="1"/>
          <p:nvPr/>
        </p:nvSpPr>
        <p:spPr>
          <a:xfrm>
            <a:off x="7109415" y="1371600"/>
            <a:ext cx="4451344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GB" sz="1700" b="1" i="0" dirty="0">
                <a:solidFill>
                  <a:srgbClr val="C00000"/>
                </a:solidFill>
                <a:latin typeface="Arial"/>
                <a:cs typeface="Arial"/>
              </a:rPr>
              <a:t>Seasonality: removed</a:t>
            </a:r>
          </a:p>
        </p:txBody>
      </p:sp>
      <p:sp>
        <p:nvSpPr>
          <p:cNvPr id="43" name="Point text 1"/>
          <p:cNvSpPr txBox="1"/>
          <p:nvPr/>
        </p:nvSpPr>
        <p:spPr>
          <a:xfrm>
            <a:off x="7109415" y="1737360"/>
            <a:ext cx="4451344" cy="777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GB" sz="1300" b="0" i="0" dirty="0">
                <a:solidFill>
                  <a:srgbClr val="595959"/>
                </a:solidFill>
                <a:latin typeface="Arial"/>
                <a:cs typeface="Arial"/>
              </a:rPr>
              <a:t>The raw series is far from 0 at every lag; after adjustment all densities are centred around 0.</a:t>
            </a:r>
          </a:p>
        </p:txBody>
      </p:sp>
      <p:sp>
        <p:nvSpPr>
          <p:cNvPr id="44" name="Point card 2"/>
          <p:cNvSpPr/>
          <p:nvPr/>
        </p:nvSpPr>
        <p:spPr>
          <a:xfrm>
            <a:off x="6908247" y="2651760"/>
            <a:ext cx="4817104" cy="1261872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GB" dirty="0"/>
          </a:p>
        </p:txBody>
      </p:sp>
      <p:sp>
        <p:nvSpPr>
          <p:cNvPr id="45" name="Point heading 2"/>
          <p:cNvSpPr txBox="1"/>
          <p:nvPr/>
        </p:nvSpPr>
        <p:spPr>
          <a:xfrm>
            <a:off x="7109415" y="2743200"/>
            <a:ext cx="4451344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GB" sz="1700" b="1" i="0" dirty="0">
                <a:solidFill>
                  <a:srgbClr val="942639"/>
                </a:solidFill>
                <a:latin typeface="Arial"/>
                <a:cs typeface="Arial"/>
              </a:rPr>
              <a:t>Calendar: hardly visible</a:t>
            </a:r>
          </a:p>
        </p:txBody>
      </p:sp>
      <p:sp>
        <p:nvSpPr>
          <p:cNvPr id="46" name="Point text 2"/>
          <p:cNvSpPr txBox="1"/>
          <p:nvPr/>
        </p:nvSpPr>
        <p:spPr>
          <a:xfrm>
            <a:off x="7109415" y="3108960"/>
            <a:ext cx="4451344" cy="777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GB" sz="1300" b="0" i="0" dirty="0">
                <a:solidFill>
                  <a:srgbClr val="595959"/>
                </a:solidFill>
                <a:latin typeface="Arial"/>
                <a:cs typeface="Arial"/>
              </a:rPr>
              <a:t>Only at lag 30 for e-invoicing is the final calendar a little narrower than the basic one. Elsewhere the curves overlap.</a:t>
            </a:r>
          </a:p>
        </p:txBody>
      </p:sp>
      <p:sp>
        <p:nvSpPr>
          <p:cNvPr id="47" name="Point card 3"/>
          <p:cNvSpPr/>
          <p:nvPr/>
        </p:nvSpPr>
        <p:spPr>
          <a:xfrm>
            <a:off x="6908247" y="4023360"/>
            <a:ext cx="4817104" cy="1261872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GB" dirty="0"/>
          </a:p>
        </p:txBody>
      </p:sp>
      <p:sp>
        <p:nvSpPr>
          <p:cNvPr id="48" name="Point heading 3"/>
          <p:cNvSpPr txBox="1"/>
          <p:nvPr/>
        </p:nvSpPr>
        <p:spPr>
          <a:xfrm>
            <a:off x="7109415" y="4114800"/>
            <a:ext cx="4451344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GB" sz="1700" b="1" i="0" dirty="0">
                <a:solidFill>
                  <a:srgbClr val="7B7C7E"/>
                </a:solidFill>
                <a:latin typeface="Arial"/>
                <a:cs typeface="Arial"/>
              </a:rPr>
              <a:t>Why</a:t>
            </a:r>
          </a:p>
        </p:txBody>
      </p:sp>
      <p:sp>
        <p:nvSpPr>
          <p:cNvPr id="49" name="Point text 3"/>
          <p:cNvSpPr txBox="1"/>
          <p:nvPr/>
        </p:nvSpPr>
        <p:spPr>
          <a:xfrm>
            <a:off x="7109415" y="4480560"/>
            <a:ext cx="4451344" cy="777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GB" sz="1300" b="0" i="0" dirty="0">
                <a:solidFill>
                  <a:srgbClr val="595959"/>
                </a:solidFill>
                <a:latin typeface="Arial"/>
                <a:cs typeface="Arial"/>
              </a:rPr>
              <a:t>Special days are a few per year and get lost in rolling windows over all days. The DMR groups them by mechanism, so it sees them.</a:t>
            </a:r>
          </a:p>
        </p:txBody>
      </p:sp>
      <p:sp>
        <p:nvSpPr>
          <p:cNvPr id="52" name="Caption"/>
          <p:cNvSpPr txBox="1"/>
          <p:nvPr/>
        </p:nvSpPr>
        <p:spPr>
          <a:xfrm>
            <a:off x="466344" y="5623560"/>
            <a:ext cx="11256264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GB" sz="1300" b="0" i="1" dirty="0">
                <a:solidFill>
                  <a:srgbClr val="7B7C7E"/>
                </a:solidFill>
                <a:latin typeface="Arial"/>
                <a:cs typeface="Arial"/>
              </a:rPr>
              <a:t>Rolling autocorrelations of first differences (of logs for e-invoicing), windows of 28, 90 and 730 days; grey band ±0.025.</a:t>
            </a:r>
          </a:p>
        </p:txBody>
      </p:sp>
    </p:spTree>
    <p:extLst>
      <p:ext uri="{BB962C8B-B14F-4D97-AF65-F5344CB8AC3E}">
        <p14:creationId xmlns:p14="http://schemas.microsoft.com/office/powerpoint/2010/main" val="178191662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1" name="Titolo 4"/>
          <p:cNvSpPr>
            <a:spLocks noGrp="1"/>
          </p:cNvSpPr>
          <p:nvPr>
            <p:ph type="title"/>
          </p:nvPr>
        </p:nvSpPr>
        <p:spPr>
          <a:xfrm>
            <a:off x="468313" y="482109"/>
            <a:ext cx="11269662" cy="405304"/>
          </a:xfrm>
        </p:spPr>
        <p:txBody>
          <a:bodyPr/>
          <a:lstStyle/>
          <a:p>
            <a:r>
              <a:rPr lang="en-GB" altLang="it-IT" sz="3600" dirty="0">
                <a:solidFill>
                  <a:srgbClr val="C00000"/>
                </a:solidFill>
              </a:rPr>
              <a:t>Why the calendar deserves the effort</a:t>
            </a:r>
          </a:p>
        </p:txBody>
      </p:sp>
      <p:sp>
        <p:nvSpPr>
          <p:cNvPr id="9" name="Segnaposto numero diapositiva 4">
            <a:extLst>
              <a:ext uri="{FF2B5EF4-FFF2-40B4-BE49-F238E27FC236}">
                <a16:creationId xmlns:a16="http://schemas.microsoft.com/office/drawing/2014/main" id="{43529721-AF16-448D-9B7A-D70C2ADC200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0" y="6392815"/>
            <a:ext cx="50165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48B4153A-D4C5-4CEF-8992-0D8815C829E3}" type="slidenum">
              <a:rPr lang="en-US" smtClean="0"/>
              <a:pPr>
                <a:defRPr/>
              </a:pPr>
              <a:t>28</a:t>
            </a:fld>
            <a:endParaRPr lang="en-US" dirty="0"/>
          </a:p>
        </p:txBody>
      </p:sp>
      <p:sp>
        <p:nvSpPr>
          <p:cNvPr id="8" name="Segnaposto piè di pagina 3">
            <a:extLst>
              <a:ext uri="{FF2B5EF4-FFF2-40B4-BE49-F238E27FC236}">
                <a16:creationId xmlns:a16="http://schemas.microsoft.com/office/drawing/2014/main" id="{3223DD80-9C7E-474F-A668-27B6983A568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35830" y="6382305"/>
            <a:ext cx="9644444" cy="259965"/>
          </a:xfrm>
        </p:spPr>
        <p:txBody>
          <a:bodyPr/>
          <a:lstStyle/>
          <a:p>
            <a:pPr>
              <a:defRPr/>
            </a:pPr>
            <a:r>
              <a:rPr lang="en-US" dirty="0"/>
              <a:t>Building calendars for daily seasonal adjustment</a:t>
            </a:r>
          </a:p>
        </p:txBody>
      </p:sp>
      <p:sp>
        <p:nvSpPr>
          <p:cNvPr id="20" name="Conclusion card 1"/>
          <p:cNvSpPr/>
          <p:nvPr/>
        </p:nvSpPr>
        <p:spPr>
          <a:xfrm>
            <a:off x="466344" y="1298448"/>
            <a:ext cx="3599688" cy="2199132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GB" dirty="0"/>
          </a:p>
        </p:txBody>
      </p:sp>
      <p:sp>
        <p:nvSpPr>
          <p:cNvPr id="21" name="Conclusion number 1"/>
          <p:cNvSpPr/>
          <p:nvPr/>
        </p:nvSpPr>
        <p:spPr>
          <a:xfrm>
            <a:off x="667512" y="1527048"/>
            <a:ext cx="438912" cy="438912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GB" sz="1600" b="1" i="0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</a:p>
        </p:txBody>
      </p:sp>
      <p:sp>
        <p:nvSpPr>
          <p:cNvPr id="22" name="Conclusion heading 1"/>
          <p:cNvSpPr txBox="1"/>
          <p:nvPr/>
        </p:nvSpPr>
        <p:spPr>
          <a:xfrm>
            <a:off x="1243584" y="1435608"/>
            <a:ext cx="2685288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GB" sz="1600" b="1" i="0" dirty="0">
                <a:solidFill>
                  <a:srgbClr val="595959"/>
                </a:solidFill>
                <a:latin typeface="Arial"/>
                <a:cs typeface="Arial"/>
              </a:rPr>
              <a:t>Special days are key days</a:t>
            </a:r>
          </a:p>
        </p:txBody>
      </p:sp>
      <p:sp>
        <p:nvSpPr>
          <p:cNvPr id="23" name="Conclusion text 1"/>
          <p:cNvSpPr txBox="1"/>
          <p:nvPr/>
        </p:nvSpPr>
        <p:spPr>
          <a:xfrm>
            <a:off x="667512" y="2167128"/>
            <a:ext cx="3197352" cy="1239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GB" sz="1400" b="0" i="0" dirty="0">
                <a:solidFill>
                  <a:srgbClr val="636462"/>
                </a:solidFill>
                <a:latin typeface="Arial"/>
                <a:cs typeface="Arial"/>
              </a:rPr>
              <a:t>Month ends, holidays and bridges are the days users look at. A wrong calendar distorts exactly them: e-invoicing DMR from 0.76 to 1.27 with the basic calendar.</a:t>
            </a:r>
          </a:p>
        </p:txBody>
      </p:sp>
      <p:sp>
        <p:nvSpPr>
          <p:cNvPr id="25" name="Conclusion card 2"/>
          <p:cNvSpPr/>
          <p:nvPr/>
        </p:nvSpPr>
        <p:spPr>
          <a:xfrm>
            <a:off x="4294632" y="1298448"/>
            <a:ext cx="3599688" cy="2199132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GB" dirty="0"/>
          </a:p>
        </p:txBody>
      </p:sp>
      <p:sp>
        <p:nvSpPr>
          <p:cNvPr id="26" name="Conclusion number 2"/>
          <p:cNvSpPr/>
          <p:nvPr/>
        </p:nvSpPr>
        <p:spPr>
          <a:xfrm>
            <a:off x="4495800" y="1527048"/>
            <a:ext cx="438912" cy="438912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GB" sz="1600" b="1" i="0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27" name="Conclusion heading 2"/>
          <p:cNvSpPr txBox="1"/>
          <p:nvPr/>
        </p:nvSpPr>
        <p:spPr>
          <a:xfrm>
            <a:off x="5071872" y="1435608"/>
            <a:ext cx="2685288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GB" sz="1600" b="1" i="0" dirty="0">
                <a:solidFill>
                  <a:srgbClr val="595959"/>
                </a:solidFill>
                <a:latin typeface="Arial"/>
                <a:cs typeface="Arial"/>
              </a:rPr>
              <a:t>Calendar effects are information</a:t>
            </a:r>
          </a:p>
        </p:txBody>
      </p:sp>
      <p:sp>
        <p:nvSpPr>
          <p:cNvPr id="28" name="Conclusion text 2"/>
          <p:cNvSpPr txBox="1"/>
          <p:nvPr/>
        </p:nvSpPr>
        <p:spPr>
          <a:xfrm>
            <a:off x="4495800" y="2167128"/>
            <a:ext cx="3197352" cy="1239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GB" sz="1400" b="0" i="0" dirty="0">
                <a:solidFill>
                  <a:srgbClr val="636462"/>
                </a:solidFill>
                <a:latin typeface="Arial"/>
                <a:cs typeface="Arial"/>
              </a:rPr>
              <a:t>They can be read on their own: a month end worth almost nine weekdays of invoicing; holiday effects on electricity down 10–18% since 2012.</a:t>
            </a:r>
          </a:p>
        </p:txBody>
      </p:sp>
      <p:sp>
        <p:nvSpPr>
          <p:cNvPr id="30" name="Conclusion card 3"/>
          <p:cNvSpPr/>
          <p:nvPr/>
        </p:nvSpPr>
        <p:spPr>
          <a:xfrm>
            <a:off x="8122920" y="1298448"/>
            <a:ext cx="3599688" cy="2199132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GB" dirty="0"/>
          </a:p>
        </p:txBody>
      </p:sp>
      <p:sp>
        <p:nvSpPr>
          <p:cNvPr id="31" name="Conclusion number 3"/>
          <p:cNvSpPr/>
          <p:nvPr/>
        </p:nvSpPr>
        <p:spPr>
          <a:xfrm>
            <a:off x="8324088" y="1527048"/>
            <a:ext cx="438912" cy="438912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GB" sz="1600" b="1" i="0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</a:p>
        </p:txBody>
      </p:sp>
      <p:sp>
        <p:nvSpPr>
          <p:cNvPr id="32" name="Conclusion heading 3"/>
          <p:cNvSpPr txBox="1"/>
          <p:nvPr/>
        </p:nvSpPr>
        <p:spPr>
          <a:xfrm>
            <a:off x="8900160" y="1435608"/>
            <a:ext cx="2685288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GB" sz="1600" b="1" i="0" dirty="0">
                <a:solidFill>
                  <a:srgbClr val="595959"/>
                </a:solidFill>
                <a:latin typeface="Arial"/>
                <a:cs typeface="Arial"/>
              </a:rPr>
              <a:t>Daily errors do not average out</a:t>
            </a:r>
          </a:p>
        </p:txBody>
      </p:sp>
      <p:sp>
        <p:nvSpPr>
          <p:cNvPr id="33" name="Conclusion text 3"/>
          <p:cNvSpPr txBox="1"/>
          <p:nvPr/>
        </p:nvSpPr>
        <p:spPr>
          <a:xfrm>
            <a:off x="8324088" y="2167128"/>
            <a:ext cx="3197352" cy="1239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GB" sz="1400" b="0" i="0" dirty="0">
                <a:solidFill>
                  <a:srgbClr val="636462"/>
                </a:solidFill>
                <a:latin typeface="Arial"/>
                <a:cs typeface="Arial"/>
              </a:rPr>
              <a:t>A monthly total hides them; a daily series shows each one as a false movement, or as an outlier that should have been a calendar effect.</a:t>
            </a:r>
          </a:p>
        </p:txBody>
      </p:sp>
      <p:sp>
        <p:nvSpPr>
          <p:cNvPr id="35" name="Conclusion card 4"/>
          <p:cNvSpPr/>
          <p:nvPr/>
        </p:nvSpPr>
        <p:spPr>
          <a:xfrm>
            <a:off x="466344" y="3698748"/>
            <a:ext cx="3599688" cy="2199132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GB" dirty="0"/>
          </a:p>
        </p:txBody>
      </p:sp>
      <p:sp>
        <p:nvSpPr>
          <p:cNvPr id="36" name="Conclusion number 4"/>
          <p:cNvSpPr/>
          <p:nvPr/>
        </p:nvSpPr>
        <p:spPr>
          <a:xfrm>
            <a:off x="667512" y="3927348"/>
            <a:ext cx="438912" cy="438912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GB" sz="1600" b="1" i="0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</a:p>
        </p:txBody>
      </p:sp>
      <p:sp>
        <p:nvSpPr>
          <p:cNvPr id="37" name="Conclusion heading 4"/>
          <p:cNvSpPr txBox="1"/>
          <p:nvPr/>
        </p:nvSpPr>
        <p:spPr>
          <a:xfrm>
            <a:off x="1243584" y="3835908"/>
            <a:ext cx="2685288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GB" sz="1600" b="1" i="0" dirty="0">
                <a:solidFill>
                  <a:srgbClr val="595959"/>
                </a:solidFill>
                <a:latin typeface="Arial"/>
                <a:cs typeface="Arial"/>
              </a:rPr>
              <a:t>A good calendar is more stable</a:t>
            </a:r>
          </a:p>
        </p:txBody>
      </p:sp>
      <p:sp>
        <p:nvSpPr>
          <p:cNvPr id="38" name="Conclusion text 4"/>
          <p:cNvSpPr txBox="1"/>
          <p:nvPr/>
        </p:nvSpPr>
        <p:spPr>
          <a:xfrm>
            <a:off x="667512" y="4567428"/>
            <a:ext cx="3261360" cy="1239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GB" sz="1400" b="1" i="0" dirty="0">
                <a:solidFill>
                  <a:srgbClr val="FF0000"/>
                </a:solidFill>
                <a:latin typeface="Arial"/>
                <a:cs typeface="Arial"/>
              </a:rPr>
              <a:t>Fewer revisions</a:t>
            </a:r>
            <a:r>
              <a:rPr lang="en-GB" sz="1400" b="0" i="0" dirty="0">
                <a:solidFill>
                  <a:srgbClr val="FF0000"/>
                </a:solidFill>
                <a:latin typeface="Arial"/>
                <a:cs typeface="Arial"/>
              </a:rPr>
              <a:t>, above all </a:t>
            </a:r>
            <a:r>
              <a:rPr lang="en-GB" sz="1400" b="1" i="0" dirty="0">
                <a:solidFill>
                  <a:srgbClr val="FF0000"/>
                </a:solidFill>
                <a:latin typeface="Arial"/>
                <a:cs typeface="Arial"/>
              </a:rPr>
              <a:t>on holidays</a:t>
            </a:r>
            <a:r>
              <a:rPr lang="en-GB" sz="1400" b="0" i="0" dirty="0">
                <a:solidFill>
                  <a:srgbClr val="FF0000"/>
                </a:solidFill>
                <a:latin typeface="Arial"/>
                <a:cs typeface="Arial"/>
              </a:rPr>
              <a:t>: −88% for e-invoicing, up to −63% on electricity special days. </a:t>
            </a:r>
            <a:r>
              <a:rPr lang="en-GB" sz="1400" b="0" i="0" dirty="0">
                <a:solidFill>
                  <a:srgbClr val="636462"/>
                </a:solidFill>
                <a:latin typeface="Arial"/>
                <a:cs typeface="Arial"/>
              </a:rPr>
              <a:t>Outliers describe real events and stay put across vintages.</a:t>
            </a:r>
          </a:p>
        </p:txBody>
      </p:sp>
      <p:sp>
        <p:nvSpPr>
          <p:cNvPr id="40" name="Conclusion card 5"/>
          <p:cNvSpPr/>
          <p:nvPr/>
        </p:nvSpPr>
        <p:spPr>
          <a:xfrm>
            <a:off x="4294632" y="3698748"/>
            <a:ext cx="3599688" cy="2199132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GB" dirty="0"/>
          </a:p>
        </p:txBody>
      </p:sp>
      <p:sp>
        <p:nvSpPr>
          <p:cNvPr id="41" name="Conclusion number 5"/>
          <p:cNvSpPr/>
          <p:nvPr/>
        </p:nvSpPr>
        <p:spPr>
          <a:xfrm>
            <a:off x="4495800" y="3927348"/>
            <a:ext cx="438912" cy="438912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GB" sz="1600" b="1" i="0" dirty="0">
                <a:solidFill>
                  <a:srgbClr val="FFFFFF"/>
                </a:solidFill>
                <a:latin typeface="Arial"/>
                <a:cs typeface="Arial"/>
              </a:rPr>
              <a:t>5</a:t>
            </a:r>
          </a:p>
        </p:txBody>
      </p:sp>
      <p:sp>
        <p:nvSpPr>
          <p:cNvPr id="42" name="Conclusion heading 5"/>
          <p:cNvSpPr txBox="1"/>
          <p:nvPr/>
        </p:nvSpPr>
        <p:spPr>
          <a:xfrm>
            <a:off x="5071872" y="3835908"/>
            <a:ext cx="2685288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GB" sz="1600" b="1" i="0" dirty="0">
                <a:solidFill>
                  <a:srgbClr val="595959"/>
                </a:solidFill>
                <a:latin typeface="Arial"/>
                <a:cs typeface="Arial"/>
              </a:rPr>
              <a:t>Each series needs its own calendar</a:t>
            </a:r>
          </a:p>
        </p:txBody>
      </p:sp>
      <p:sp>
        <p:nvSpPr>
          <p:cNvPr id="43" name="Conclusion text 5"/>
          <p:cNvSpPr txBox="1"/>
          <p:nvPr/>
        </p:nvSpPr>
        <p:spPr>
          <a:xfrm>
            <a:off x="4495800" y="4567428"/>
            <a:ext cx="3197352" cy="1239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GB" sz="1400" b="0" i="0" dirty="0">
                <a:solidFill>
                  <a:srgbClr val="636462"/>
                </a:solidFill>
                <a:latin typeface="Arial"/>
                <a:cs typeface="Arial"/>
              </a:rPr>
              <a:t>Same diagnostic, different calendars: administrative for e-invoicing, production for electricity. Standard diagnostics barely see the difference; the DMR does.</a:t>
            </a:r>
          </a:p>
        </p:txBody>
      </p:sp>
      <p:sp>
        <p:nvSpPr>
          <p:cNvPr id="50" name="Take-home message"/>
          <p:cNvSpPr/>
          <p:nvPr/>
        </p:nvSpPr>
        <p:spPr>
          <a:xfrm>
            <a:off x="8122920" y="3698748"/>
            <a:ext cx="3599688" cy="2199132"/>
          </a:xfrm>
          <a:prstGeom prst="roundRect">
            <a:avLst>
              <a:gd name="adj" fmla="val 6000"/>
            </a:avLst>
          </a:prstGeom>
          <a:solidFill>
            <a:srgbClr val="C00000"/>
          </a:solidFill>
          <a:ln>
            <a:noFill/>
          </a:ln>
        </p:spPr>
        <p:txBody>
          <a:bodyPr wrap="square" lIns="228600" tIns="228600" rIns="228600" bIns="22860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GB" sz="1800" b="1" i="0" dirty="0">
                <a:solidFill>
                  <a:srgbClr val="FFFFFF"/>
                </a:solidFill>
                <a:latin typeface="Arial"/>
                <a:cs typeface="Arial"/>
              </a:rPr>
              <a:t>Build the calendar from the evidence of each series, and check it on the adjusted series, day by day.</a:t>
            </a:r>
          </a:p>
        </p:txBody>
      </p:sp>
    </p:spTree>
    <p:extLst>
      <p:ext uri="{BB962C8B-B14F-4D97-AF65-F5344CB8AC3E}">
        <p14:creationId xmlns:p14="http://schemas.microsoft.com/office/powerpoint/2010/main" val="178191662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907821B-5649-449D-A1C2-3F67CA468A7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t-IT" dirty="0" err="1">
                <a:solidFill>
                  <a:srgbClr val="C00000"/>
                </a:solidFill>
              </a:rPr>
              <a:t>Thanks</a:t>
            </a:r>
            <a:r>
              <a:rPr lang="it-IT" dirty="0">
                <a:solidFill>
                  <a:srgbClr val="C00000"/>
                </a:solidFill>
              </a:rPr>
              <a:t> for </a:t>
            </a:r>
            <a:r>
              <a:rPr lang="it-IT" dirty="0" err="1">
                <a:solidFill>
                  <a:srgbClr val="C00000"/>
                </a:solidFill>
              </a:rPr>
              <a:t>your</a:t>
            </a:r>
            <a:r>
              <a:rPr lang="it-IT" dirty="0">
                <a:solidFill>
                  <a:srgbClr val="C00000"/>
                </a:solidFill>
              </a:rPr>
              <a:t> </a:t>
            </a:r>
            <a:r>
              <a:rPr lang="it-IT" dirty="0" err="1">
                <a:solidFill>
                  <a:srgbClr val="C00000"/>
                </a:solidFill>
              </a:rPr>
              <a:t>attention</a:t>
            </a:r>
            <a:r>
              <a:rPr lang="it-IT" dirty="0">
                <a:solidFill>
                  <a:srgbClr val="C00000"/>
                </a:solidFill>
              </a:rPr>
              <a:t>!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52857493-CE83-4A58-B836-860B262B8C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96093" y="3683529"/>
            <a:ext cx="5624623" cy="867206"/>
          </a:xfrm>
        </p:spPr>
        <p:txBody>
          <a:bodyPr/>
          <a:lstStyle/>
          <a:p>
            <a:r>
              <a:rPr lang="it-IT" sz="2400" dirty="0"/>
              <a:t>ALESSANDRO PIOVANI</a:t>
            </a:r>
          </a:p>
          <a:p>
            <a:r>
              <a:rPr lang="it-IT" sz="2400" dirty="0"/>
              <a:t>alessandro.piovani@istat.it</a:t>
            </a:r>
          </a:p>
        </p:txBody>
      </p:sp>
    </p:spTree>
    <p:extLst>
      <p:ext uri="{BB962C8B-B14F-4D97-AF65-F5344CB8AC3E}">
        <p14:creationId xmlns:p14="http://schemas.microsoft.com/office/powerpoint/2010/main" val="1975414769"/>
      </p:ext>
    </p:extLst>
  </p:cSld>
  <p:clrMapOvr>
    <a:masterClrMapping/>
  </p:clrMapOvr>
</p:sld>
</file>

<file path=ppt/theme/theme1.xml><?xml version="1.0" encoding="utf-8"?>
<a:theme xmlns:a="http://schemas.openxmlformats.org/drawingml/2006/main" name="elenco puntato">
  <a:themeElements>
    <a:clrScheme name="Personalizzato 1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C00000"/>
      </a:hlink>
      <a:folHlink>
        <a:srgbClr val="FF0000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5D8C9649-FBE1-4B5B-8258-8A170F9843A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ottoCategoria xmlns="679261c3-551f-4e86-913f-177e0e529669">-</SottoCategoria>
    <Categoria xmlns="c58f2efd-82a8-4ecf-b395-8c25e928921d">3- Standard presentazioni Power Point</Categoria>
    <_dlc_DocId xmlns="459159c4-d20a-4ff3-9b11-fbd127bd52e5">INTRANET-14-174</_dlc_DocId>
    <_dlc_DocIdUrl xmlns="459159c4-d20a-4ff3-9b11-fbd127bd52e5">
      <Url>https://intranet.istat.it/Collaborativi/_layouts/15/DocIdRedir.aspx?ID=INTRANET-14-174</Url>
      <Description>INTRANET-14-174</Description>
    </_dlc_DocIdUrl>
    <Ordine xmlns="679261c3-551f-4e86-913f-177e0e529669">1</Ordine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661A2BE3120D674DA36C11D6006822D4" ma:contentTypeVersion="5" ma:contentTypeDescription="Creare un nuovo documento." ma:contentTypeScope="" ma:versionID="742e6049321d93803bb3bb587f561ffa">
  <xsd:schema xmlns:xsd="http://www.w3.org/2001/XMLSchema" xmlns:xs="http://www.w3.org/2001/XMLSchema" xmlns:p="http://schemas.microsoft.com/office/2006/metadata/properties" xmlns:ns2="c58f2efd-82a8-4ecf-b395-8c25e928921d" xmlns:ns3="459159c4-d20a-4ff3-9b11-fbd127bd52e5" xmlns:ns4="679261c3-551f-4e86-913f-177e0e529669" targetNamespace="http://schemas.microsoft.com/office/2006/metadata/properties" ma:root="true" ma:fieldsID="939ae4a7eaec2950db97a79ca38d2d4d" ns2:_="" ns3:_="" ns4:_="">
    <xsd:import namespace="c58f2efd-82a8-4ecf-b395-8c25e928921d"/>
    <xsd:import namespace="459159c4-d20a-4ff3-9b11-fbd127bd52e5"/>
    <xsd:import namespace="679261c3-551f-4e86-913f-177e0e529669"/>
    <xsd:element name="properties">
      <xsd:complexType>
        <xsd:sequence>
          <xsd:element name="documentManagement">
            <xsd:complexType>
              <xsd:all>
                <xsd:element ref="ns2:Categoria"/>
                <xsd:element ref="ns3:_dlc_DocId" minOccurs="0"/>
                <xsd:element ref="ns3:_dlc_DocIdUrl" minOccurs="0"/>
                <xsd:element ref="ns3:_dlc_DocIdPersistId" minOccurs="0"/>
                <xsd:element ref="ns4:SottoCategoria" minOccurs="0"/>
                <xsd:element ref="ns4:Ordin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58f2efd-82a8-4ecf-b395-8c25e928921d" elementFormDefault="qualified">
    <xsd:import namespace="http://schemas.microsoft.com/office/2006/documentManagement/types"/>
    <xsd:import namespace="http://schemas.microsoft.com/office/infopath/2007/PartnerControls"/>
    <xsd:element name="Categoria" ma:index="8" ma:displayName="Categoria" ma:default="Sfondi virtuali" ma:format="Dropdown" ma:internalName="Categoria">
      <xsd:simpleType>
        <xsd:restriction base="dms:Choice">
          <xsd:enumeration value="Sfondi virtuali"/>
          <xsd:enumeration value="1- Marchio/Logo"/>
          <xsd:enumeration value="2- Carta intestata"/>
          <xsd:enumeration value="3- Standard presentazioni Power Point"/>
          <xsd:enumeration value="4- Fogli di stile per documenti Word"/>
          <xsd:enumeration value="Libri digitali e cartacei"/>
          <xsd:enumeration value="Tavole di dati online"/>
          <xsd:enumeration value="Grafici interattivi"/>
          <xsd:enumeration value="5- Strumenti di comunicazione relativi ai Censimenti permanenti"/>
          <xsd:enumeration value="6- Strumenti di comunicazione relativi al Censimento generale dell'Agricoltura 2020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59159c4-d20a-4ff3-9b11-fbd127bd52e5" elementFormDefault="qualified">
    <xsd:import namespace="http://schemas.microsoft.com/office/2006/documentManagement/types"/>
    <xsd:import namespace="http://schemas.microsoft.com/office/infopath/2007/PartnerControls"/>
    <xsd:element name="_dlc_DocId" ma:index="9" nillable="true" ma:displayName="Valore ID documento" ma:description="Valore dell'ID documento assegnato all'elemento." ma:internalName="_dlc_DocId" ma:readOnly="true">
      <xsd:simpleType>
        <xsd:restriction base="dms:Text"/>
      </xsd:simpleType>
    </xsd:element>
    <xsd:element name="_dlc_DocIdUrl" ma:index="10" nillable="true" ma:displayName="ID documento" ma:description="Collegamento permanente al documento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1" nillable="true" ma:displayName="Persist ID" ma:description="Keep ID on add." ma:hidden="true" ma:internalName="_dlc_DocIdPersistId" ma:readOnly="true">
      <xsd:simpleType>
        <xsd:restriction base="dms:Boolea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79261c3-551f-4e86-913f-177e0e529669" elementFormDefault="qualified">
    <xsd:import namespace="http://schemas.microsoft.com/office/2006/documentManagement/types"/>
    <xsd:import namespace="http://schemas.microsoft.com/office/infopath/2007/PartnerControls"/>
    <xsd:element name="SottoCategoria" ma:index="12" nillable="true" ma:displayName="Sottocategoria" ma:default="-" ma:format="Dropdown" ma:internalName="SottoCategoria">
      <xsd:simpleType>
        <xsd:restriction base="dms:Choice">
          <xsd:enumeration value="-"/>
          <xsd:enumeration value="1- CP Generico"/>
          <xsd:enumeration value="2- CP Popolazione"/>
          <xsd:enumeration value="3- CP Imprese"/>
          <xsd:enumeration value="4- CP Istituzioni pubbliche"/>
          <xsd:enumeration value="5- CP Istituzioni non profit"/>
          <xsd:enumeration value="6- CP Agricoltura"/>
          <xsd:enumeration value="7- CP Agricoltura2020"/>
        </xsd:restriction>
      </xsd:simpleType>
    </xsd:element>
    <xsd:element name="Ordine" ma:index="13" nillable="true" ma:displayName="Ordine" ma:decimals="0" ma:internalName="Ordine">
      <xsd:simpleType>
        <xsd:restriction base="dms:Number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i contenuto"/>
        <xsd:element ref="dc:title" minOccurs="0" maxOccurs="1" ma:index="4" ma:displayName="Tito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4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Version=15.0.0.0,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Version=15.0.0.0,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Version=15.0.0.0,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Version=15.0.0.0, Culture=neutral, PublicKeyToken=71e9bce111e9429c</Assembly>
    <Class>Microsoft.Office.DocumentManagement.Internal.DocIdHandler</Class>
    <Data/>
    <Filter/>
  </Receiver>
</spe:Receivers>
</file>

<file path=customXml/itemProps1.xml><?xml version="1.0" encoding="utf-8"?>
<ds:datastoreItem xmlns:ds="http://schemas.openxmlformats.org/officeDocument/2006/customXml" ds:itemID="{3EF378BC-F4D0-4510-B4EC-07B6EFE18CF8}">
  <ds:schemaRefs>
    <ds:schemaRef ds:uri="http://purl.org/dc/dcmitype/"/>
    <ds:schemaRef ds:uri="http://purl.org/dc/terms/"/>
    <ds:schemaRef ds:uri="459159c4-d20a-4ff3-9b11-fbd127bd52e5"/>
    <ds:schemaRef ds:uri="http://schemas.microsoft.com/office/2006/metadata/properties"/>
    <ds:schemaRef ds:uri="http://www.w3.org/XML/1998/namespace"/>
    <ds:schemaRef ds:uri="http://schemas.microsoft.com/office/2006/documentManagement/types"/>
    <ds:schemaRef ds:uri="http://schemas.openxmlformats.org/package/2006/metadata/core-properties"/>
    <ds:schemaRef ds:uri="http://schemas.microsoft.com/office/infopath/2007/PartnerControls"/>
    <ds:schemaRef ds:uri="679261c3-551f-4e86-913f-177e0e529669"/>
    <ds:schemaRef ds:uri="c58f2efd-82a8-4ecf-b395-8c25e928921d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AA760D03-2285-4F80-B9FC-1F4F97E9712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58f2efd-82a8-4ecf-b395-8c25e928921d"/>
    <ds:schemaRef ds:uri="459159c4-d20a-4ff3-9b11-fbd127bd52e5"/>
    <ds:schemaRef ds:uri="679261c3-551f-4e86-913f-177e0e52966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D9C238D-4D5C-4783-820B-4854DCE45D41}">
  <ds:schemaRefs>
    <ds:schemaRef ds:uri="http://schemas.microsoft.com/sharepoint/v3/contenttype/forms"/>
  </ds:schemaRefs>
</ds:datastoreItem>
</file>

<file path=customXml/itemProps4.xml><?xml version="1.0" encoding="utf-8"?>
<ds:datastoreItem xmlns:ds="http://schemas.openxmlformats.org/officeDocument/2006/customXml" ds:itemID="{D9296C4F-9DE9-4B43-AA80-1FC85656CFFA}">
  <ds:schemaRefs>
    <ds:schemaRef ds:uri="http://schemas.microsoft.com/sharepoint/event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47622</TotalTime>
  <Words>2616</Words>
  <Application>Microsoft Office PowerPoint</Application>
  <PresentationFormat>Widescreen</PresentationFormat>
  <Paragraphs>288</Paragraphs>
  <Slides>29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7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29</vt:i4>
      </vt:variant>
    </vt:vector>
  </HeadingPairs>
  <TitlesOfParts>
    <vt:vector size="37" baseType="lpstr">
      <vt:lpstr>Arial</vt:lpstr>
      <vt:lpstr>Arial Narrow</vt:lpstr>
      <vt:lpstr>Calibri</vt:lpstr>
      <vt:lpstr>Cambria Math</vt:lpstr>
      <vt:lpstr>Courier New</vt:lpstr>
      <vt:lpstr>Gill Sans MT</vt:lpstr>
      <vt:lpstr>Wingdings 2</vt:lpstr>
      <vt:lpstr>elenco puntato</vt:lpstr>
      <vt:lpstr>Building calendars for daily seasonal adjustment: lessons from electronic invoicing and electricity demand</vt:lpstr>
      <vt:lpstr>Why the calendar matters in daily data</vt:lpstr>
      <vt:lpstr>Two daily series, two decompositions</vt:lpstr>
      <vt:lpstr>The Day-to-Month Ratio (DMR)</vt:lpstr>
      <vt:lpstr>Which DMR charts? The mechanism decides</vt:lpstr>
      <vt:lpstr>Day of the week: weekends stand out</vt:lpstr>
      <vt:lpstr>Day of the month: peaks on 1, 15 and 20</vt:lpstr>
      <vt:lpstr>Month end: a dip at the end, a ramp before</vt:lpstr>
      <vt:lpstr>Holidays: one dummy fails on weekends</vt:lpstr>
      <vt:lpstr>Around holidays: the dip spreads earlier</vt:lpstr>
      <vt:lpstr>Split by day type: errors of opposite sign</vt:lpstr>
      <vt:lpstr>Weekend month end: Friday takes the billing</vt:lpstr>
      <vt:lpstr>The final model: 32 calendar regressors</vt:lpstr>
      <vt:lpstr>Final calendar: a flat day-of-month profile</vt:lpstr>
      <vt:lpstr>Day by day: the residual pattern disappears</vt:lpstr>
      <vt:lpstr>Revisions: fewer on every group of days</vt:lpstr>
      <vt:lpstr>Electricity demand: a production calendar</vt:lpstr>
      <vt:lpstr>Electricity: time-varying calendar effects</vt:lpstr>
      <vt:lpstr>Special days back within the ±5% band</vt:lpstr>
      <vt:lpstr>What remains: two known limits</vt:lpstr>
      <vt:lpstr>Pre-treatment: outliers show what is missing</vt:lpstr>
      <vt:lpstr>National holidays: the effects fade</vt:lpstr>
      <vt:lpstr>Bridges and semi-closures: no fading</vt:lpstr>
      <vt:lpstr>Saturday fades, Easter Tuesday deepens</vt:lpstr>
      <vt:lpstr>Revisions: special days need the calendar</vt:lpstr>
      <vt:lpstr>A good calendar also stabilises the outliers</vt:lpstr>
      <vt:lpstr>Standard diagnostics barely see the calendar</vt:lpstr>
      <vt:lpstr>Why the calendar deserves the effort</vt:lpstr>
      <vt:lpstr>Thanks for your attention!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PresentazioneStandard</dc:title>
  <dc:creator>Bruna Tabanella</dc:creator>
  <cp:lastModifiedBy>alessandro piovani</cp:lastModifiedBy>
  <cp:revision>673</cp:revision>
  <cp:lastPrinted>2024-04-15T12:01:46Z</cp:lastPrinted>
  <dcterms:created xsi:type="dcterms:W3CDTF">2020-06-26T06:32:12Z</dcterms:created>
  <dcterms:modified xsi:type="dcterms:W3CDTF">2026-10-28T17:31:28Z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0x010100661A2BE3120D674DA36C11D6006822D4</vt:lpwstr>
  </property>
  <property fmtid="{D5CDD505-2E9C-101B-9397-08002B2CF9AE}" pid="3" name="_dlc_DocIdItemGuid">
    <vt:lpwstr>01bbfd09-35f5-4720-8777-8e3977c2110b</vt:lpwstr>
  </property>
</Properties>
</file>