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0"/>
  </p:notesMasterIdLst>
  <p:sldIdLst>
    <p:sldId id="315" r:id="rId6"/>
    <p:sldId id="316" r:id="rId7"/>
    <p:sldId id="347" r:id="rId8"/>
    <p:sldId id="327" r:id="rId9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401">
          <p15:clr>
            <a:srgbClr val="A4A3A4"/>
          </p15:clr>
        </p15:guide>
        <p15:guide id="2" orient="horz" pos="4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AFD7FF"/>
    <a:srgbClr val="D9ECFF"/>
    <a:srgbClr val="99CCFF"/>
    <a:srgbClr val="FFFFCC"/>
    <a:srgbClr val="D3F5EE"/>
    <a:srgbClr val="A50021"/>
    <a:srgbClr val="969696"/>
    <a:srgbClr val="C00000"/>
    <a:srgbClr val="DAF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Stile chiaro 2 - Color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0A1B5D5-9B99-4C35-A422-299274C87663}" styleName="Stile medio 1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65" autoAdjust="0"/>
  </p:normalViewPr>
  <p:slideViewPr>
    <p:cSldViewPr snapToGrid="0" showGuides="1">
      <p:cViewPr varScale="1">
        <p:scale>
          <a:sx n="107" d="100"/>
          <a:sy n="107" d="100"/>
        </p:scale>
        <p:origin x="138" y="144"/>
      </p:cViewPr>
      <p:guideLst>
        <p:guide pos="7401"/>
        <p:guide orient="horz" pos="41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54000" cy="54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5F835E2-227D-43BA-B3A5-E9E433264387}" type="datetimeFigureOut">
              <a:rPr lang="en-US"/>
              <a:pPr>
                <a:defRPr/>
              </a:pPr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F5882C-B867-4FE7-97C9-87FBF93DC802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1070" y="2621956"/>
            <a:ext cx="9818337" cy="2782819"/>
          </a:xfrm>
          <a:effectLst/>
        </p:spPr>
        <p:txBody>
          <a:bodyPr lIns="0" tIns="0" rIns="0" bIns="0" anchor="ctr">
            <a:normAutofit/>
          </a:bodyPr>
          <a:lstStyle>
            <a:lvl1pPr>
              <a:lnSpc>
                <a:spcPts val="3600"/>
              </a:lnSpc>
              <a:defRPr sz="3400" b="0" cap="none">
                <a:solidFill>
                  <a:srgbClr val="C00000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it-IT" dirty="0"/>
              <a:t>FARE CLIC PER MODIFICARE LO STILE DEL TITOLO DELLO SCHEMA FARE CLIC PER MODIFICARE LO STILE DEL TITOLO DELLO SCHEMA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84E50FF-EF10-4A0E-8686-237E66B24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84" y="6495314"/>
            <a:ext cx="7481115" cy="179536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Aft>
                <a:spcPts val="200"/>
              </a:spcAft>
              <a:buNone/>
              <a:defRPr sz="11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71492F8-659D-4E4C-A49D-B7C5675391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69185" y="1287956"/>
            <a:ext cx="3689746" cy="216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500"/>
              </a:lnSpc>
              <a:spcAft>
                <a:spcPts val="600"/>
              </a:spcAft>
              <a:buNone/>
              <a:defRPr lang="it-IT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84E50FF-EF10-4A0E-8686-237E66B249C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69184" y="1522956"/>
            <a:ext cx="3689747" cy="10800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636462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4E50FF-EF10-4A0E-8686-237E66B249C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69184" y="6297672"/>
            <a:ext cx="7481115" cy="188513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400"/>
              </a:lnSpc>
              <a:spcAft>
                <a:spcPts val="200"/>
              </a:spcAft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A8FC9CB7-7D84-419A-988C-7B8817E18EDB}"/>
              </a:ext>
            </a:extLst>
          </p:cNvPr>
          <p:cNvSpPr/>
          <p:nvPr userDrawn="1"/>
        </p:nvSpPr>
        <p:spPr>
          <a:xfrm>
            <a:off x="463550" y="0"/>
            <a:ext cx="3708400" cy="1089025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F57BA760-D00A-4F5B-B978-07F3F810367F}"/>
              </a:ext>
            </a:extLst>
          </p:cNvPr>
          <p:cNvSpPr/>
          <p:nvPr userDrawn="1"/>
        </p:nvSpPr>
        <p:spPr>
          <a:xfrm>
            <a:off x="4251325" y="0"/>
            <a:ext cx="3706813" cy="1089025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17FA033-79E9-4921-B88E-03D9DAACCE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50841" y="637832"/>
            <a:ext cx="2700000" cy="461927"/>
          </a:xfrm>
          <a:prstGeom prst="rect">
            <a:avLst/>
          </a:prstGeom>
        </p:spPr>
      </p:pic>
      <p:sp>
        <p:nvSpPr>
          <p:cNvPr id="16" name="Rectangle 9">
            <a:extLst>
              <a:ext uri="{FF2B5EF4-FFF2-40B4-BE49-F238E27FC236}">
                <a16:creationId xmlns:a16="http://schemas.microsoft.com/office/drawing/2014/main" id="{821E4C3A-67D5-4B9E-B373-7B560EA0839E}"/>
              </a:ext>
            </a:extLst>
          </p:cNvPr>
          <p:cNvSpPr/>
          <p:nvPr userDrawn="1"/>
        </p:nvSpPr>
        <p:spPr>
          <a:xfrm>
            <a:off x="8037513" y="0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5998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o 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201" y="1557338"/>
            <a:ext cx="11264002" cy="4481153"/>
          </a:xfrm>
        </p:spPr>
        <p:txBody>
          <a:bodyPr lIns="0" tIns="0" rIns="0" bIns="0">
            <a:noAutofit/>
          </a:bodyPr>
          <a:lstStyle>
            <a:lvl1pPr marL="285750" indent="-285750">
              <a:spcAft>
                <a:spcPts val="1800"/>
              </a:spcAft>
              <a:buSzPct val="120000"/>
              <a:buFont typeface="Courier New" panose="02070309020205020404" pitchFamily="49" charset="0"/>
              <a:buChar char="o"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053620-96AC-EF47-823B-D2E90BBCE5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4E3F12-6C4D-C642-90EC-9F9AE3161A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6BE73488-10D2-46C5-8886-B5262B4036E9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DFCC48B-BCC3-4AAB-8EE4-592BE912D5A8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2EE5703-F2FA-4A41-8927-030A564B0F80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39054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201" y="1557338"/>
            <a:ext cx="11264002" cy="447252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6F2967F-3AC1-482F-9FA1-FB5058EE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BB147208-B303-4867-B415-427BFDB712AA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3AC1916D-DE81-4DEB-837D-9B1EBBEBAB9E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EA5C2815-3F5D-4F03-A9B8-AD61D140AB8F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211B9727-26D5-42C6-AA8E-16F0A9551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DB52600-6114-4FF8-A64F-1419078C06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98E623A-5D96-4DDD-91E6-E567C5082E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028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6" y="1557338"/>
            <a:ext cx="11276765" cy="4472526"/>
          </a:xfrm>
        </p:spPr>
        <p:txBody>
          <a:bodyPr lIns="0" tIns="0" rIns="0" bIns="0" numCol="2" spcCol="54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5F80FCE-DB62-4AE9-8E37-C5ECE83CEA2A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5337BA55-D4F4-482D-9902-A7DF343CF4BD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1E77F523-A47D-4ED1-A730-DF5462674088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B35A5DA5-9B3D-430B-9B7D-12A49C8960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C87520E-C40B-4CBE-A2FA-D2587AA999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8ED1510-B77E-4E58-8FB2-F06301CA45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588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7" y="1557337"/>
            <a:ext cx="11269308" cy="4392613"/>
          </a:xfrm>
        </p:spPr>
        <p:txBody>
          <a:bodyPr lIns="0" tIns="0" rIns="0" bIns="0" numCol="3" spcCol="432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A97EA33F-8FE6-43F7-B87B-F8A75881DC82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4457ED34-8FD7-4334-B58D-DE5268F487BB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E95361B-2753-4630-8435-D8D6DFA2E2B3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953CB5C-8C23-4943-AA23-507887A04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2EA2B975-3B1B-40A2-9512-420987E41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FD83117-18D4-4F50-B150-B24C3ADCCA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207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+grafico picc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8081963" y="1557338"/>
            <a:ext cx="3653783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519" y="1557338"/>
            <a:ext cx="7305513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FE997AC-2DEF-4982-9219-0DE8E80C2C1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8162224" y="1696688"/>
            <a:ext cx="3492000" cy="45720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014FC49-70B3-48C6-AAEA-1B6DEB762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2222" y="2261938"/>
            <a:ext cx="3492000" cy="3600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BFF0EAD9-FB2A-4B10-AC7E-2867676F5114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4DE85F56-C820-4265-A4F2-F29B8154D702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6D6C4BEC-89CF-43B7-9CD5-49EE71B27928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665B96CC-8D49-494F-9C8A-BD85351377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1DD249C-FFFA-4674-9CB5-ABEFDF5041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8756CF5-11CA-40E9-BF7A-4F15C16E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17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piccolo+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4251325" y="1557338"/>
            <a:ext cx="7485063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895" y="1557338"/>
            <a:ext cx="3528947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E25EF9-674A-4A68-B7E8-41ACE37CAFA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4366950" y="1679423"/>
            <a:ext cx="7253812" cy="45738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CFAF2C-DE26-450A-8C7B-A22A26FF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6949" y="2165685"/>
            <a:ext cx="7253813" cy="370416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D9D4E6DC-14B8-4843-AA1D-57AA39AE5B3E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1CC3821-0B1E-41AB-852F-4CB74E2EA3CC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75FDA81B-88AF-4AF4-8B43-18134CE8E446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12972DC-41D2-4C0E-AD61-A73383B82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51A03A1C-8D78-4F26-8F73-B711C52ED0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6C03E07E-3B47-479C-ADF1-A58628B5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56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 + colonna libera a des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473075" y="1557338"/>
            <a:ext cx="7485063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7439" y="1560749"/>
            <a:ext cx="3528947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E25EF9-674A-4A68-B7E8-41ACE37CAFA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88700" y="1679423"/>
            <a:ext cx="7253812" cy="45738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CFAF2C-DE26-450A-8C7B-A22A26FF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699" y="2165685"/>
            <a:ext cx="7253813" cy="370416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D9D4E6DC-14B8-4843-AA1D-57AA39AE5B3E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1CC3821-0B1E-41AB-852F-4CB74E2EA3CC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75FDA81B-88AF-4AF4-8B43-18134CE8E446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12972DC-41D2-4C0E-AD61-A73383B82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51A03A1C-8D78-4F26-8F73-B711C52ED0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3668A3-50F9-4865-BCB1-15BD808B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0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à testo+metà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FAF148-8C21-EB4F-9093-19ADD1A51882}"/>
              </a:ext>
            </a:extLst>
          </p:cNvPr>
          <p:cNvSpPr/>
          <p:nvPr userDrawn="1"/>
        </p:nvSpPr>
        <p:spPr>
          <a:xfrm>
            <a:off x="6256216" y="1557338"/>
            <a:ext cx="5472000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6" y="1557338"/>
            <a:ext cx="5472000" cy="4392612"/>
          </a:xfrm>
        </p:spPr>
        <p:txBody>
          <a:bodyPr lIns="0" tIns="0" rIns="0" bIns="0" spcCol="36000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BE1843A-CB5F-4920-B032-23C22AAE931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376432" y="1684420"/>
            <a:ext cx="5231635" cy="45720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2E57A97-B19C-4884-84CD-94CF8F624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6432" y="2220577"/>
            <a:ext cx="5231636" cy="3620398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BDED907-CBCE-4C48-8974-1732296AB56B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1D4BD23-7064-4A1A-B3B8-22936DC971AB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45DD4428-CB25-4CE0-B3BD-9E45A9B024CE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ACFFE7A2-271E-4180-8862-1207E565D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0A34ABB8-E594-41C5-B46B-F19275F5E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EB9757BE-24B5-4D77-9B24-FA598161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147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immagini affian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2F57ACB-1A9A-42A2-B0B9-3C24FCCE916F}"/>
              </a:ext>
            </a:extLst>
          </p:cNvPr>
          <p:cNvSpPr/>
          <p:nvPr userDrawn="1"/>
        </p:nvSpPr>
        <p:spPr>
          <a:xfrm>
            <a:off x="471488" y="1571124"/>
            <a:ext cx="5472112" cy="4392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0C542E8-A419-4B8E-8AE4-1D0DC75ADF26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562922" y="1691683"/>
            <a:ext cx="5304733" cy="38737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F3446B5-6360-4947-B444-A1DBFD65527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62922" y="2172243"/>
            <a:ext cx="5304733" cy="366873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17306DB-EF2B-46DB-BE4C-67BA4581EC8A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27663729-5A18-460D-BCC5-1C121255BEC2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88AE038F-3265-4340-AFAF-203DBF97366C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5203E877-BB68-4C3E-A95D-262A3B3831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DB77A0D-9AB4-48A1-82C5-A09A7D4F7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ABB3C7F1-D02D-4858-A51B-B1211EF06EF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23469" y="6405108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2E11952F-B65E-4BC4-A306-BA5F2E5E1051}"/>
              </a:ext>
            </a:extLst>
          </p:cNvPr>
          <p:cNvSpPr/>
          <p:nvPr userDrawn="1"/>
        </p:nvSpPr>
        <p:spPr>
          <a:xfrm>
            <a:off x="6256216" y="1557338"/>
            <a:ext cx="5472000" cy="439261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10FF5994-804D-479E-8547-F402AE8DD1D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376432" y="1684420"/>
            <a:ext cx="5231635" cy="45720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>
                <a:solidFill>
                  <a:srgbClr val="CC2A2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C0547B4-6D28-4C23-830C-984AB52D9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6432" y="2220577"/>
            <a:ext cx="5231636" cy="3620398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320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dascalia+grafico o tavol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786" y="1557338"/>
            <a:ext cx="11283042" cy="6625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786" y="2319687"/>
            <a:ext cx="11283042" cy="3630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24000" indent="0">
              <a:buFontTx/>
              <a:buNone/>
              <a:defRPr/>
            </a:lvl2pPr>
            <a:lvl3pPr marL="630000" indent="0">
              <a:buFontTx/>
              <a:buNone/>
              <a:defRPr/>
            </a:lvl3pPr>
            <a:lvl4pPr marL="1008000" indent="0">
              <a:buFontTx/>
              <a:buNone/>
              <a:defRPr/>
            </a:lvl4pPr>
            <a:lvl5pPr marL="1368000" indent="0">
              <a:buFontTx/>
              <a:buNone/>
              <a:defRPr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endParaRPr lang="en-US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D0FB10A6-C138-494B-9E13-24A27B8289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B33C25-F53C-40FF-87FE-5A1021509E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96897485-CF07-4D6A-ABB8-A29D7DC57109}"/>
              </a:ext>
            </a:extLst>
          </p:cNvPr>
          <p:cNvSpPr/>
          <p:nvPr userDrawn="1"/>
        </p:nvSpPr>
        <p:spPr>
          <a:xfrm>
            <a:off x="463550" y="1017025"/>
            <a:ext cx="3708400" cy="72000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BC91E05A-8494-49B6-B257-61F68DA8B315}"/>
              </a:ext>
            </a:extLst>
          </p:cNvPr>
          <p:cNvSpPr/>
          <p:nvPr userDrawn="1"/>
        </p:nvSpPr>
        <p:spPr>
          <a:xfrm>
            <a:off x="4251325" y="1017025"/>
            <a:ext cx="3706813" cy="72000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422199A7-2A62-43D5-872A-CD0B9A3D6E61}"/>
              </a:ext>
            </a:extLst>
          </p:cNvPr>
          <p:cNvSpPr/>
          <p:nvPr userDrawn="1"/>
        </p:nvSpPr>
        <p:spPr>
          <a:xfrm>
            <a:off x="8037513" y="1017025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B2ED1D9-25D5-4BB7-87C2-D519D933636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85672B4-73ED-0645-AF4D-5916A1BEE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895" y="503475"/>
            <a:ext cx="11269308" cy="384721"/>
          </a:xfrm>
          <a:prstGeom prst="rect">
            <a:avLst/>
          </a:prstGeom>
        </p:spPr>
        <p:txBody>
          <a:bodyPr lIns="0" tIns="0" rIns="0" bIns="0" rtlCol="0">
            <a:spAutoFit/>
          </a:bodyPr>
          <a:lstStyle>
            <a:lvl1pPr>
              <a:lnSpc>
                <a:spcPts val="3000"/>
              </a:lnSpc>
              <a:defRPr sz="2800"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949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8A4B74D-95FF-4ECC-AED0-C183993F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242" y="6402657"/>
            <a:ext cx="840882" cy="2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8324380-A91B-40DB-8B06-87F1716A8E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98588" y="6394753"/>
            <a:ext cx="9644444" cy="25996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376CEDB-6160-4575-AAD8-45EA5C0ED5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3469" y="6397225"/>
            <a:ext cx="501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ngraziamen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3786" y="1796902"/>
            <a:ext cx="11283042" cy="1839433"/>
          </a:xfrm>
          <a:effectLst/>
        </p:spPr>
        <p:txBody>
          <a:bodyPr anchor="ctr">
            <a:noAutofit/>
          </a:bodyPr>
          <a:lstStyle>
            <a:lvl1pPr algn="ctr">
              <a:defRPr sz="7000" b="0" cap="none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5894EA2-4831-F84E-BBDE-8E89A3516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6093" y="3683529"/>
            <a:ext cx="5624623" cy="423612"/>
          </a:xfrm>
        </p:spPr>
        <p:txBody>
          <a:bodyPr spcCol="360000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2837C0E-8F15-489B-800B-6F1CBBB23F06}"/>
              </a:ext>
            </a:extLst>
          </p:cNvPr>
          <p:cNvSpPr/>
          <p:nvPr userDrawn="1"/>
        </p:nvSpPr>
        <p:spPr>
          <a:xfrm>
            <a:off x="463550" y="5773825"/>
            <a:ext cx="3708400" cy="1089025"/>
          </a:xfrm>
          <a:prstGeom prst="rect">
            <a:avLst/>
          </a:prstGeom>
          <a:solidFill>
            <a:srgbClr val="94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1C3885B9-D4F0-42E8-A6EE-EB419237E845}"/>
              </a:ext>
            </a:extLst>
          </p:cNvPr>
          <p:cNvSpPr/>
          <p:nvPr userDrawn="1"/>
        </p:nvSpPr>
        <p:spPr>
          <a:xfrm>
            <a:off x="4251325" y="5773825"/>
            <a:ext cx="3706813" cy="1089025"/>
          </a:xfrm>
          <a:prstGeom prst="rect">
            <a:avLst/>
          </a:prstGeom>
          <a:solidFill>
            <a:srgbClr val="CC2A2A">
              <a:alpha val="9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F54AFB7-6D67-44BA-975B-F9E2C29BB4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50841" y="6092375"/>
            <a:ext cx="2700000" cy="461927"/>
          </a:xfrm>
          <a:prstGeom prst="rect">
            <a:avLst/>
          </a:prstGeom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B4CD4512-1FFA-4544-ACEE-31F0A9CA9D05}"/>
              </a:ext>
            </a:extLst>
          </p:cNvPr>
          <p:cNvSpPr/>
          <p:nvPr userDrawn="1"/>
        </p:nvSpPr>
        <p:spPr>
          <a:xfrm>
            <a:off x="8037513" y="6790850"/>
            <a:ext cx="3708400" cy="72000"/>
          </a:xfrm>
          <a:prstGeom prst="rect">
            <a:avLst/>
          </a:prstGeom>
          <a:solidFill>
            <a:srgbClr val="7B7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739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08000" y="939800"/>
            <a:ext cx="1120457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  <a:endParaRPr lang="en-US" altLang="it-IT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8000" y="2103438"/>
            <a:ext cx="11204575" cy="35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0" r:id="rId8"/>
    <p:sldLayoutId id="2147483714" r:id="rId9"/>
    <p:sldLayoutId id="2147483716" r:id="rId10"/>
    <p:sldLayoutId id="2147483715" r:id="rId11"/>
    <p:sldLayoutId id="2147483717" r:id="rId12"/>
    <p:sldLayoutId id="2147483718" r:id="rId13"/>
  </p:sldLayoutIdLst>
  <p:hf hdr="0" dt="0"/>
  <p:txStyles>
    <p:titleStyle>
      <a:lvl1pPr algn="l" defTabSz="457200" rtl="0" fontAlgn="base">
        <a:spcBef>
          <a:spcPct val="0"/>
        </a:spcBef>
        <a:spcAft>
          <a:spcPct val="0"/>
        </a:spcAft>
        <a:defRPr sz="2400" b="1" kern="1200">
          <a:solidFill>
            <a:srgbClr val="59595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Arial" panose="020B0604020202020204" pitchFamily="34" charset="0"/>
          <a:cs typeface="Arial" panose="020B0604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rtl="0" fontAlgn="t">
        <a:spcBef>
          <a:spcPct val="0"/>
        </a:spcBef>
        <a:spcAft>
          <a:spcPts val="1200"/>
        </a:spcAft>
        <a:buClr>
          <a:srgbClr val="CC2A2A"/>
        </a:buClr>
        <a:buSzPct val="100000"/>
        <a:defRPr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23850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28650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6475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2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66838" algn="l" defTabSz="457200" rtl="0" fontAlgn="base">
        <a:spcBef>
          <a:spcPct val="20000"/>
        </a:spcBef>
        <a:spcAft>
          <a:spcPts val="600"/>
        </a:spcAft>
        <a:buClr>
          <a:srgbClr val="CC2A2A"/>
        </a:buClr>
        <a:buSzPct val="100000"/>
        <a:defRPr sz="12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0BFAD7-8051-44E7-952E-F8647A1CB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070" y="2449236"/>
            <a:ext cx="9818337" cy="278281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Title</a:t>
            </a:r>
            <a:endParaRPr lang="it-IT" sz="4000" b="1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53B436-6816-4A46-BDBE-42E64EB27CB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it-IT" sz="2400" b="1" dirty="0">
                <a:solidFill>
                  <a:schemeClr val="tx1"/>
                </a:solidFill>
              </a:rPr>
              <a:t>INFORMAL MEETING #1</a:t>
            </a:r>
            <a:endParaRPr lang="it-IT" sz="2400" dirty="0">
              <a:solidFill>
                <a:schemeClr val="tx1"/>
              </a:solidFill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F54B89B-F96C-4A34-BA9E-083269BE1EC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69184" y="1287956"/>
            <a:ext cx="4316175" cy="235000"/>
          </a:xfrm>
        </p:spPr>
        <p:txBody>
          <a:bodyPr/>
          <a:lstStyle/>
          <a:p>
            <a:r>
              <a:rPr lang="it-IT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ROME, </a:t>
            </a:r>
            <a:r>
              <a:rPr lang="it-IT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October</a:t>
            </a:r>
            <a:r>
              <a:rPr lang="it-IT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14, 2024</a:t>
            </a:r>
          </a:p>
          <a:p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FE67CC-0EAE-4BEC-A961-535FE506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84" y="6231547"/>
            <a:ext cx="11499296" cy="375744"/>
          </a:xfrm>
        </p:spPr>
        <p:txBody>
          <a:bodyPr/>
          <a:lstStyle/>
          <a:p>
            <a:r>
              <a:rPr lang="it-IT" sz="1600" dirty="0"/>
              <a:t>Istat | </a:t>
            </a:r>
            <a:r>
              <a:rPr lang="en-US" sz="1600" dirty="0"/>
              <a:t>Directorate For Methodology and Statistical Process Design</a:t>
            </a:r>
            <a:br>
              <a:rPr lang="en-US" sz="1600" dirty="0"/>
            </a:br>
            <a:endParaRPr lang="it-IT" sz="1600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D87B255-EFEE-4DEF-9FE3-EB483176489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69184" y="5888645"/>
            <a:ext cx="7481115" cy="226985"/>
          </a:xfrm>
        </p:spPr>
        <p:txBody>
          <a:bodyPr/>
          <a:lstStyle/>
          <a:p>
            <a:r>
              <a:rPr lang="it-IT" sz="2400" b="1" dirty="0">
                <a:solidFill>
                  <a:schemeClr val="tx1"/>
                </a:solidFill>
              </a:rPr>
              <a:t>ALESSANDRO PIOVANI</a:t>
            </a:r>
            <a:r>
              <a:rPr lang="it-IT" sz="2400" dirty="0">
                <a:solidFill>
                  <a:schemeClr val="tx1"/>
                </a:solidFill>
              </a:rPr>
              <a:t> | alessandro.piovani@istat.it</a:t>
            </a:r>
          </a:p>
        </p:txBody>
      </p:sp>
    </p:spTree>
    <p:extLst>
      <p:ext uri="{BB962C8B-B14F-4D97-AF65-F5344CB8AC3E}">
        <p14:creationId xmlns:p14="http://schemas.microsoft.com/office/powerpoint/2010/main" val="273070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C192045E-FB8C-4B8C-AEFC-06A390A8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895" y="494562"/>
            <a:ext cx="11269308" cy="393634"/>
          </a:xfrm>
        </p:spPr>
        <p:txBody>
          <a:bodyPr/>
          <a:lstStyle/>
          <a:p>
            <a:r>
              <a:rPr lang="it-IT" sz="3600" dirty="0" err="1">
                <a:solidFill>
                  <a:srgbClr val="C00000"/>
                </a:solidFill>
              </a:rPr>
              <a:t>Seasonal</a:t>
            </a:r>
            <a:r>
              <a:rPr lang="it-IT" sz="3600" dirty="0">
                <a:solidFill>
                  <a:srgbClr val="C00000"/>
                </a:solidFill>
              </a:rPr>
              <a:t> </a:t>
            </a:r>
            <a:r>
              <a:rPr lang="it-IT" sz="3600" dirty="0" err="1">
                <a:solidFill>
                  <a:srgbClr val="C00000"/>
                </a:solidFill>
              </a:rPr>
              <a:t>Adjustment</a:t>
            </a:r>
            <a:r>
              <a:rPr lang="it-IT" sz="3600" dirty="0">
                <a:solidFill>
                  <a:srgbClr val="C00000"/>
                </a:solidFill>
              </a:rPr>
              <a:t> </a:t>
            </a:r>
            <a:r>
              <a:rPr lang="it-IT" sz="3600" dirty="0" err="1">
                <a:solidFill>
                  <a:srgbClr val="C00000"/>
                </a:solidFill>
              </a:rPr>
              <a:t>process</a:t>
            </a:r>
            <a:endParaRPr lang="it-IT" sz="3600" dirty="0">
              <a:solidFill>
                <a:srgbClr val="C00000"/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AD171A-D6C0-40CA-B56A-13604AFE4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Seasonal adjustment processes in statistical production</a:t>
            </a:r>
          </a:p>
        </p:txBody>
      </p:sp>
      <p:sp>
        <p:nvSpPr>
          <p:cNvPr id="8" name="Segnaposto testo 1">
            <a:extLst>
              <a:ext uri="{FF2B5EF4-FFF2-40B4-BE49-F238E27FC236}">
                <a16:creationId xmlns:a16="http://schemas.microsoft.com/office/drawing/2014/main" id="{3C757EAB-927E-4F42-BD79-C4C674080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895" y="1351281"/>
            <a:ext cx="11264002" cy="5043472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GB" altLang="it-IT" sz="2400" b="1" dirty="0">
                <a:solidFill>
                  <a:srgbClr val="636462"/>
                </a:solidFill>
              </a:rPr>
              <a:t>Seasonal adjustment process requires:</a:t>
            </a:r>
          </a:p>
          <a:p>
            <a:pPr marL="914400" lvl="1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GB" altLang="it-IT" sz="2600" dirty="0">
                <a:solidFill>
                  <a:srgbClr val="636462"/>
                </a:solidFill>
              </a:rPr>
              <a:t>storage of data: raw and seasonally adjusted (SA), external </a:t>
            </a:r>
            <a:r>
              <a:rPr lang="en-GB" altLang="it-IT" sz="2600" dirty="0" err="1">
                <a:solidFill>
                  <a:srgbClr val="636462"/>
                </a:solidFill>
              </a:rPr>
              <a:t>regressors</a:t>
            </a:r>
            <a:r>
              <a:rPr lang="en-GB" altLang="it-IT" sz="2600" b="1" dirty="0">
                <a:solidFill>
                  <a:srgbClr val="636462"/>
                </a:solidFill>
              </a:rPr>
              <a:t> </a:t>
            </a:r>
          </a:p>
          <a:p>
            <a:pPr marL="914400" lvl="1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GB" altLang="it-IT" sz="2600" dirty="0">
                <a:solidFill>
                  <a:srgbClr val="636462"/>
                </a:solidFill>
              </a:rPr>
              <a:t>storage of specifications</a:t>
            </a:r>
          </a:p>
          <a:p>
            <a:pPr marL="914400" lvl="1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GB" altLang="it-IT" sz="2600" dirty="0">
                <a:solidFill>
                  <a:srgbClr val="636462"/>
                </a:solidFill>
              </a:rPr>
              <a:t>updating of the data</a:t>
            </a:r>
          </a:p>
          <a:p>
            <a:pPr marL="914400" lvl="1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GB" altLang="it-IT" sz="2600" dirty="0">
                <a:solidFill>
                  <a:srgbClr val="636462"/>
                </a:solidFill>
              </a:rPr>
              <a:t>binding data and specifications</a:t>
            </a:r>
          </a:p>
          <a:p>
            <a:pPr marL="914400" lvl="1" indent="-4572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GB" altLang="it-IT" sz="2600" dirty="0">
                <a:solidFill>
                  <a:srgbClr val="636462"/>
                </a:solidFill>
              </a:rPr>
              <a:t>p</a:t>
            </a:r>
            <a:r>
              <a:rPr lang="en-GB" altLang="it-IT" sz="2600" b="1" dirty="0">
                <a:solidFill>
                  <a:srgbClr val="636462"/>
                </a:solidFill>
              </a:rPr>
              <a:t>rocessing</a:t>
            </a:r>
          </a:p>
          <a:p>
            <a:pPr lvl="1">
              <a:spcBef>
                <a:spcPts val="0"/>
              </a:spcBef>
              <a:defRPr/>
            </a:pPr>
            <a:endParaRPr lang="en-GB" altLang="it-IT" sz="2600" b="1" dirty="0">
              <a:solidFill>
                <a:srgbClr val="6364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61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itolo 4"/>
          <p:cNvSpPr>
            <a:spLocks noGrp="1"/>
          </p:cNvSpPr>
          <p:nvPr>
            <p:ph type="title"/>
          </p:nvPr>
        </p:nvSpPr>
        <p:spPr>
          <a:xfrm>
            <a:off x="468313" y="482109"/>
            <a:ext cx="11269662" cy="405304"/>
          </a:xfrm>
        </p:spPr>
        <p:txBody>
          <a:bodyPr/>
          <a:lstStyle/>
          <a:p>
            <a:pPr algn="ctr"/>
            <a:r>
              <a:rPr lang="en-GB" altLang="it-IT" sz="4000" dirty="0">
                <a:solidFill>
                  <a:srgbClr val="C00000"/>
                </a:solidFill>
              </a:rPr>
              <a:t>Source code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43529721-AF16-448D-9B7A-D70C2ADC2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392815"/>
            <a:ext cx="50165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8B4153A-D4C5-4CEF-8992-0D8815C829E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Rettangolo 5"/>
          <p:cNvSpPr/>
          <p:nvPr/>
        </p:nvSpPr>
        <p:spPr>
          <a:xfrm>
            <a:off x="323468" y="1085578"/>
            <a:ext cx="11414507" cy="5812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it-IT" sz="2400" dirty="0"/>
          </a:p>
        </p:txBody>
      </p:sp>
      <p:sp>
        <p:nvSpPr>
          <p:cNvPr id="8" name="Segnaposto piè di pagina 3">
            <a:extLst>
              <a:ext uri="{FF2B5EF4-FFF2-40B4-BE49-F238E27FC236}">
                <a16:creationId xmlns:a16="http://schemas.microsoft.com/office/drawing/2014/main" id="{3223DD80-9C7E-474F-A668-27B6983A5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5830" y="6382305"/>
            <a:ext cx="9644444" cy="259965"/>
          </a:xfrm>
        </p:spPr>
        <p:txBody>
          <a:bodyPr/>
          <a:lstStyle/>
          <a:p>
            <a:pPr>
              <a:defRPr/>
            </a:pPr>
            <a:r>
              <a:rPr lang="en-US" dirty="0"/>
              <a:t>Seasonal adjustment processes in statistical production</a:t>
            </a:r>
          </a:p>
        </p:txBody>
      </p:sp>
    </p:spTree>
    <p:extLst>
      <p:ext uri="{BB962C8B-B14F-4D97-AF65-F5344CB8AC3E}">
        <p14:creationId xmlns:p14="http://schemas.microsoft.com/office/powerpoint/2010/main" val="178191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07821B-5649-449D-A1C2-3F67CA468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C00000"/>
                </a:solidFill>
              </a:rPr>
              <a:t>Thanks</a:t>
            </a:r>
            <a:r>
              <a:rPr lang="it-IT" dirty="0">
                <a:solidFill>
                  <a:srgbClr val="C00000"/>
                </a:solidFill>
              </a:rPr>
              <a:t> for </a:t>
            </a:r>
            <a:r>
              <a:rPr lang="it-IT" dirty="0" err="1">
                <a:solidFill>
                  <a:srgbClr val="C00000"/>
                </a:solidFill>
              </a:rPr>
              <a:t>your</a:t>
            </a:r>
            <a:r>
              <a:rPr lang="it-IT" dirty="0">
                <a:solidFill>
                  <a:srgbClr val="C00000"/>
                </a:solidFill>
              </a:rPr>
              <a:t> </a:t>
            </a:r>
            <a:r>
              <a:rPr lang="it-IT" dirty="0" err="1">
                <a:solidFill>
                  <a:srgbClr val="C00000"/>
                </a:solidFill>
              </a:rPr>
              <a:t>attention</a:t>
            </a:r>
            <a:r>
              <a:rPr lang="it-IT" dirty="0">
                <a:solidFill>
                  <a:srgbClr val="C00000"/>
                </a:solidFill>
              </a:rPr>
              <a:t>!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857493-CE83-4A58-B836-860B262B8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6093" y="3683529"/>
            <a:ext cx="5624623" cy="867206"/>
          </a:xfrm>
        </p:spPr>
        <p:txBody>
          <a:bodyPr/>
          <a:lstStyle/>
          <a:p>
            <a:r>
              <a:rPr lang="it-IT" sz="2400" dirty="0"/>
              <a:t>ALESSANDRO PIOVANI</a:t>
            </a:r>
          </a:p>
          <a:p>
            <a:r>
              <a:rPr lang="it-IT" sz="2400" dirty="0"/>
              <a:t>alessandro.piovani@istat.it</a:t>
            </a:r>
          </a:p>
        </p:txBody>
      </p:sp>
    </p:spTree>
    <p:extLst>
      <p:ext uri="{BB962C8B-B14F-4D97-AF65-F5344CB8AC3E}">
        <p14:creationId xmlns:p14="http://schemas.microsoft.com/office/powerpoint/2010/main" val="1975414769"/>
      </p:ext>
    </p:extLst>
  </p:cSld>
  <p:clrMapOvr>
    <a:masterClrMapping/>
  </p:clrMapOvr>
</p:sld>
</file>

<file path=ppt/theme/theme1.xml><?xml version="1.0" encoding="utf-8"?>
<a:theme xmlns:a="http://schemas.openxmlformats.org/drawingml/2006/main" name="elenco puntato">
  <a:themeElements>
    <a:clrScheme name="Personalizzato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C00000"/>
      </a:hlink>
      <a:folHlink>
        <a:srgbClr val="FF000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61A2BE3120D674DA36C11D6006822D4" ma:contentTypeVersion="5" ma:contentTypeDescription="Creare un nuovo documento." ma:contentTypeScope="" ma:versionID="742e6049321d93803bb3bb587f561ffa">
  <xsd:schema xmlns:xsd="http://www.w3.org/2001/XMLSchema" xmlns:xs="http://www.w3.org/2001/XMLSchema" xmlns:p="http://schemas.microsoft.com/office/2006/metadata/properties" xmlns:ns2="c58f2efd-82a8-4ecf-b395-8c25e928921d" xmlns:ns3="459159c4-d20a-4ff3-9b11-fbd127bd52e5" xmlns:ns4="679261c3-551f-4e86-913f-177e0e529669" targetNamespace="http://schemas.microsoft.com/office/2006/metadata/properties" ma:root="true" ma:fieldsID="939ae4a7eaec2950db97a79ca38d2d4d" ns2:_="" ns3:_="" ns4:_="">
    <xsd:import namespace="c58f2efd-82a8-4ecf-b395-8c25e928921d"/>
    <xsd:import namespace="459159c4-d20a-4ff3-9b11-fbd127bd52e5"/>
    <xsd:import namespace="679261c3-551f-4e86-913f-177e0e529669"/>
    <xsd:element name="properties">
      <xsd:complexType>
        <xsd:sequence>
          <xsd:element name="documentManagement">
            <xsd:complexType>
              <xsd:all>
                <xsd:element ref="ns2:Categoria"/>
                <xsd:element ref="ns3:_dlc_DocId" minOccurs="0"/>
                <xsd:element ref="ns3:_dlc_DocIdUrl" minOccurs="0"/>
                <xsd:element ref="ns3:_dlc_DocIdPersistId" minOccurs="0"/>
                <xsd:element ref="ns4:SottoCategoria" minOccurs="0"/>
                <xsd:element ref="ns4:Ordi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8f2efd-82a8-4ecf-b395-8c25e928921d" elementFormDefault="qualified">
    <xsd:import namespace="http://schemas.microsoft.com/office/2006/documentManagement/types"/>
    <xsd:import namespace="http://schemas.microsoft.com/office/infopath/2007/PartnerControls"/>
    <xsd:element name="Categoria" ma:index="8" ma:displayName="Categoria" ma:default="Sfondi virtuali" ma:format="Dropdown" ma:internalName="Categoria">
      <xsd:simpleType>
        <xsd:restriction base="dms:Choice">
          <xsd:enumeration value="Sfondi virtuali"/>
          <xsd:enumeration value="1- Marchio/Logo"/>
          <xsd:enumeration value="2- Carta intestata"/>
          <xsd:enumeration value="3- Standard presentazioni Power Point"/>
          <xsd:enumeration value="4- Fogli di stile per documenti Word"/>
          <xsd:enumeration value="Libri digitali e cartacei"/>
          <xsd:enumeration value="Tavole di dati online"/>
          <xsd:enumeration value="Grafici interattivi"/>
          <xsd:enumeration value="5- Strumenti di comunicazione relativi ai Censimenti permanenti"/>
          <xsd:enumeration value="6- Strumenti di comunicazione relativi al Censimento generale dell'Agricoltura 202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9159c4-d20a-4ff3-9b11-fbd127bd52e5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Valore ID documento" ma:description="Valore dell'ID documento assegnato all'elemento." ma:internalName="_dlc_DocId" ma:readOnly="true">
      <xsd:simpleType>
        <xsd:restriction base="dms:Text"/>
      </xsd:simpleType>
    </xsd:element>
    <xsd:element name="_dlc_DocIdUrl" ma:index="10" nillable="true" ma:displayName="ID documento" ma:description="Collegamento permanente al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9261c3-551f-4e86-913f-177e0e529669" elementFormDefault="qualified">
    <xsd:import namespace="http://schemas.microsoft.com/office/2006/documentManagement/types"/>
    <xsd:import namespace="http://schemas.microsoft.com/office/infopath/2007/PartnerControls"/>
    <xsd:element name="SottoCategoria" ma:index="12" nillable="true" ma:displayName="Sottocategoria" ma:default="-" ma:format="Dropdown" ma:internalName="SottoCategoria">
      <xsd:simpleType>
        <xsd:restriction base="dms:Choice">
          <xsd:enumeration value="-"/>
          <xsd:enumeration value="1- CP Generico"/>
          <xsd:enumeration value="2- CP Popolazione"/>
          <xsd:enumeration value="3- CP Imprese"/>
          <xsd:enumeration value="4- CP Istituzioni pubbliche"/>
          <xsd:enumeration value="5- CP Istituzioni non profit"/>
          <xsd:enumeration value="6- CP Agricoltura"/>
          <xsd:enumeration value="7- CP Agricoltura2020"/>
        </xsd:restriction>
      </xsd:simpleType>
    </xsd:element>
    <xsd:element name="Ordine" ma:index="13" nillable="true" ma:displayName="Ordine" ma:decimals="0" ma:internalName="Ordine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ttoCategoria xmlns="679261c3-551f-4e86-913f-177e0e529669">-</SottoCategoria>
    <Categoria xmlns="c58f2efd-82a8-4ecf-b395-8c25e928921d">3- Standard presentazioni Power Point</Categoria>
    <_dlc_DocId xmlns="459159c4-d20a-4ff3-9b11-fbd127bd52e5">INTRANET-14-174</_dlc_DocId>
    <_dlc_DocIdUrl xmlns="459159c4-d20a-4ff3-9b11-fbd127bd52e5">
      <Url>https://intranet.istat.it/Collaborativi/_layouts/15/DocIdRedir.aspx?ID=INTRANET-14-174</Url>
      <Description>INTRANET-14-174</Description>
    </_dlc_DocIdUrl>
    <Ordine xmlns="679261c3-551f-4e86-913f-177e0e529669">1</Ordine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760D03-2285-4F80-B9FC-1F4F97E971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8f2efd-82a8-4ecf-b395-8c25e928921d"/>
    <ds:schemaRef ds:uri="459159c4-d20a-4ff3-9b11-fbd127bd52e5"/>
    <ds:schemaRef ds:uri="679261c3-551f-4e86-913f-177e0e529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F378BC-F4D0-4510-B4EC-07B6EFE18CF8}">
  <ds:schemaRefs>
    <ds:schemaRef ds:uri="http://purl.org/dc/dcmitype/"/>
    <ds:schemaRef ds:uri="http://purl.org/dc/terms/"/>
    <ds:schemaRef ds:uri="459159c4-d20a-4ff3-9b11-fbd127bd52e5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679261c3-551f-4e86-913f-177e0e529669"/>
    <ds:schemaRef ds:uri="c58f2efd-82a8-4ecf-b395-8c25e928921d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9296C4F-9DE9-4B43-AA80-1FC85656CFF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D9C238D-4D5C-4783-820B-4854DCE45D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47599</TotalTime>
  <Words>94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1" baseType="lpstr">
      <vt:lpstr>Arial</vt:lpstr>
      <vt:lpstr>Arial Narrow</vt:lpstr>
      <vt:lpstr>Calibri</vt:lpstr>
      <vt:lpstr>Courier New</vt:lpstr>
      <vt:lpstr>Gill Sans MT</vt:lpstr>
      <vt:lpstr>Wingdings 2</vt:lpstr>
      <vt:lpstr>elenco puntato</vt:lpstr>
      <vt:lpstr>Title</vt:lpstr>
      <vt:lpstr>Seasonal Adjustment process</vt:lpstr>
      <vt:lpstr>Source code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PresentazioneStandard</dc:title>
  <dc:creator>Bruna Tabanella</dc:creator>
  <cp:lastModifiedBy>alessandro piovani</cp:lastModifiedBy>
  <cp:revision>662</cp:revision>
  <cp:lastPrinted>2024-04-15T12:01:46Z</cp:lastPrinted>
  <dcterms:created xsi:type="dcterms:W3CDTF">2020-06-26T06:32:12Z</dcterms:created>
  <dcterms:modified xsi:type="dcterms:W3CDTF">2026-10-20T16:31:34Z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0x010100661A2BE3120D674DA36C11D6006822D4</vt:lpwstr>
  </property>
  <property fmtid="{D5CDD505-2E9C-101B-9397-08002B2CF9AE}" pid="3" name="_dlc_DocIdItemGuid">
    <vt:lpwstr>01bbfd09-35f5-4720-8777-8e3977c2110b</vt:lpwstr>
  </property>
</Properties>
</file>