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about one part of daily seasonal adjustment that turned out to be decisive: the calendar. I will show the methodological choices we made for two daily series, electronic invoicing and electricity demand, and what they teach in general about building a good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series are timely proxies of official monthly indicators. In monthly data, calendar effects are averaged within the month; in daily data every special day is visible on its own, and the effects are large. If we want to use a month before it closes, the calendar-adjusted series must be flat within the month, so the calendar is the key ingredient.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series go through the same pipeline, built with the JDemetra+ 3 R packages (rjd3highfreq, rjd3sts): a log/level test, a pre-treatment with calendar regressors and outliers, and a sequential AMB decomposition, first weekly and then annual. This talk is about the pre-treatment. To judge the calendar we use one simple indicator: each day's calendar-adjusted value divided by the median of its month. If the calendar is right, this ratio is close to one for every group of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Coefficients tell you what the model estimated; the adjusted series tells you whether it worked. We compute the indicator for groups of days: by weekday, by day of month, by distance from month end, around holidays and in special periods. The most useful single trick was splitting every group into weekday, Saturday and Sunday: a regressor that is wrong shows up as under-correction on some day types and over-correction on others. We also read the outlier list as a diagnostic, and we check automatically that each regressor falls on the right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standard calendar, national holidays plus a few month-end dummies, the adjusted series was far from flat within the month. The 15th stood out: Italian rules require deferred invoices to be issued by the 15th of the following month. Day 1 was high, there was a ramp in the week before month end, and the last days were over-corrected. This is an administrative calendar that exists only in the data, not in any official holiday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calendar for e-invoicing models three things. The month end: the last day plus the five days before it, which on working days form a ramp. Fixed dates within the month: day 1, day 15 because of the deferred-invoice deadline, and day 20, which might reflect ten-day billing cycles, though we have not verified this. And the last working day: when the month ends on a weekend, invoicing moves to the Friday before. The table shows the final multiplicative effects. Read them carefully: they are relative to a normal day of the same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key methodological step. With one dummy per day, weekdays came out over-corrected and weekends under-corrected, or the opposite. The reason: a special day is measured against a normal day, and a normal Sunday has almost no invoices, so a Sunday month end has a huge relative effect that pulls the single coefficient. Splitting every regressor into weekday, Saturday and Sunday versions fixed this: 26 of the 27 groups of days now sit within 5% of one. The same table also shows the operational calendar: the weekend that is the month end is active, the weekend before a weekday month end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choices completed the e-invoicing calendar. First, the calendar is estimated jointly with the seasonal model: the original two-step approach used a different model for the calendar, and its time variation turned out to be zero anyway. Second, holidays that fall on a weekend: the standard construction kept them active, and the model compensated with outliers; 11 of 13 outliers were exactly those days. After the fix, the outliers tell real stories, such as the 2020 lockdown. Third, we simplified: regressors with no effect were dropped, similar ones merged, and non-significance is itself informative.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electricity we reused the diagnostics, not the calendar. The intra-month profiles were flat, so none of the month-end or mid-month regressors were needed. What was needed is a production calendar: bridges, days of partial closure around Christmas and mid-August, Saturday holidays, and an extra effect for midweek holidays, because Tuesday to Thursday is peak demand and a holiday there falls from a higher level. A general point: Christmas Eve has a fixed date, but its effect exists only when it falls on a weekday. The annual seasonal component can only absorb the average, so weekdays remain under-corrected and weekends get an artificial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Easter is the clearest example of a lesson that applies to every holiday. The drop in demand runs from Good Friday to the Tuesday after Easter Monday. When we added regressors for Good Friday, Holy Saturday and Easter Tuesday, Easter Sunday and Easter Monday improved too, although their regressors were already there, and the Easter Monday effect grew from 195 to 226 thousand MWh. The reason is that the model's local level absorbs part of a drop that lasts several days, so the effects of the modelled days are measured against a level that is already too low. We saw exactly the same with Christmas.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model let holiday effects vary over time, and at first they varied a lot. Most of that was an artefact: holidays falling on weekends were treated as holidays, and the free coefficients bent to accommodate them. All Saints' Day 2025 is the clearest case. Once weekend holidays were fixed, the variation dropped by 75 to 90 percent. But when we tested again with the complete calendar, a smooth drift common to most holidays was still there: holiday effects have been shrinking, mainly since 2018. Ferragosto is the exception, and stays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same calendar, we compared fixed coefficients estimated jointly with the seasonal model against time-varying coefficients estimated in a separate step. Neither wins everywhere: time-varying coefficients handle midweek holidays and bridges better; fixed coefficients handle the Easter window better, because in the two-step approach the calendar model only has weekly seasonality. The two adjusted series are almost identical on ordinary days and differ by 3 to 4 percent on recent holidays, exactly where the drift matters. We chose time-varying coefficients, consistent with the evidence of a real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the two cases side by side: the same diagnostics led to two completely different calendars. E-invoicing follows an administrative calendar, driven by billing rules and fiscal deadlines, with strong effects within the month. Electricity follows a production calendar, driven by plant activity, with bridges and closures around holidays and no intra-month effects at all. The effects also behave differently over time: stable for invoicing, slowly drifting for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process we actually followed, written in a form that should apply to any daily series. Explore the raw data and ask why each anomalous day is special. Start from a minimal, motivated calendar and estimate it together with the seasonal model. Diagnose the adjusted series, not the coefficients. Refine one hypothesis at a time, each tested with a targeted table before a regressor is added, and re-run every profile because a fix can move the problem to neighbouring days. Finally, simplify, test time variation once the calendar is complete, and know when to stop: we used a 5 percent tolerance and did not chase effects seen in only a handful of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lessons. One: reuse the diagnostics, build the calendar from each series' evidence. Two: a Sunday month end is not a weekday month end, and a Saturday holiday is not a Sunday. Three: Christmas Eve has a fixed date but is not a seasonal effect, because it depends on the weekday. Four: model the neighbours of special days, as Easter showed. Five: what firms do matters more than the official calendar. Six: coefficients free to vary absorb specification errors, but removing the errors is not enough to rule out real variation. Seven: read the outliers. Eight: check what package options actually do; holidays on weekends were silently active in the default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questions remain open, and they can all be investigated. For electricity, temperature is the obvious next effect: the outliers already point to it, with pairs of summer level shifts in cool and hot summers. And the drift in holiday effects needs an explanation; two candidate hypotheses are a smaller industrial share of electricity consumption and the growth of rooftop solar self-generation. For e-invoicing, three smaller puzzles: the day-20 peak, the lower Sundays just before month end, and two outliers on early-February Sundays.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p:bgPr>
    </p:bg>
    <p:spTree>
      <p:nvGrpSpPr>
        <p:cNvPr id="1" name=""/>
        <p:cNvGrpSpPr/>
        <p:nvPr/>
      </p:nvGrpSpPr>
      <p:grpSpPr>
        <a:xfrm>
          <a:off x="0" y="0"/>
          <a:ext cx="0" cy="0"/>
          <a:chOff x="0" y="0"/>
          <a:chExt cx="0" cy="0"/>
        </a:xfrm>
      </p:grpSpPr>
      <p:sp>
        <p:nvSpPr>
          <p:cNvPr id="2" name="Text 0"/>
          <p:cNvSpPr/>
          <p:nvPr/>
        </p:nvSpPr>
        <p:spPr>
          <a:xfrm>
            <a:off x="812800" y="181947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A76B"/>
                </a:solidFill>
                <a:latin typeface="IBM Plex Sans" pitchFamily="34" charset="0"/>
                <a:ea typeface="IBM Plex Sans" pitchFamily="34" charset="-122"/>
                <a:cs typeface="IBM Plex Sans" pitchFamily="34" charset="-120"/>
              </a:rPr>
              <a:t>DAILY SEASONAL ADJUSTMENT</a:t>
            </a:r>
            <a:endParaRPr lang="en-US" sz="1200" dirty="0"/>
          </a:p>
        </p:txBody>
      </p:sp>
      <p:sp>
        <p:nvSpPr>
          <p:cNvPr id="3" name="Text 1"/>
          <p:cNvSpPr/>
          <p:nvPr/>
        </p:nvSpPr>
        <p:spPr>
          <a:xfrm>
            <a:off x="812800" y="2286794"/>
            <a:ext cx="9810750" cy="1342033"/>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F3EFE6"/>
                </a:solidFill>
                <a:latin typeface="Source Serif 4" pitchFamily="34" charset="0"/>
                <a:ea typeface="Source Serif 4" pitchFamily="34" charset="-122"/>
                <a:cs typeface="Source Serif 4" pitchFamily="34" charset="-120"/>
              </a:rPr>
              <a:t>Building a calendar for daily data</a:t>
            </a:r>
            <a:endParaRPr lang="en-US" sz="4800" dirty="0"/>
          </a:p>
        </p:txBody>
      </p:sp>
      <p:sp>
        <p:nvSpPr>
          <p:cNvPr id="4" name="Text 2"/>
          <p:cNvSpPr/>
          <p:nvPr/>
        </p:nvSpPr>
        <p:spPr>
          <a:xfrm>
            <a:off x="812800" y="3857427"/>
            <a:ext cx="91567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E0"/>
                </a:solidFill>
                <a:latin typeface="IBM Plex Sans" pitchFamily="34" charset="0"/>
                <a:ea typeface="IBM Plex Sans" pitchFamily="34" charset="-122"/>
                <a:cs typeface="IBM Plex Sans" pitchFamily="34" charset="-120"/>
              </a:rPr>
              <a:t>Methodological choices and lessons from two high-frequency proxies: electronic invoicing and electricity demand</a:t>
            </a:r>
            <a:endParaRPr lang="en-US" sz="2000" dirty="0"/>
          </a:p>
        </p:txBody>
      </p:sp>
      <p:sp>
        <p:nvSpPr>
          <p:cNvPr id="5" name="Shape 3"/>
          <p:cNvSpPr/>
          <p:nvPr/>
        </p:nvSpPr>
        <p:spPr>
          <a:xfrm>
            <a:off x="812800" y="4892477"/>
            <a:ext cx="406400" cy="25400"/>
          </a:xfrm>
          <a:prstGeom prst="rect">
            <a:avLst/>
          </a:prstGeom>
          <a:solidFill>
            <a:srgbClr val="E8A76B"/>
          </a:solidFill>
          <a:ln/>
        </p:spPr>
      </p:sp>
      <p:sp>
        <p:nvSpPr>
          <p:cNvPr id="6" name="Text 4"/>
          <p:cNvSpPr/>
          <p:nvPr/>
        </p:nvSpPr>
        <p:spPr>
          <a:xfrm>
            <a:off x="1371600" y="4771827"/>
            <a:ext cx="319891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E0"/>
                </a:solidFill>
                <a:latin typeface="IBM Plex Sans" pitchFamily="34" charset="0"/>
                <a:ea typeface="IBM Plex Sans" pitchFamily="34" charset="-122"/>
                <a:cs typeface="IBM Plex Sans" pitchFamily="34" charset="-120"/>
              </a:rPr>
              <a:t>[Author] · [Institution] · [Event, date]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A6B82"/>
                </a:solidFill>
                <a:latin typeface="IBM Plex Sans" pitchFamily="34" charset="0"/>
                <a:ea typeface="IBM Plex Sans" pitchFamily="34" charset="-122"/>
                <a:cs typeface="IBM Plex Sans" pitchFamily="34" charset="-120"/>
              </a:rPr>
              <a:t>MOTIVATION</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Why the calendar matters more with daily data</a:t>
            </a:r>
            <a:endParaRPr lang="en-US" sz="3200" dirty="0"/>
          </a:p>
        </p:txBody>
      </p:sp>
      <p:sp>
        <p:nvSpPr>
          <p:cNvPr id="4" name="Shape 2"/>
          <p:cNvSpPr/>
          <p:nvPr/>
        </p:nvSpPr>
        <p:spPr>
          <a:xfrm>
            <a:off x="815975" y="1857276"/>
            <a:ext cx="3414117" cy="2556470"/>
          </a:xfrm>
          <a:prstGeom prst="roundRect">
            <a:avLst>
              <a:gd name="adj" fmla="val 3850"/>
            </a:avLst>
          </a:prstGeom>
          <a:solidFill>
            <a:srgbClr val="FBFAF6"/>
          </a:solidFill>
          <a:ln w="6350">
            <a:solidFill>
              <a:srgbClr val="DDD8CC"/>
            </a:solidFill>
            <a:prstDash val="solid"/>
          </a:ln>
        </p:spPr>
      </p:sp>
      <p:sp>
        <p:nvSpPr>
          <p:cNvPr id="5" name="Text 3"/>
          <p:cNvSpPr/>
          <p:nvPr/>
        </p:nvSpPr>
        <p:spPr>
          <a:xfrm>
            <a:off x="1073150" y="2114451"/>
            <a:ext cx="29867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5DA8"/>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1073150" y="2429371"/>
            <a:ext cx="298676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6233A"/>
                </a:solidFill>
                <a:latin typeface="Source Serif 4" pitchFamily="34" charset="0"/>
                <a:ea typeface="Source Serif 4" pitchFamily="34" charset="-122"/>
                <a:cs typeface="Source Serif 4" pitchFamily="34" charset="-120"/>
              </a:rPr>
              <a:t>Timely proxies</a:t>
            </a:r>
            <a:endParaRPr lang="en-US" sz="2000" dirty="0"/>
          </a:p>
        </p:txBody>
      </p:sp>
      <p:sp>
        <p:nvSpPr>
          <p:cNvPr id="7" name="Text 5"/>
          <p:cNvSpPr/>
          <p:nvPr/>
        </p:nvSpPr>
        <p:spPr>
          <a:xfrm>
            <a:off x="1073150" y="2823071"/>
            <a:ext cx="298676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Daily electronic invoices track business turnover; daily electricity demand tracks industrial production.</a:t>
            </a:r>
            <a:endParaRPr lang="en-US" sz="1500" dirty="0"/>
          </a:p>
        </p:txBody>
      </p:sp>
      <p:sp>
        <p:nvSpPr>
          <p:cNvPr id="8" name="Shape 6"/>
          <p:cNvSpPr/>
          <p:nvPr/>
        </p:nvSpPr>
        <p:spPr>
          <a:xfrm>
            <a:off x="4388842" y="1857276"/>
            <a:ext cx="3414216" cy="2556470"/>
          </a:xfrm>
          <a:prstGeom prst="roundRect">
            <a:avLst>
              <a:gd name="adj" fmla="val 3850"/>
            </a:avLst>
          </a:prstGeom>
          <a:solidFill>
            <a:srgbClr val="FBFAF6"/>
          </a:solidFill>
          <a:ln w="6350">
            <a:solidFill>
              <a:srgbClr val="DDD8CC"/>
            </a:solidFill>
            <a:prstDash val="solid"/>
          </a:ln>
        </p:spPr>
      </p:sp>
      <p:sp>
        <p:nvSpPr>
          <p:cNvPr id="9" name="Text 7"/>
          <p:cNvSpPr/>
          <p:nvPr/>
        </p:nvSpPr>
        <p:spPr>
          <a:xfrm>
            <a:off x="4646017" y="2114451"/>
            <a:ext cx="29868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5DA8"/>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4646017" y="2429371"/>
            <a:ext cx="2986862"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6233A"/>
                </a:solidFill>
                <a:latin typeface="Source Serif 4" pitchFamily="34" charset="0"/>
                <a:ea typeface="Source Serif 4" pitchFamily="34" charset="-122"/>
                <a:cs typeface="Source Serif 4" pitchFamily="34" charset="-120"/>
              </a:rPr>
              <a:t>Every day shows</a:t>
            </a:r>
            <a:endParaRPr lang="en-US" sz="2000" dirty="0"/>
          </a:p>
        </p:txBody>
      </p:sp>
      <p:sp>
        <p:nvSpPr>
          <p:cNvPr id="11" name="Text 9"/>
          <p:cNvSpPr/>
          <p:nvPr/>
        </p:nvSpPr>
        <p:spPr>
          <a:xfrm>
            <a:off x="4646017" y="2823071"/>
            <a:ext cx="2986862"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Monthly data average calendar effects out. Daily data expose every special day: a month end is worth almost nine ordinary weekdays of invoicing.</a:t>
            </a:r>
            <a:endParaRPr lang="en-US" sz="1500" dirty="0"/>
          </a:p>
        </p:txBody>
      </p:sp>
      <p:sp>
        <p:nvSpPr>
          <p:cNvPr id="12" name="Shape 10"/>
          <p:cNvSpPr/>
          <p:nvPr/>
        </p:nvSpPr>
        <p:spPr>
          <a:xfrm>
            <a:off x="7961809" y="1857276"/>
            <a:ext cx="3414216" cy="2556470"/>
          </a:xfrm>
          <a:prstGeom prst="roundRect">
            <a:avLst>
              <a:gd name="adj" fmla="val 3850"/>
            </a:avLst>
          </a:prstGeom>
          <a:solidFill>
            <a:srgbClr val="FBFAF6"/>
          </a:solidFill>
          <a:ln w="6350">
            <a:solidFill>
              <a:srgbClr val="DDD8CC"/>
            </a:solidFill>
            <a:prstDash val="solid"/>
          </a:ln>
        </p:spPr>
      </p:sp>
      <p:sp>
        <p:nvSpPr>
          <p:cNvPr id="13" name="Text 11"/>
          <p:cNvSpPr/>
          <p:nvPr/>
        </p:nvSpPr>
        <p:spPr>
          <a:xfrm>
            <a:off x="8218984" y="2114451"/>
            <a:ext cx="29868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5DA8"/>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8218984" y="2429371"/>
            <a:ext cx="2986862"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6233A"/>
                </a:solidFill>
                <a:latin typeface="Source Serif 4" pitchFamily="34" charset="0"/>
                <a:ea typeface="Source Serif 4" pitchFamily="34" charset="-122"/>
                <a:cs typeface="Source Serif 4" pitchFamily="34" charset="-120"/>
              </a:rPr>
              <a:t>Partial months</a:t>
            </a:r>
            <a:endParaRPr lang="en-US" sz="2000" dirty="0"/>
          </a:p>
        </p:txBody>
      </p:sp>
      <p:sp>
        <p:nvSpPr>
          <p:cNvPr id="15" name="Text 13"/>
          <p:cNvSpPr/>
          <p:nvPr/>
        </p:nvSpPr>
        <p:spPr>
          <a:xfrm>
            <a:off x="8218984" y="2823071"/>
            <a:ext cx="298686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Reading a month before it closes needs a calendar-adjusted series that is flat within the month.</a:t>
            </a:r>
            <a:endParaRPr lang="en-US" sz="1500" dirty="0"/>
          </a:p>
        </p:txBody>
      </p:sp>
      <p:sp>
        <p:nvSpPr>
          <p:cNvPr id="16" name="Text 14"/>
          <p:cNvSpPr/>
          <p:nvPr/>
        </p:nvSpPr>
        <p:spPr>
          <a:xfrm>
            <a:off x="812800" y="4721721"/>
            <a:ext cx="10883392" cy="355600"/>
          </a:xfrm>
          <a:prstGeom prst="rect">
            <a:avLst/>
          </a:prstGeom>
          <a:noFill/>
          <a:ln/>
        </p:spPr>
        <p:txBody>
          <a:bodyPr wrap="square" lIns="0" tIns="0" rIns="0" bIns="0" rtlCol="0" anchor="t">
            <a:normAutofit/>
          </a:bodyPr>
          <a:lstStyle/>
          <a:p>
            <a:pPr algn="l" indent="0" marL="0">
              <a:lnSpc>
                <a:spcPts val="2600"/>
              </a:lnSpc>
              <a:buNone/>
            </a:pPr>
            <a:r>
              <a:rPr lang="en-US" sz="2000" i="1" dirty="0">
                <a:solidFill>
                  <a:srgbClr val="16233A"/>
                </a:solidFill>
                <a:latin typeface="Source Serif 4" pitchFamily="34" charset="0"/>
                <a:ea typeface="Source Serif 4" pitchFamily="34" charset="-122"/>
                <a:cs typeface="Source Serif 4" pitchFamily="34" charset="-120"/>
              </a:rPr>
              <a:t>At daily frequency, the calendar decides the quality of the seasonal adjustment.</a:t>
            </a:r>
            <a:endParaRPr lang="en-US" sz="20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A6B82"/>
                </a:solidFill>
                <a:latin typeface="IBM Plex Sans" pitchFamily="34" charset="0"/>
                <a:ea typeface="IBM Plex Sans" pitchFamily="34" charset="-122"/>
                <a:cs typeface="IBM Plex Sans" pitchFamily="34" charset="-120"/>
              </a:rPr>
              <a:t>FRAMEWORK</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One pipeline, one diagnostic</a:t>
            </a:r>
            <a:endParaRPr lang="en-US" sz="3200" dirty="0"/>
          </a:p>
        </p:txBody>
      </p:sp>
      <p:sp>
        <p:nvSpPr>
          <p:cNvPr id="4" name="Shape 2"/>
          <p:cNvSpPr/>
          <p:nvPr/>
        </p:nvSpPr>
        <p:spPr>
          <a:xfrm>
            <a:off x="815975" y="1982986"/>
            <a:ext cx="1743670" cy="1232991"/>
          </a:xfrm>
          <a:prstGeom prst="roundRect">
            <a:avLst>
              <a:gd name="adj" fmla="val 7983"/>
            </a:avLst>
          </a:prstGeom>
          <a:solidFill>
            <a:srgbClr val="FBFAF6"/>
          </a:solidFill>
          <a:ln w="6350">
            <a:solidFill>
              <a:srgbClr val="DDD8CC"/>
            </a:solidFill>
            <a:prstDash val="solid"/>
          </a:ln>
        </p:spPr>
      </p:sp>
      <p:sp>
        <p:nvSpPr>
          <p:cNvPr id="5" name="Text 3"/>
          <p:cNvSpPr/>
          <p:nvPr/>
        </p:nvSpPr>
        <p:spPr>
          <a:xfrm>
            <a:off x="971550" y="2138561"/>
            <a:ext cx="14833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A"/>
                </a:solidFill>
                <a:latin typeface="IBM Plex Sans" pitchFamily="34" charset="0"/>
                <a:ea typeface="IBM Plex Sans" pitchFamily="34" charset="-122"/>
                <a:cs typeface="IBM Plex Sans" pitchFamily="34" charset="-120"/>
              </a:rPr>
              <a:t>Raw daily series</a:t>
            </a:r>
            <a:endParaRPr lang="en-US" sz="1300" dirty="0"/>
          </a:p>
        </p:txBody>
      </p:sp>
      <p:sp>
        <p:nvSpPr>
          <p:cNvPr id="6" name="Text 4"/>
          <p:cNvSpPr/>
          <p:nvPr/>
        </p:nvSpPr>
        <p:spPr>
          <a:xfrm>
            <a:off x="971550" y="2420441"/>
            <a:ext cx="14833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e-invoicing 2019–2025; electricity 2012–2025</a:t>
            </a:r>
            <a:endParaRPr lang="en-US" sz="1200" dirty="0"/>
          </a:p>
        </p:txBody>
      </p:sp>
      <p:pic>
        <p:nvPicPr>
          <p:cNvPr id="7" name="Image 0" descr="arrow-right">    </p:cNvPr>
          <p:cNvPicPr>
            <a:picLocks noChangeAspect="1"/>
          </p:cNvPicPr>
          <p:nvPr/>
        </p:nvPicPr>
        <p:blipFill>
          <a:blip r:embed="rId1"/>
          <a:srcRect l="0" r="0" t="0" b="0"/>
          <a:stretch/>
        </p:blipFill>
        <p:spPr>
          <a:xfrm>
            <a:off x="2639020" y="2523232"/>
            <a:ext cx="304800" cy="152400"/>
          </a:xfrm>
          <a:prstGeom prst="rect">
            <a:avLst/>
          </a:prstGeom>
        </p:spPr>
      </p:pic>
      <p:sp>
        <p:nvSpPr>
          <p:cNvPr id="8" name="Shape 5"/>
          <p:cNvSpPr/>
          <p:nvPr/>
        </p:nvSpPr>
        <p:spPr>
          <a:xfrm>
            <a:off x="3023195" y="1982986"/>
            <a:ext cx="1743770" cy="1232991"/>
          </a:xfrm>
          <a:prstGeom prst="roundRect">
            <a:avLst>
              <a:gd name="adj" fmla="val 7983"/>
            </a:avLst>
          </a:prstGeom>
          <a:solidFill>
            <a:srgbClr val="FBFAF6"/>
          </a:solidFill>
          <a:ln w="6350">
            <a:solidFill>
              <a:srgbClr val="DDD8CC"/>
            </a:solidFill>
            <a:prstDash val="solid"/>
          </a:ln>
        </p:spPr>
      </p:sp>
      <p:sp>
        <p:nvSpPr>
          <p:cNvPr id="9" name="Text 6"/>
          <p:cNvSpPr/>
          <p:nvPr/>
        </p:nvSpPr>
        <p:spPr>
          <a:xfrm>
            <a:off x="3178770" y="2138561"/>
            <a:ext cx="14834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A"/>
                </a:solidFill>
                <a:latin typeface="IBM Plex Sans" pitchFamily="34" charset="0"/>
                <a:ea typeface="IBM Plex Sans" pitchFamily="34" charset="-122"/>
                <a:cs typeface="IBM Plex Sans" pitchFamily="34" charset="-120"/>
              </a:rPr>
              <a:t>Log / level test</a:t>
            </a:r>
            <a:endParaRPr lang="en-US" sz="1300" dirty="0"/>
          </a:p>
        </p:txBody>
      </p:sp>
      <p:sp>
        <p:nvSpPr>
          <p:cNvPr id="10" name="Text 7"/>
          <p:cNvSpPr/>
          <p:nvPr/>
        </p:nvSpPr>
        <p:spPr>
          <a:xfrm>
            <a:off x="3178770" y="2420441"/>
            <a:ext cx="14834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AICc: log for e-invoicing, levels for electricity</a:t>
            </a:r>
            <a:endParaRPr lang="en-US" sz="1200" dirty="0"/>
          </a:p>
        </p:txBody>
      </p:sp>
      <p:pic>
        <p:nvPicPr>
          <p:cNvPr id="11" name="Image 1" descr="arrow-right">    </p:cNvPr>
          <p:cNvPicPr>
            <a:picLocks noChangeAspect="1"/>
          </p:cNvPicPr>
          <p:nvPr/>
        </p:nvPicPr>
        <p:blipFill>
          <a:blip r:embed="rId2"/>
          <a:srcRect l="0" r="0" t="0" b="0"/>
          <a:stretch/>
        </p:blipFill>
        <p:spPr>
          <a:xfrm>
            <a:off x="4846340" y="2523232"/>
            <a:ext cx="304800" cy="152400"/>
          </a:xfrm>
          <a:prstGeom prst="rect">
            <a:avLst/>
          </a:prstGeom>
        </p:spPr>
      </p:pic>
      <p:sp>
        <p:nvSpPr>
          <p:cNvPr id="12" name="Shape 8"/>
          <p:cNvSpPr/>
          <p:nvPr/>
        </p:nvSpPr>
        <p:spPr>
          <a:xfrm>
            <a:off x="5227340" y="1854101"/>
            <a:ext cx="1737320" cy="1490762"/>
          </a:xfrm>
          <a:prstGeom prst="roundRect">
            <a:avLst>
              <a:gd name="adj" fmla="val 6815"/>
            </a:avLst>
          </a:prstGeom>
          <a:solidFill>
            <a:srgbClr val="16233A"/>
          </a:solidFill>
          <a:ln/>
        </p:spPr>
      </p:sp>
      <p:sp>
        <p:nvSpPr>
          <p:cNvPr id="13" name="Text 9"/>
          <p:cNvSpPr/>
          <p:nvPr/>
        </p:nvSpPr>
        <p:spPr>
          <a:xfrm>
            <a:off x="5379740" y="2006501"/>
            <a:ext cx="14833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Pre-treatment</a:t>
            </a:r>
            <a:endParaRPr lang="en-US" sz="1300" dirty="0"/>
          </a:p>
        </p:txBody>
      </p:sp>
      <p:sp>
        <p:nvSpPr>
          <p:cNvPr id="14" name="Text 10"/>
          <p:cNvSpPr/>
          <p:nvPr/>
        </p:nvSpPr>
        <p:spPr>
          <a:xfrm>
            <a:off x="5379740" y="2288381"/>
            <a:ext cx="14833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calendar regressors + outliers (AO, WO, LS)</a:t>
            </a:r>
            <a:endParaRPr lang="en-US" sz="1200" dirty="0"/>
          </a:p>
        </p:txBody>
      </p:sp>
      <p:sp>
        <p:nvSpPr>
          <p:cNvPr id="15" name="Text 11"/>
          <p:cNvSpPr/>
          <p:nvPr/>
        </p:nvSpPr>
        <p:spPr>
          <a:xfrm>
            <a:off x="5379740" y="2979142"/>
            <a:ext cx="14833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A76B"/>
                </a:solidFill>
                <a:latin typeface="IBM Plex Sans" pitchFamily="34" charset="0"/>
                <a:ea typeface="IBM Plex Sans" pitchFamily="34" charset="-122"/>
                <a:cs typeface="IBM Plex Sans" pitchFamily="34" charset="-120"/>
              </a:rPr>
              <a:t>focus of this talk</a:t>
            </a:r>
            <a:endParaRPr lang="en-US" sz="1200" dirty="0"/>
          </a:p>
        </p:txBody>
      </p:sp>
      <p:pic>
        <p:nvPicPr>
          <p:cNvPr id="16" name="Image 2" descr="arrow-right">    </p:cNvPr>
          <p:cNvPicPr>
            <a:picLocks noChangeAspect="1"/>
          </p:cNvPicPr>
          <p:nvPr/>
        </p:nvPicPr>
        <p:blipFill>
          <a:blip r:embed="rId3"/>
          <a:srcRect l="0" r="0" t="0" b="0"/>
          <a:stretch/>
        </p:blipFill>
        <p:spPr>
          <a:xfrm>
            <a:off x="7040860" y="2523232"/>
            <a:ext cx="304800" cy="152400"/>
          </a:xfrm>
          <a:prstGeom prst="rect">
            <a:avLst/>
          </a:prstGeom>
        </p:spPr>
      </p:pic>
      <p:sp>
        <p:nvSpPr>
          <p:cNvPr id="17" name="Shape 12"/>
          <p:cNvSpPr/>
          <p:nvPr/>
        </p:nvSpPr>
        <p:spPr>
          <a:xfrm>
            <a:off x="7425035" y="1867396"/>
            <a:ext cx="1743770" cy="1464072"/>
          </a:xfrm>
          <a:prstGeom prst="roundRect">
            <a:avLst>
              <a:gd name="adj" fmla="val 6723"/>
            </a:avLst>
          </a:prstGeom>
          <a:solidFill>
            <a:srgbClr val="FBFAF6"/>
          </a:solidFill>
          <a:ln w="6350">
            <a:solidFill>
              <a:srgbClr val="DDD8CC"/>
            </a:solidFill>
            <a:prstDash val="solid"/>
          </a:ln>
        </p:spPr>
      </p:sp>
      <p:sp>
        <p:nvSpPr>
          <p:cNvPr id="18" name="Text 13"/>
          <p:cNvSpPr/>
          <p:nvPr/>
        </p:nvSpPr>
        <p:spPr>
          <a:xfrm>
            <a:off x="7580610" y="2022971"/>
            <a:ext cx="148342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A"/>
                </a:solidFill>
                <a:latin typeface="IBM Plex Sans" pitchFamily="34" charset="0"/>
                <a:ea typeface="IBM Plex Sans" pitchFamily="34" charset="-122"/>
                <a:cs typeface="IBM Plex Sans" pitchFamily="34" charset="-120"/>
              </a:rPr>
              <a:t>AMB decomposition</a:t>
            </a:r>
            <a:endParaRPr lang="en-US" sz="1300" dirty="0"/>
          </a:p>
        </p:txBody>
      </p:sp>
      <p:sp>
        <p:nvSpPr>
          <p:cNvPr id="19" name="Text 14"/>
          <p:cNvSpPr/>
          <p:nvPr/>
        </p:nvSpPr>
        <p:spPr>
          <a:xfrm>
            <a:off x="7580610" y="2535932"/>
            <a:ext cx="14834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weekly (7 days), then annual (365.24 days)</a:t>
            </a:r>
            <a:endParaRPr lang="en-US" sz="1200" dirty="0"/>
          </a:p>
        </p:txBody>
      </p:sp>
      <p:pic>
        <p:nvPicPr>
          <p:cNvPr id="20" name="Image 3" descr="arrow-right">    </p:cNvPr>
          <p:cNvPicPr>
            <a:picLocks noChangeAspect="1"/>
          </p:cNvPicPr>
          <p:nvPr/>
        </p:nvPicPr>
        <p:blipFill>
          <a:blip r:embed="rId4"/>
          <a:srcRect l="0" r="0" t="0" b="0"/>
          <a:stretch/>
        </p:blipFill>
        <p:spPr>
          <a:xfrm>
            <a:off x="9248180" y="2523232"/>
            <a:ext cx="304800" cy="152400"/>
          </a:xfrm>
          <a:prstGeom prst="rect">
            <a:avLst/>
          </a:prstGeom>
        </p:spPr>
      </p:pic>
      <p:sp>
        <p:nvSpPr>
          <p:cNvPr id="21" name="Shape 15"/>
          <p:cNvSpPr/>
          <p:nvPr/>
        </p:nvSpPr>
        <p:spPr>
          <a:xfrm>
            <a:off x="9632355" y="1982986"/>
            <a:ext cx="1743670" cy="1232991"/>
          </a:xfrm>
          <a:prstGeom prst="roundRect">
            <a:avLst>
              <a:gd name="adj" fmla="val 7983"/>
            </a:avLst>
          </a:prstGeom>
          <a:solidFill>
            <a:srgbClr val="FBFAF6"/>
          </a:solidFill>
          <a:ln w="6350">
            <a:solidFill>
              <a:srgbClr val="DDD8CC"/>
            </a:solidFill>
            <a:prstDash val="solid"/>
          </a:ln>
        </p:spPr>
      </p:sp>
      <p:sp>
        <p:nvSpPr>
          <p:cNvPr id="22" name="Text 16"/>
          <p:cNvSpPr/>
          <p:nvPr/>
        </p:nvSpPr>
        <p:spPr>
          <a:xfrm>
            <a:off x="9787930" y="2138561"/>
            <a:ext cx="14833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A"/>
                </a:solidFill>
                <a:latin typeface="IBM Plex Sans" pitchFamily="34" charset="0"/>
                <a:ea typeface="IBM Plex Sans" pitchFamily="34" charset="-122"/>
                <a:cs typeface="IBM Plex Sans" pitchFamily="34" charset="-120"/>
              </a:rPr>
              <a:t>SA_CA</a:t>
            </a:r>
            <a:endParaRPr lang="en-US" sz="1300" dirty="0"/>
          </a:p>
        </p:txBody>
      </p:sp>
      <p:sp>
        <p:nvSpPr>
          <p:cNvPr id="23" name="Text 17"/>
          <p:cNvSpPr/>
          <p:nvPr/>
        </p:nvSpPr>
        <p:spPr>
          <a:xfrm>
            <a:off x="9787930" y="2420441"/>
            <a:ext cx="14833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seasonally and calendar adjusted series</a:t>
            </a:r>
            <a:endParaRPr lang="en-US" sz="1200" dirty="0"/>
          </a:p>
        </p:txBody>
      </p:sp>
      <p:sp>
        <p:nvSpPr>
          <p:cNvPr id="24" name="Shape 18"/>
          <p:cNvSpPr/>
          <p:nvPr/>
        </p:nvSpPr>
        <p:spPr>
          <a:xfrm>
            <a:off x="815975" y="3652838"/>
            <a:ext cx="10560050" cy="1631950"/>
          </a:xfrm>
          <a:prstGeom prst="roundRect">
            <a:avLst>
              <a:gd name="adj" fmla="val 6031"/>
            </a:avLst>
          </a:prstGeom>
          <a:solidFill>
            <a:srgbClr val="FBFAF6"/>
          </a:solidFill>
          <a:ln w="6350">
            <a:solidFill>
              <a:srgbClr val="DDD8CC"/>
            </a:solidFill>
            <a:prstDash val="solid"/>
          </a:ln>
        </p:spPr>
      </p:sp>
      <p:sp>
        <p:nvSpPr>
          <p:cNvPr id="25" name="Text 19"/>
          <p:cNvSpPr/>
          <p:nvPr/>
        </p:nvSpPr>
        <p:spPr>
          <a:xfrm>
            <a:off x="1073150" y="3910013"/>
            <a:ext cx="1034707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6233A"/>
                </a:solidFill>
                <a:latin typeface="Source Serif 4" pitchFamily="34" charset="0"/>
                <a:ea typeface="Source Serif 4" pitchFamily="34" charset="-122"/>
                <a:cs typeface="Source Serif 4" pitchFamily="34" charset="-120"/>
              </a:rPr>
              <a:t>Diagnostic indicator</a:t>
            </a:r>
            <a:endParaRPr lang="en-US" sz="2000" dirty="0"/>
          </a:p>
        </p:txBody>
      </p:sp>
      <p:sp>
        <p:nvSpPr>
          <p:cNvPr id="26" name="Text 20"/>
          <p:cNvSpPr/>
          <p:nvPr/>
        </p:nvSpPr>
        <p:spPr>
          <a:xfrm>
            <a:off x="1073150" y="4303713"/>
            <a:ext cx="10347071"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2A5DA8"/>
                </a:solidFill>
                <a:latin typeface="Source Serif 4" pitchFamily="34" charset="0"/>
                <a:ea typeface="Source Serif 4" pitchFamily="34" charset="-122"/>
                <a:cs typeface="Source Serif 4" pitchFamily="34" charset="-120"/>
              </a:rPr>
              <a:t>rel = SA_CA of the day ÷ median SA_CA of its month</a:t>
            </a:r>
            <a:endParaRPr lang="en-US" sz="2000" dirty="0"/>
          </a:p>
        </p:txBody>
      </p:sp>
      <p:sp>
        <p:nvSpPr>
          <p:cNvPr id="27" name="Text 21"/>
          <p:cNvSpPr/>
          <p:nvPr/>
        </p:nvSpPr>
        <p:spPr>
          <a:xfrm>
            <a:off x="1073150" y="4760913"/>
            <a:ext cx="103470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Expected ≈ 1 for every group of days. Medians are robust to outliers and exceptional months; tolerance ±5%.</a:t>
            </a:r>
            <a:endParaRPr lang="en-US" sz="1500" dirty="0"/>
          </a:p>
        </p:txBody>
      </p:sp>
      <p:sp>
        <p:nvSpPr>
          <p:cNvPr id="28" name="Text 2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29"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A6B82"/>
                </a:solidFill>
                <a:latin typeface="IBM Plex Sans" pitchFamily="34" charset="0"/>
                <a:ea typeface="IBM Plex Sans" pitchFamily="34" charset="-122"/>
                <a:cs typeface="IBM Plex Sans" pitchFamily="34" charset="-120"/>
              </a:rPr>
              <a:t>METHOD</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Diagnose the adjusted series, not the coefficients</a:t>
            </a:r>
            <a:endParaRPr lang="en-US" sz="3200" dirty="0"/>
          </a:p>
        </p:txBody>
      </p:sp>
      <p:sp>
        <p:nvSpPr>
          <p:cNvPr id="4" name="Shape 2"/>
          <p:cNvSpPr/>
          <p:nvPr/>
        </p:nvSpPr>
        <p:spPr>
          <a:xfrm>
            <a:off x="815975" y="1806476"/>
            <a:ext cx="3414117" cy="1144191"/>
          </a:xfrm>
          <a:prstGeom prst="roundRect">
            <a:avLst>
              <a:gd name="adj" fmla="val 8602"/>
            </a:avLst>
          </a:prstGeom>
          <a:solidFill>
            <a:srgbClr val="FBFAF6"/>
          </a:solidFill>
          <a:ln w="6350">
            <a:solidFill>
              <a:srgbClr val="DDD8CC"/>
            </a:solidFill>
            <a:prstDash val="solid"/>
          </a:ln>
        </p:spPr>
      </p:sp>
      <p:sp>
        <p:nvSpPr>
          <p:cNvPr id="5" name="Text 3"/>
          <p:cNvSpPr/>
          <p:nvPr/>
        </p:nvSpPr>
        <p:spPr>
          <a:xfrm>
            <a:off x="1022350" y="2012851"/>
            <a:ext cx="30914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Day of week</a:t>
            </a:r>
            <a:endParaRPr lang="en-US" sz="1500" dirty="0"/>
          </a:p>
        </p:txBody>
      </p:sp>
      <p:sp>
        <p:nvSpPr>
          <p:cNvPr id="6" name="Text 4"/>
          <p:cNvSpPr/>
          <p:nvPr/>
        </p:nvSpPr>
        <p:spPr>
          <a:xfrm>
            <a:off x="1022350" y="2317651"/>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Weekly seasonality must be gone.</a:t>
            </a:r>
            <a:endParaRPr lang="en-US" sz="1200" dirty="0"/>
          </a:p>
        </p:txBody>
      </p:sp>
      <p:sp>
        <p:nvSpPr>
          <p:cNvPr id="7" name="Shape 5"/>
          <p:cNvSpPr/>
          <p:nvPr/>
        </p:nvSpPr>
        <p:spPr>
          <a:xfrm>
            <a:off x="4388842" y="1806476"/>
            <a:ext cx="3414216" cy="1144191"/>
          </a:xfrm>
          <a:prstGeom prst="roundRect">
            <a:avLst>
              <a:gd name="adj" fmla="val 8602"/>
            </a:avLst>
          </a:prstGeom>
          <a:solidFill>
            <a:srgbClr val="FBFAF6"/>
          </a:solidFill>
          <a:ln w="6350">
            <a:solidFill>
              <a:srgbClr val="DDD8CC"/>
            </a:solidFill>
            <a:prstDash val="solid"/>
          </a:ln>
        </p:spPr>
      </p:sp>
      <p:sp>
        <p:nvSpPr>
          <p:cNvPr id="8" name="Text 6"/>
          <p:cNvSpPr/>
          <p:nvPr/>
        </p:nvSpPr>
        <p:spPr>
          <a:xfrm>
            <a:off x="4595217" y="201285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Day of month (1–31)</a:t>
            </a:r>
            <a:endParaRPr lang="en-US" sz="1500" dirty="0"/>
          </a:p>
        </p:txBody>
      </p:sp>
      <p:sp>
        <p:nvSpPr>
          <p:cNvPr id="9" name="Text 7"/>
          <p:cNvSpPr/>
          <p:nvPr/>
        </p:nvSpPr>
        <p:spPr>
          <a:xfrm>
            <a:off x="4595217" y="2317651"/>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Fixed dates: day 1, day 15, day 20.</a:t>
            </a:r>
            <a:endParaRPr lang="en-US" sz="1200" dirty="0"/>
          </a:p>
        </p:txBody>
      </p:sp>
      <p:sp>
        <p:nvSpPr>
          <p:cNvPr id="10" name="Shape 8"/>
          <p:cNvSpPr/>
          <p:nvPr/>
        </p:nvSpPr>
        <p:spPr>
          <a:xfrm>
            <a:off x="7961809" y="1806476"/>
            <a:ext cx="3414216" cy="1144191"/>
          </a:xfrm>
          <a:prstGeom prst="roundRect">
            <a:avLst>
              <a:gd name="adj" fmla="val 8602"/>
            </a:avLst>
          </a:prstGeom>
          <a:solidFill>
            <a:srgbClr val="FBFAF6"/>
          </a:solidFill>
          <a:ln w="6350">
            <a:solidFill>
              <a:srgbClr val="DDD8CC"/>
            </a:solidFill>
            <a:prstDash val="solid"/>
          </a:ln>
        </p:spPr>
      </p:sp>
      <p:sp>
        <p:nvSpPr>
          <p:cNvPr id="11" name="Text 9"/>
          <p:cNvSpPr/>
          <p:nvPr/>
        </p:nvSpPr>
        <p:spPr>
          <a:xfrm>
            <a:off x="8168184" y="201285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Days to month end</a:t>
            </a:r>
            <a:endParaRPr lang="en-US" sz="1500" dirty="0"/>
          </a:p>
        </p:txBody>
      </p:sp>
      <p:sp>
        <p:nvSpPr>
          <p:cNvPr id="12" name="Text 10"/>
          <p:cNvSpPr/>
          <p:nvPr/>
        </p:nvSpPr>
        <p:spPr>
          <a:xfrm>
            <a:off x="8168184" y="23176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Month-end effects, without mixing months of different length.</a:t>
            </a:r>
            <a:endParaRPr lang="en-US" sz="1200" dirty="0"/>
          </a:p>
        </p:txBody>
      </p:sp>
      <p:sp>
        <p:nvSpPr>
          <p:cNvPr id="13" name="Shape 11"/>
          <p:cNvSpPr/>
          <p:nvPr/>
        </p:nvSpPr>
        <p:spPr>
          <a:xfrm>
            <a:off x="815975" y="3109416"/>
            <a:ext cx="3414117" cy="1144191"/>
          </a:xfrm>
          <a:prstGeom prst="roundRect">
            <a:avLst>
              <a:gd name="adj" fmla="val 8602"/>
            </a:avLst>
          </a:prstGeom>
          <a:solidFill>
            <a:srgbClr val="FBFAF6"/>
          </a:solidFill>
          <a:ln w="6350">
            <a:solidFill>
              <a:srgbClr val="DDD8CC"/>
            </a:solidFill>
            <a:prstDash val="solid"/>
          </a:ln>
        </p:spPr>
      </p:sp>
      <p:sp>
        <p:nvSpPr>
          <p:cNvPr id="14" name="Text 12"/>
          <p:cNvSpPr/>
          <p:nvPr/>
        </p:nvSpPr>
        <p:spPr>
          <a:xfrm>
            <a:off x="1022350" y="3315791"/>
            <a:ext cx="30914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Around holidays (−3 to +3)</a:t>
            </a:r>
            <a:endParaRPr lang="en-US" sz="1500" dirty="0"/>
          </a:p>
        </p:txBody>
      </p:sp>
      <p:sp>
        <p:nvSpPr>
          <p:cNvPr id="15" name="Text 13"/>
          <p:cNvSpPr/>
          <p:nvPr/>
        </p:nvSpPr>
        <p:spPr>
          <a:xfrm>
            <a:off x="1022350" y="3620591"/>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By the weekday the holiday falls on: reveals bridges.</a:t>
            </a:r>
            <a:endParaRPr lang="en-US" sz="1200" dirty="0"/>
          </a:p>
        </p:txBody>
      </p:sp>
      <p:sp>
        <p:nvSpPr>
          <p:cNvPr id="16" name="Shape 14"/>
          <p:cNvSpPr/>
          <p:nvPr/>
        </p:nvSpPr>
        <p:spPr>
          <a:xfrm>
            <a:off x="4388842" y="3109416"/>
            <a:ext cx="3414216" cy="1144191"/>
          </a:xfrm>
          <a:prstGeom prst="roundRect">
            <a:avLst>
              <a:gd name="adj" fmla="val 8602"/>
            </a:avLst>
          </a:prstGeom>
          <a:solidFill>
            <a:srgbClr val="FBFAF6"/>
          </a:solidFill>
          <a:ln w="6350">
            <a:solidFill>
              <a:srgbClr val="DDD8CC"/>
            </a:solidFill>
            <a:prstDash val="solid"/>
          </a:ln>
        </p:spPr>
      </p:sp>
      <p:sp>
        <p:nvSpPr>
          <p:cNvPr id="17" name="Text 15"/>
          <p:cNvSpPr/>
          <p:nvPr/>
        </p:nvSpPr>
        <p:spPr>
          <a:xfrm>
            <a:off x="4595217" y="33157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Special periods</a:t>
            </a:r>
            <a:endParaRPr lang="en-US" sz="1500" dirty="0"/>
          </a:p>
        </p:txBody>
      </p:sp>
      <p:sp>
        <p:nvSpPr>
          <p:cNvPr id="18" name="Text 16"/>
          <p:cNvSpPr/>
          <p:nvPr/>
        </p:nvSpPr>
        <p:spPr>
          <a:xfrm>
            <a:off x="4595217" y="362059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Christmas to Epiphany, August, the Easter window.</a:t>
            </a:r>
            <a:endParaRPr lang="en-US" sz="1200" dirty="0"/>
          </a:p>
        </p:txBody>
      </p:sp>
      <p:sp>
        <p:nvSpPr>
          <p:cNvPr id="19" name="Shape 17"/>
          <p:cNvSpPr/>
          <p:nvPr/>
        </p:nvSpPr>
        <p:spPr>
          <a:xfrm>
            <a:off x="7961809" y="3109416"/>
            <a:ext cx="3414216" cy="1144191"/>
          </a:xfrm>
          <a:prstGeom prst="roundRect">
            <a:avLst>
              <a:gd name="adj" fmla="val 8602"/>
            </a:avLst>
          </a:prstGeom>
          <a:solidFill>
            <a:srgbClr val="FBFAF6"/>
          </a:solidFill>
          <a:ln w="6350">
            <a:solidFill>
              <a:srgbClr val="DDD8CC"/>
            </a:solidFill>
            <a:prstDash val="solid"/>
          </a:ln>
        </p:spPr>
      </p:sp>
      <p:sp>
        <p:nvSpPr>
          <p:cNvPr id="20" name="Text 18"/>
          <p:cNvSpPr/>
          <p:nvPr/>
        </p:nvSpPr>
        <p:spPr>
          <a:xfrm>
            <a:off x="8168184" y="3315791"/>
            <a:ext cx="30915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Weekday / Saturday / Sunday</a:t>
            </a:r>
            <a:endParaRPr lang="en-US" sz="1500" dirty="0"/>
          </a:p>
        </p:txBody>
      </p:sp>
      <p:sp>
        <p:nvSpPr>
          <p:cNvPr id="21" name="Text 19"/>
          <p:cNvSpPr/>
          <p:nvPr/>
        </p:nvSpPr>
        <p:spPr>
          <a:xfrm>
            <a:off x="8168184" y="362059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Every group split by day type: the signature of a misspecified regressor.</a:t>
            </a:r>
            <a:endParaRPr lang="en-US" sz="1200" dirty="0"/>
          </a:p>
        </p:txBody>
      </p:sp>
      <p:sp>
        <p:nvSpPr>
          <p:cNvPr id="22" name="Text 20"/>
          <p:cNvSpPr/>
          <p:nvPr/>
        </p:nvSpPr>
        <p:spPr>
          <a:xfrm>
            <a:off x="812800" y="4510782"/>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Plus two checks: the </a:t>
            </a:r>
            <a:r>
              <a:rPr lang="en-US" sz="1500" b="1" dirty="0">
                <a:solidFill>
                  <a:srgbClr val="4A5568"/>
                </a:solidFill>
                <a:latin typeface="IBM Plex Sans" pitchFamily="34" charset="0"/>
                <a:ea typeface="IBM Plex Sans" pitchFamily="34" charset="-122"/>
                <a:cs typeface="IBM Plex Sans" pitchFamily="34" charset="-120"/>
              </a:rPr>
              <a:t>outlier list</a:t>
            </a:r>
            <a:r>
              <a:rPr lang="en-US" sz="1500" dirty="0">
                <a:solidFill>
                  <a:srgbClr val="4A5568"/>
                </a:solidFill>
                <a:latin typeface="IBM Plex Sans" pitchFamily="34" charset="0"/>
                <a:ea typeface="IBM Plex Sans" pitchFamily="34" charset="-122"/>
                <a:cs typeface="IBM Plex Sans" pitchFamily="34" charset="-120"/>
              </a:rPr>
              <a:t> (outliers on recurring calendar dates mean missing regressors) and </a:t>
            </a:r>
            <a:r>
              <a:rPr lang="en-US" sz="1500" b="1" dirty="0">
                <a:solidFill>
                  <a:srgbClr val="4A5568"/>
                </a:solidFill>
                <a:latin typeface="IBM Plex Sans" pitchFamily="34" charset="0"/>
                <a:ea typeface="IBM Plex Sans" pitchFamily="34" charset="-122"/>
                <a:cs typeface="IBM Plex Sans" pitchFamily="34" charset="-120"/>
              </a:rPr>
              <a:t>automatic checks</a:t>
            </a:r>
            <a:r>
              <a:rPr lang="en-US" sz="1500" dirty="0">
                <a:solidFill>
                  <a:srgbClr val="4A5568"/>
                </a:solidFill>
                <a:latin typeface="IBM Plex Sans" pitchFamily="34" charset="0"/>
                <a:ea typeface="IBM Plex Sans" pitchFamily="34" charset="-122"/>
                <a:cs typeface="IBM Plex Sans" pitchFamily="34" charset="-120"/>
              </a:rPr>
              <a:t> on how each regressor is built.</a:t>
            </a:r>
            <a:endParaRPr lang="en-US" sz="15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A8"/>
                </a:solidFill>
                <a:latin typeface="IBM Plex Sans" pitchFamily="34" charset="0"/>
                <a:ea typeface="IBM Plex Sans" pitchFamily="34" charset="-122"/>
                <a:cs typeface="IBM Plex Sans" pitchFamily="34" charset="-120"/>
              </a:rPr>
              <a:t>CASE 1 · ELECTRONIC INVOICING</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E-invoicing: a hidden administrative calendar</a:t>
            </a:r>
            <a:endParaRPr lang="en-US" sz="3200" dirty="0"/>
          </a:p>
        </p:txBody>
      </p:sp>
      <p:sp>
        <p:nvSpPr>
          <p:cNvPr id="4" name="Text 2"/>
          <p:cNvSpPr/>
          <p:nvPr/>
        </p:nvSpPr>
        <p:spPr>
          <a:xfrm>
            <a:off x="812800" y="1803301"/>
            <a:ext cx="13208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A5DA8"/>
                </a:solidFill>
                <a:latin typeface="Source Serif 4" pitchFamily="34" charset="0"/>
                <a:ea typeface="Source Serif 4" pitchFamily="34" charset="-122"/>
                <a:cs typeface="Source Serif 4" pitchFamily="34" charset="-120"/>
              </a:rPr>
              <a:t>+27%</a:t>
            </a:r>
            <a:endParaRPr lang="en-US" sz="3200" dirty="0"/>
          </a:p>
        </p:txBody>
      </p:sp>
      <p:sp>
        <p:nvSpPr>
          <p:cNvPr id="5" name="Text 3"/>
          <p:cNvSpPr/>
          <p:nvPr/>
        </p:nvSpPr>
        <p:spPr>
          <a:xfrm>
            <a:off x="2286000" y="2025551"/>
            <a:ext cx="413359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the 15th: deferred invoices are due by the 15th of the following month</a:t>
            </a:r>
            <a:endParaRPr lang="en-US" sz="1500" dirty="0"/>
          </a:p>
        </p:txBody>
      </p:sp>
      <p:sp>
        <p:nvSpPr>
          <p:cNvPr id="6" name="Text 4"/>
          <p:cNvSpPr/>
          <p:nvPr/>
        </p:nvSpPr>
        <p:spPr>
          <a:xfrm>
            <a:off x="812800" y="2736751"/>
            <a:ext cx="13208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A5DA8"/>
                </a:solidFill>
                <a:latin typeface="Source Serif 4" pitchFamily="34" charset="0"/>
                <a:ea typeface="Source Serif 4" pitchFamily="34" charset="-122"/>
                <a:cs typeface="Source Serif 4" pitchFamily="34" charset="-120"/>
              </a:rPr>
              <a:t>+17%</a:t>
            </a:r>
            <a:endParaRPr lang="en-US" sz="3200" dirty="0"/>
          </a:p>
        </p:txBody>
      </p:sp>
      <p:sp>
        <p:nvSpPr>
          <p:cNvPr id="7" name="Text 5"/>
          <p:cNvSpPr/>
          <p:nvPr/>
        </p:nvSpPr>
        <p:spPr>
          <a:xfrm>
            <a:off x="2286000" y="2959001"/>
            <a:ext cx="413359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 the 1st of the month</a:t>
            </a:r>
            <a:endParaRPr lang="en-US" sz="1500" dirty="0"/>
          </a:p>
        </p:txBody>
      </p:sp>
      <p:sp>
        <p:nvSpPr>
          <p:cNvPr id="8" name="Text 6"/>
          <p:cNvSpPr/>
          <p:nvPr/>
        </p:nvSpPr>
        <p:spPr>
          <a:xfrm>
            <a:off x="812800" y="3483471"/>
            <a:ext cx="13208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A5DA8"/>
                </a:solidFill>
                <a:latin typeface="Source Serif 4" pitchFamily="34" charset="0"/>
                <a:ea typeface="Source Serif 4" pitchFamily="34" charset="-122"/>
                <a:cs typeface="Source Serif 4" pitchFamily="34" charset="-120"/>
              </a:rPr>
              <a:t>+13%</a:t>
            </a:r>
            <a:endParaRPr lang="en-US" sz="3200" dirty="0"/>
          </a:p>
        </p:txBody>
      </p:sp>
      <p:sp>
        <p:nvSpPr>
          <p:cNvPr id="9" name="Text 7"/>
          <p:cNvSpPr/>
          <p:nvPr/>
        </p:nvSpPr>
        <p:spPr>
          <a:xfrm>
            <a:off x="2286000" y="3705721"/>
            <a:ext cx="413359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a ramp in the week before month end</a:t>
            </a:r>
            <a:endParaRPr lang="en-US" sz="1500" dirty="0"/>
          </a:p>
        </p:txBody>
      </p:sp>
      <p:sp>
        <p:nvSpPr>
          <p:cNvPr id="10" name="Text 8"/>
          <p:cNvSpPr/>
          <p:nvPr/>
        </p:nvSpPr>
        <p:spPr>
          <a:xfrm>
            <a:off x="812800" y="4230191"/>
            <a:ext cx="13208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A5DA8"/>
                </a:solidFill>
                <a:latin typeface="Source Serif 4" pitchFamily="34" charset="0"/>
                <a:ea typeface="Source Serif 4" pitchFamily="34" charset="-122"/>
                <a:cs typeface="Source Serif 4" pitchFamily="34" charset="-120"/>
              </a:rPr>
              <a:t>−18%</a:t>
            </a:r>
            <a:endParaRPr lang="en-US" sz="3200" dirty="0"/>
          </a:p>
        </p:txBody>
      </p:sp>
      <p:sp>
        <p:nvSpPr>
          <p:cNvPr id="11" name="Text 9"/>
          <p:cNvSpPr/>
          <p:nvPr/>
        </p:nvSpPr>
        <p:spPr>
          <a:xfrm>
            <a:off x="2286000" y="4452441"/>
            <a:ext cx="413359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the last days of the month, over-corrected</a:t>
            </a:r>
            <a:endParaRPr lang="en-US" sz="1500" dirty="0"/>
          </a:p>
        </p:txBody>
      </p:sp>
      <p:sp>
        <p:nvSpPr>
          <p:cNvPr id="12" name="Shape 10"/>
          <p:cNvSpPr/>
          <p:nvPr/>
        </p:nvSpPr>
        <p:spPr>
          <a:xfrm>
            <a:off x="6562725" y="1812826"/>
            <a:ext cx="4806950" cy="3282950"/>
          </a:xfrm>
          <a:prstGeom prst="roundRect">
            <a:avLst>
              <a:gd name="adj" fmla="val 2805"/>
            </a:avLst>
          </a:prstGeom>
          <a:solidFill>
            <a:srgbClr val="EFECE4"/>
          </a:solidFill>
          <a:ln w="19050">
            <a:solidFill>
              <a:srgbClr val="B8B2A3"/>
            </a:solidFill>
            <a:prstDash val="dash"/>
          </a:ln>
        </p:spPr>
      </p:sp>
      <p:sp>
        <p:nvSpPr>
          <p:cNvPr id="13" name="Text 11"/>
          <p:cNvSpPr/>
          <p:nvPr/>
        </p:nvSpPr>
        <p:spPr>
          <a:xfrm>
            <a:off x="6812945" y="3338711"/>
            <a:ext cx="4306510"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F6773"/>
                </a:solidFill>
                <a:latin typeface="IBM Plex Sans" pitchFamily="34" charset="0"/>
                <a:ea typeface="IBM Plex Sans" pitchFamily="34" charset="-122"/>
                <a:cs typeface="IBM Plex Sans" pitchFamily="34" charset="-120"/>
              </a:rPr>
              <a:t>[Plot: residual intra-month pattern in SA_CA, first model]</a:t>
            </a:r>
            <a:endParaRPr lang="en-US" sz="1300" dirty="0"/>
          </a:p>
        </p:txBody>
      </p:sp>
      <p:sp>
        <p:nvSpPr>
          <p:cNvPr id="14" name="Text 12"/>
          <p:cNvSpPr/>
          <p:nvPr/>
        </p:nvSpPr>
        <p:spPr>
          <a:xfrm>
            <a:off x="812800" y="535930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Residual pattern in SA_CA (daily value ÷ monthly median), first model: national holidays and three month-end dummies.</a:t>
            </a:r>
            <a:endParaRPr lang="en-US" sz="12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A8"/>
                </a:solidFill>
                <a:latin typeface="IBM Plex Sans" pitchFamily="34" charset="0"/>
                <a:ea typeface="IBM Plex Sans" pitchFamily="34" charset="-122"/>
                <a:cs typeface="IBM Plex Sans" pitchFamily="34" charset="-120"/>
              </a:rPr>
              <a:t>CASE 1 · ELECTRONIC INVOICING</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Modelling month-end and mid-month days</a:t>
            </a:r>
            <a:endParaRPr lang="en-US" sz="3200" dirty="0"/>
          </a:p>
        </p:txBody>
      </p:sp>
      <p:sp>
        <p:nvSpPr>
          <p:cNvPr id="4" name="Shape 2"/>
          <p:cNvSpPr/>
          <p:nvPr/>
        </p:nvSpPr>
        <p:spPr>
          <a:xfrm>
            <a:off x="815975" y="1806476"/>
            <a:ext cx="4565650" cy="1093391"/>
          </a:xfrm>
          <a:prstGeom prst="roundRect">
            <a:avLst>
              <a:gd name="adj" fmla="val 9002"/>
            </a:avLst>
          </a:prstGeom>
          <a:solidFill>
            <a:srgbClr val="FBFAF6"/>
          </a:solidFill>
          <a:ln w="6350">
            <a:solidFill>
              <a:srgbClr val="DDD8CC"/>
            </a:solidFill>
            <a:prstDash val="solid"/>
          </a:ln>
        </p:spPr>
      </p:sp>
      <p:sp>
        <p:nvSpPr>
          <p:cNvPr id="5" name="Text 3"/>
          <p:cNvSpPr/>
          <p:nvPr/>
        </p:nvSpPr>
        <p:spPr>
          <a:xfrm>
            <a:off x="996950" y="1987451"/>
            <a:ext cx="43298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Month end</a:t>
            </a:r>
            <a:endParaRPr lang="en-US" sz="1500" dirty="0"/>
          </a:p>
        </p:txBody>
      </p:sp>
      <p:sp>
        <p:nvSpPr>
          <p:cNvPr id="6" name="Text 4"/>
          <p:cNvSpPr/>
          <p:nvPr/>
        </p:nvSpPr>
        <p:spPr>
          <a:xfrm>
            <a:off x="996950" y="2292251"/>
            <a:ext cx="43298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last day and the five days before it. On working days a ramp, from ×1.44 (EoM−1) down to ×1.13 (EoM−5).</a:t>
            </a:r>
            <a:endParaRPr lang="en-US" sz="1200" dirty="0"/>
          </a:p>
        </p:txBody>
      </p:sp>
      <p:sp>
        <p:nvSpPr>
          <p:cNvPr id="7" name="Shape 5"/>
          <p:cNvSpPr/>
          <p:nvPr/>
        </p:nvSpPr>
        <p:spPr>
          <a:xfrm>
            <a:off x="815975" y="3007816"/>
            <a:ext cx="4565650" cy="1093391"/>
          </a:xfrm>
          <a:prstGeom prst="roundRect">
            <a:avLst>
              <a:gd name="adj" fmla="val 9002"/>
            </a:avLst>
          </a:prstGeom>
          <a:solidFill>
            <a:srgbClr val="FBFAF6"/>
          </a:solidFill>
          <a:ln w="6350">
            <a:solidFill>
              <a:srgbClr val="DDD8CC"/>
            </a:solidFill>
            <a:prstDash val="solid"/>
          </a:ln>
        </p:spPr>
      </p:sp>
      <p:sp>
        <p:nvSpPr>
          <p:cNvPr id="8" name="Text 6"/>
          <p:cNvSpPr/>
          <p:nvPr/>
        </p:nvSpPr>
        <p:spPr>
          <a:xfrm>
            <a:off x="996950" y="3188791"/>
            <a:ext cx="43298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Mid-month dates</a:t>
            </a:r>
            <a:endParaRPr lang="en-US" sz="1500" dirty="0"/>
          </a:p>
        </p:txBody>
      </p:sp>
      <p:sp>
        <p:nvSpPr>
          <p:cNvPr id="9" name="Text 7"/>
          <p:cNvSpPr/>
          <p:nvPr/>
        </p:nvSpPr>
        <p:spPr>
          <a:xfrm>
            <a:off x="996950" y="3493591"/>
            <a:ext cx="43298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Day 1, day 15 (deadline for deferred invoices) and day 20 (possibly ten-day billing cycles).</a:t>
            </a:r>
            <a:endParaRPr lang="en-US" sz="1200" dirty="0"/>
          </a:p>
        </p:txBody>
      </p:sp>
      <p:sp>
        <p:nvSpPr>
          <p:cNvPr id="10" name="Shape 8"/>
          <p:cNvSpPr/>
          <p:nvPr/>
        </p:nvSpPr>
        <p:spPr>
          <a:xfrm>
            <a:off x="815975" y="4209157"/>
            <a:ext cx="4565650" cy="1093391"/>
          </a:xfrm>
          <a:prstGeom prst="roundRect">
            <a:avLst>
              <a:gd name="adj" fmla="val 9002"/>
            </a:avLst>
          </a:prstGeom>
          <a:solidFill>
            <a:srgbClr val="FBFAF6"/>
          </a:solidFill>
          <a:ln w="6350">
            <a:solidFill>
              <a:srgbClr val="DDD8CC"/>
            </a:solidFill>
            <a:prstDash val="solid"/>
          </a:ln>
        </p:spPr>
      </p:sp>
      <p:sp>
        <p:nvSpPr>
          <p:cNvPr id="11" name="Text 9"/>
          <p:cNvSpPr/>
          <p:nvPr/>
        </p:nvSpPr>
        <p:spPr>
          <a:xfrm>
            <a:off x="996950" y="4390132"/>
            <a:ext cx="43298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Last working day</a:t>
            </a:r>
            <a:endParaRPr lang="en-US" sz="1500" dirty="0"/>
          </a:p>
        </p:txBody>
      </p:sp>
      <p:sp>
        <p:nvSpPr>
          <p:cNvPr id="12" name="Text 10"/>
          <p:cNvSpPr/>
          <p:nvPr/>
        </p:nvSpPr>
        <p:spPr>
          <a:xfrm>
            <a:off x="996950" y="4694932"/>
            <a:ext cx="43298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Friday before a month end that falls on a weekend: a further ×2.1.</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702300" y="1816001"/>
          <a:ext cx="5676900" cy="1929805"/>
        </p:xfrm>
        <a:graphic>
          <a:graphicData uri="http://schemas.openxmlformats.org/drawingml/2006/table">
            <a:tbl>
              <a:tblPr/>
              <a:tblGrid>
                <a:gridCol w="2270760"/>
                <a:gridCol w="1135380"/>
                <a:gridCol w="1135380"/>
                <a:gridCol w="1135380"/>
              </a:tblGrid>
              <a:tr h="385961">
                <a:tc>
                  <a:txBody>
                    <a:bodyPr/>
                    <a:lstStyle/>
                    <a:p>
                      <a:pPr indent="0" marL="0">
                        <a:lnSpc>
                          <a:spcPts val="1960"/>
                        </a:lnSpc>
                        <a:buNone/>
                      </a:pPr>
                      <a:r>
                        <a:rPr lang="en-US" sz="1400" b="1" dirty="0">
                          <a:solidFill>
                            <a:srgbClr val="1E2A3B"/>
                          </a:solidFill>
                          <a:latin typeface="IBM Plex Sans" pitchFamily="34" charset="0"/>
                          <a:ea typeface="IBM Plex Sans" pitchFamily="34" charset="-122"/>
                          <a:cs typeface="IBM Plex Sans" pitchFamily="34" charset="-120"/>
                        </a:rPr>
                        <a:t>Effect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960"/>
                        </a:lnSpc>
                        <a:buNone/>
                      </a:pPr>
                      <a:r>
                        <a:rPr lang="en-US" sz="1400" b="1" dirty="0">
                          <a:solidFill>
                            <a:srgbClr val="1E2A3B"/>
                          </a:solidFill>
                          <a:latin typeface="IBM Plex Sans" pitchFamily="34" charset="0"/>
                          <a:ea typeface="IBM Plex Sans" pitchFamily="34" charset="-122"/>
                          <a:cs typeface="IBM Plex Sans" pitchFamily="34" charset="-120"/>
                        </a:rPr>
                        <a:t>Weekday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960"/>
                        </a:lnSpc>
                        <a:buNone/>
                      </a:pPr>
                      <a:r>
                        <a:rPr lang="en-US" sz="1400" b="1" dirty="0">
                          <a:solidFill>
                            <a:srgbClr val="1E2A3B"/>
                          </a:solidFill>
                          <a:latin typeface="IBM Plex Sans" pitchFamily="34" charset="0"/>
                          <a:ea typeface="IBM Plex Sans" pitchFamily="34" charset="-122"/>
                          <a:cs typeface="IBM Plex Sans" pitchFamily="34" charset="-120"/>
                        </a:rPr>
                        <a:t>Saturday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960"/>
                        </a:lnSpc>
                        <a:buNone/>
                      </a:pPr>
                      <a:r>
                        <a:rPr lang="en-US" sz="1400" b="1" dirty="0">
                          <a:solidFill>
                            <a:srgbClr val="1E2A3B"/>
                          </a:solidFill>
                          <a:latin typeface="IBM Plex Sans" pitchFamily="34" charset="0"/>
                          <a:ea typeface="IBM Plex Sans" pitchFamily="34" charset="-122"/>
                          <a:cs typeface="IBM Plex Sans" pitchFamily="34" charset="-120"/>
                        </a:rPr>
                        <a:t>Sunday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r>
              <a:tr h="385961">
                <a:tc>
                  <a:txBody>
                    <a:bodyPr/>
                    <a:lstStyle/>
                    <a:p>
                      <a:pP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Last day of month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8.6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69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Day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1.4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1.9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3.9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Day 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1.37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2.1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3.6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Day 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1.16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1.25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1.29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14" name="Text 11"/>
          <p:cNvSpPr/>
          <p:nvPr/>
        </p:nvSpPr>
        <p:spPr>
          <a:xfrm>
            <a:off x="5689600" y="3898205"/>
            <a:ext cx="58602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Each factor is relative to a normal day of the same type: a Sunday month end is 69 times a normal Sunday, not more invoicing than on a weekday.</a:t>
            </a:r>
            <a:endParaRPr lang="en-US" sz="1200"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A8"/>
                </a:solidFill>
                <a:latin typeface="IBM Plex Sans" pitchFamily="34" charset="0"/>
                <a:ea typeface="IBM Plex Sans" pitchFamily="34" charset="-122"/>
                <a:cs typeface="IBM Plex Sans" pitchFamily="34" charset="-120"/>
              </a:rPr>
              <a:t>CASE 1 · ELECTRONIC INVOICING</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One dummy per day is not enough</a:t>
            </a:r>
            <a:endParaRPr lang="en-US" sz="3200" dirty="0"/>
          </a:p>
        </p:txBody>
      </p:sp>
      <p:sp>
        <p:nvSpPr>
          <p:cNvPr id="4" name="Text 2"/>
          <p:cNvSpPr/>
          <p:nvPr/>
        </p:nvSpPr>
        <p:spPr>
          <a:xfrm>
            <a:off x="812800" y="18033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A single coefficient averages days with very different baselines.</a:t>
            </a:r>
            <a:endParaRPr lang="en-US" sz="1500" dirty="0"/>
          </a:p>
        </p:txBody>
      </p:sp>
      <p:sp>
        <p:nvSpPr>
          <p:cNvPr id="5" name="Shape 3"/>
          <p:cNvSpPr/>
          <p:nvPr/>
        </p:nvSpPr>
        <p:spPr>
          <a:xfrm>
            <a:off x="815975" y="2327176"/>
            <a:ext cx="5708650" cy="3148806"/>
          </a:xfrm>
          <a:prstGeom prst="roundRect">
            <a:avLst>
              <a:gd name="adj" fmla="val 3126"/>
            </a:avLst>
          </a:prstGeom>
          <a:solidFill>
            <a:srgbClr val="FBFAF6"/>
          </a:solidFill>
          <a:ln w="6350">
            <a:solidFill>
              <a:srgbClr val="DDD8CC"/>
            </a:solidFill>
            <a:prstDash val="solid"/>
          </a:ln>
        </p:spPr>
      </p:sp>
      <p:sp>
        <p:nvSpPr>
          <p:cNvPr id="6" name="Text 4"/>
          <p:cNvSpPr/>
          <p:nvPr/>
        </p:nvSpPr>
        <p:spPr>
          <a:xfrm>
            <a:off x="1022350" y="2533551"/>
            <a:ext cx="545477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Before: one regressor for all days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35050" y="2901851"/>
          <a:ext cx="5295900" cy="2027436"/>
        </p:xfrm>
        <a:graphic>
          <a:graphicData uri="http://schemas.openxmlformats.org/drawingml/2006/table">
            <a:tbl>
              <a:tblPr/>
              <a:tblGrid>
                <a:gridCol w="2118360"/>
                <a:gridCol w="1059180"/>
                <a:gridCol w="1059180"/>
                <a:gridCol w="1059180"/>
              </a:tblGrid>
              <a:tr h="590352">
                <a:tc>
                  <a:txBody>
                    <a:bodyPr/>
                    <a:lstStyle/>
                    <a:p>
                      <a:pPr indent="0" marL="0">
                        <a:lnSpc>
                          <a:spcPts val="1820"/>
                        </a:lnSpc>
                        <a:buNone/>
                      </a:pPr>
                      <a:r>
                        <a:rPr lang="en-US" sz="1300" b="1" dirty="0">
                          <a:solidFill>
                            <a:srgbClr val="1E2A3B"/>
                          </a:solidFill>
                          <a:latin typeface="IBM Plex Sans" pitchFamily="34" charset="0"/>
                          <a:ea typeface="IBM Plex Sans" pitchFamily="34" charset="-122"/>
                          <a:cs typeface="IBM Plex Sans" pitchFamily="34" charset="-120"/>
                        </a:rPr>
                        <a:t>SA_CA ÷ monthly median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820"/>
                        </a:lnSpc>
                        <a:buNone/>
                      </a:pPr>
                      <a:r>
                        <a:rPr lang="en-US" sz="1300" b="1" dirty="0">
                          <a:solidFill>
                            <a:srgbClr val="1E2A3B"/>
                          </a:solidFill>
                          <a:latin typeface="IBM Plex Sans" pitchFamily="34" charset="0"/>
                          <a:ea typeface="IBM Plex Sans" pitchFamily="34" charset="-122"/>
                          <a:cs typeface="IBM Plex Sans" pitchFamily="34" charset="-120"/>
                        </a:rPr>
                        <a:t>Weekday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820"/>
                        </a:lnSpc>
                        <a:buNone/>
                      </a:pPr>
                      <a:r>
                        <a:rPr lang="en-US" sz="1300" b="1" dirty="0">
                          <a:solidFill>
                            <a:srgbClr val="1E2A3B"/>
                          </a:solidFill>
                          <a:latin typeface="IBM Plex Sans" pitchFamily="34" charset="0"/>
                          <a:ea typeface="IBM Plex Sans" pitchFamily="34" charset="-122"/>
                          <a:cs typeface="IBM Plex Sans" pitchFamily="34" charset="-120"/>
                        </a:rPr>
                        <a:t>Saturday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820"/>
                        </a:lnSpc>
                        <a:buNone/>
                      </a:pPr>
                      <a:r>
                        <a:rPr lang="en-US" sz="1300" b="1" dirty="0">
                          <a:solidFill>
                            <a:srgbClr val="1E2A3B"/>
                          </a:solidFill>
                          <a:latin typeface="IBM Plex Sans" pitchFamily="34" charset="0"/>
                          <a:ea typeface="IBM Plex Sans" pitchFamily="34" charset="-122"/>
                          <a:cs typeface="IBM Plex Sans" pitchFamily="34" charset="-120"/>
                        </a:rPr>
                        <a:t>Sunday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r>
              <a:tr h="359271">
                <a:tc>
                  <a:txBody>
                    <a:bodyPr/>
                    <a:lstStyle/>
                    <a:p>
                      <a:pP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Day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0.85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1.03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2.15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Day 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0.89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1.26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2.12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Last day of month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0.84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2.38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1.21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Day before last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0.81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2.67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0.51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8" name="Text 5"/>
          <p:cNvSpPr/>
          <p:nvPr/>
        </p:nvSpPr>
        <p:spPr>
          <a:xfrm>
            <a:off x="1022350" y="5056287"/>
            <a:ext cx="54547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For these peak days, below 1 = over-corrected, above 1 = under-corrected.</a:t>
            </a:r>
            <a:endParaRPr lang="en-US" sz="1200" dirty="0"/>
          </a:p>
        </p:txBody>
      </p:sp>
      <p:sp>
        <p:nvSpPr>
          <p:cNvPr id="9" name="Shape 6"/>
          <p:cNvSpPr/>
          <p:nvPr/>
        </p:nvSpPr>
        <p:spPr>
          <a:xfrm>
            <a:off x="6734175" y="2327176"/>
            <a:ext cx="4641850" cy="3148806"/>
          </a:xfrm>
          <a:prstGeom prst="roundRect">
            <a:avLst>
              <a:gd name="adj" fmla="val 3126"/>
            </a:avLst>
          </a:prstGeom>
          <a:solidFill>
            <a:srgbClr val="FBFAF6"/>
          </a:solidFill>
          <a:ln w="6350">
            <a:solidFill>
              <a:srgbClr val="DDD8CC"/>
            </a:solidFill>
            <a:prstDash val="solid"/>
          </a:ln>
        </p:spPr>
      </p:sp>
      <p:sp>
        <p:nvSpPr>
          <p:cNvPr id="10" name="Text 7"/>
          <p:cNvSpPr/>
          <p:nvPr/>
        </p:nvSpPr>
        <p:spPr>
          <a:xfrm>
            <a:off x="6940550" y="2533551"/>
            <a:ext cx="435597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After: weekday, Saturday and Sunday versions</a:t>
            </a:r>
            <a:endParaRPr lang="en-US" sz="1500" dirty="0"/>
          </a:p>
        </p:txBody>
      </p:sp>
      <p:sp>
        <p:nvSpPr>
          <p:cNvPr id="11" name="Text 8"/>
          <p:cNvSpPr/>
          <p:nvPr/>
        </p:nvSpPr>
        <p:spPr>
          <a:xfrm>
            <a:off x="6940550" y="2889151"/>
            <a:ext cx="435597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A5DA8"/>
                </a:solidFill>
                <a:latin typeface="Source Serif 4" pitchFamily="34" charset="0"/>
                <a:ea typeface="Source Serif 4" pitchFamily="34" charset="-122"/>
                <a:cs typeface="Source Serif 4" pitchFamily="34" charset="-120"/>
              </a:rPr>
              <a:t>26 of 27</a:t>
            </a:r>
            <a:endParaRPr lang="en-US" sz="4800" dirty="0"/>
          </a:p>
        </p:txBody>
      </p:sp>
      <p:sp>
        <p:nvSpPr>
          <p:cNvPr id="12" name="Text 9"/>
          <p:cNvSpPr/>
          <p:nvPr/>
        </p:nvSpPr>
        <p:spPr>
          <a:xfrm>
            <a:off x="6940550" y="3625751"/>
            <a:ext cx="435597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A3B"/>
                </a:solidFill>
                <a:latin typeface="IBM Plex Sans" pitchFamily="34" charset="0"/>
                <a:ea typeface="IBM Plex Sans" pitchFamily="34" charset="-122"/>
                <a:cs typeface="IBM Plex Sans" pitchFamily="34" charset="-120"/>
              </a:rPr>
              <a:t>groups of days within ±5% of 1</a:t>
            </a:r>
            <a:endParaRPr lang="en-US" sz="1500" dirty="0"/>
          </a:p>
        </p:txBody>
      </p:sp>
      <p:sp>
        <p:nvSpPr>
          <p:cNvPr id="13" name="Text 10"/>
          <p:cNvSpPr/>
          <p:nvPr/>
        </p:nvSpPr>
        <p:spPr>
          <a:xfrm>
            <a:off x="6940550" y="4019451"/>
            <a:ext cx="435597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weekend that is the month end is active; the weekend before a weekday month end is an ordinary weekend.</a:t>
            </a:r>
            <a:endParaRPr lang="en-US" sz="1200" dirty="0"/>
          </a:p>
        </p:txBody>
      </p:sp>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15"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A5DA8"/>
                </a:solidFill>
                <a:latin typeface="IBM Plex Sans" pitchFamily="34" charset="0"/>
                <a:ea typeface="IBM Plex Sans" pitchFamily="34" charset="-122"/>
                <a:cs typeface="IBM Plex Sans" pitchFamily="34" charset="-120"/>
              </a:rPr>
              <a:t>CASE 1 · ELECTRONIC INVOICING</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Three further choices</a:t>
            </a:r>
            <a:endParaRPr lang="en-US" sz="3200" dirty="0"/>
          </a:p>
        </p:txBody>
      </p:sp>
      <p:sp>
        <p:nvSpPr>
          <p:cNvPr id="4" name="Shape 2"/>
          <p:cNvSpPr/>
          <p:nvPr/>
        </p:nvSpPr>
        <p:spPr>
          <a:xfrm>
            <a:off x="815975" y="1806476"/>
            <a:ext cx="3414117" cy="2299692"/>
          </a:xfrm>
          <a:prstGeom prst="roundRect">
            <a:avLst>
              <a:gd name="adj" fmla="val 4280"/>
            </a:avLst>
          </a:prstGeom>
          <a:solidFill>
            <a:srgbClr val="FBFAF6"/>
          </a:solidFill>
          <a:ln w="6350">
            <a:solidFill>
              <a:srgbClr val="DDD8CC"/>
            </a:solidFill>
            <a:prstDash val="solid"/>
          </a:ln>
        </p:spPr>
      </p:sp>
      <p:sp>
        <p:nvSpPr>
          <p:cNvPr id="5" name="Text 3"/>
          <p:cNvSpPr/>
          <p:nvPr/>
        </p:nvSpPr>
        <p:spPr>
          <a:xfrm>
            <a:off x="1022350" y="2012851"/>
            <a:ext cx="309140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6233A"/>
                </a:solidFill>
                <a:latin typeface="Source Serif 4" pitchFamily="34" charset="0"/>
                <a:ea typeface="Source Serif 4" pitchFamily="34" charset="-122"/>
                <a:cs typeface="Source Serif 4" pitchFamily="34" charset="-120"/>
              </a:rPr>
              <a:t>Joint estimation</a:t>
            </a:r>
            <a:endParaRPr lang="en-US" sz="2000" dirty="0"/>
          </a:p>
        </p:txBody>
      </p:sp>
      <p:sp>
        <p:nvSpPr>
          <p:cNvPr id="6" name="Text 4"/>
          <p:cNvSpPr/>
          <p:nvPr/>
        </p:nvSpPr>
        <p:spPr>
          <a:xfrm>
            <a:off x="1022350" y="2406551"/>
            <a:ext cx="3091408" cy="130532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calendar is estimated inside the pre-treatment, together with the full seasonal model. The two-step alternative (weekly-only model, time-varying coefficients) was inconsistent with the decomposition, and its estimated variance was zero.</a:t>
            </a:r>
            <a:endParaRPr lang="en-US" sz="1200" dirty="0"/>
          </a:p>
        </p:txBody>
      </p:sp>
      <p:sp>
        <p:nvSpPr>
          <p:cNvPr id="7" name="Shape 5"/>
          <p:cNvSpPr/>
          <p:nvPr/>
        </p:nvSpPr>
        <p:spPr>
          <a:xfrm>
            <a:off x="4388842" y="1806476"/>
            <a:ext cx="3414216" cy="2299692"/>
          </a:xfrm>
          <a:prstGeom prst="roundRect">
            <a:avLst>
              <a:gd name="adj" fmla="val 4280"/>
            </a:avLst>
          </a:prstGeom>
          <a:solidFill>
            <a:srgbClr val="FBFAF6"/>
          </a:solidFill>
          <a:ln w="6350">
            <a:solidFill>
              <a:srgbClr val="DDD8CC"/>
            </a:solidFill>
            <a:prstDash val="solid"/>
          </a:ln>
        </p:spPr>
      </p:sp>
      <p:sp>
        <p:nvSpPr>
          <p:cNvPr id="8" name="Text 6"/>
          <p:cNvSpPr/>
          <p:nvPr/>
        </p:nvSpPr>
        <p:spPr>
          <a:xfrm>
            <a:off x="4595217" y="2012851"/>
            <a:ext cx="309151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6233A"/>
                </a:solidFill>
                <a:latin typeface="Source Serif 4" pitchFamily="34" charset="0"/>
                <a:ea typeface="Source Serif 4" pitchFamily="34" charset="-122"/>
                <a:cs typeface="Source Serif 4" pitchFamily="34" charset="-120"/>
              </a:rPr>
              <a:t>Weekend holidays</a:t>
            </a:r>
            <a:endParaRPr lang="en-US" sz="2000" dirty="0"/>
          </a:p>
        </p:txBody>
      </p:sp>
      <p:sp>
        <p:nvSpPr>
          <p:cNvPr id="9" name="Text 7"/>
          <p:cNvSpPr/>
          <p:nvPr/>
        </p:nvSpPr>
        <p:spPr>
          <a:xfrm>
            <a:off x="4595217" y="2406551"/>
            <a:ext cx="3091510" cy="15186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Holidays falling on a weekend are set to zero; Easter is kept, as it is always a Sunday. Before: 11 of 13 outliers were weekend holidays. After: 8 outliers, all events, such as the lockdown (9 Mar 2020, −34%) and the reopening (2 Jun 2020, +32%).</a:t>
            </a:r>
            <a:endParaRPr lang="en-US" sz="1200" dirty="0"/>
          </a:p>
        </p:txBody>
      </p:sp>
      <p:sp>
        <p:nvSpPr>
          <p:cNvPr id="10" name="Shape 8"/>
          <p:cNvSpPr/>
          <p:nvPr/>
        </p:nvSpPr>
        <p:spPr>
          <a:xfrm>
            <a:off x="7961809" y="1806476"/>
            <a:ext cx="3414216" cy="2299692"/>
          </a:xfrm>
          <a:prstGeom prst="roundRect">
            <a:avLst>
              <a:gd name="adj" fmla="val 4280"/>
            </a:avLst>
          </a:prstGeom>
          <a:solidFill>
            <a:srgbClr val="FBFAF6"/>
          </a:solidFill>
          <a:ln w="6350">
            <a:solidFill>
              <a:srgbClr val="DDD8CC"/>
            </a:solidFill>
            <a:prstDash val="solid"/>
          </a:ln>
        </p:spPr>
      </p:sp>
      <p:sp>
        <p:nvSpPr>
          <p:cNvPr id="11" name="Text 9"/>
          <p:cNvSpPr/>
          <p:nvPr/>
        </p:nvSpPr>
        <p:spPr>
          <a:xfrm>
            <a:off x="8168184" y="2012851"/>
            <a:ext cx="309151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6233A"/>
                </a:solidFill>
                <a:latin typeface="Source Serif 4" pitchFamily="34" charset="0"/>
                <a:ea typeface="Source Serif 4" pitchFamily="34" charset="-122"/>
                <a:cs typeface="Source Serif 4" pitchFamily="34" charset="-120"/>
              </a:rPr>
              <a:t>Simplification</a:t>
            </a:r>
            <a:endParaRPr lang="en-US" sz="2000" dirty="0"/>
          </a:p>
        </p:txBody>
      </p:sp>
      <p:sp>
        <p:nvSpPr>
          <p:cNvPr id="12" name="Text 10"/>
          <p:cNvSpPr/>
          <p:nvPr/>
        </p:nvSpPr>
        <p:spPr>
          <a:xfrm>
            <a:off x="8168184" y="2406551"/>
            <a:ext cx="3091510"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From 40 to 32 regressors. No pre-month-end ramp on Saturdays (not significant); similar Sunday effects merged into one regressor. Every remaining coefficient is significant.</a:t>
            </a:r>
            <a:endParaRPr lang="en-US" sz="1200" dirty="0"/>
          </a:p>
        </p:txBody>
      </p:sp>
      <p:sp>
        <p:nvSpPr>
          <p:cNvPr id="13" name="Shape 11"/>
          <p:cNvSpPr/>
          <p:nvPr/>
        </p:nvSpPr>
        <p:spPr>
          <a:xfrm>
            <a:off x="812800" y="4363343"/>
            <a:ext cx="10566400" cy="673100"/>
          </a:xfrm>
          <a:prstGeom prst="roundRect">
            <a:avLst>
              <a:gd name="adj" fmla="val 15094"/>
            </a:avLst>
          </a:prstGeom>
          <a:solidFill>
            <a:srgbClr val="16233A"/>
          </a:solidFill>
          <a:ln/>
        </p:spPr>
      </p:sp>
      <p:sp>
        <p:nvSpPr>
          <p:cNvPr id="14" name="Text 12"/>
          <p:cNvSpPr/>
          <p:nvPr/>
        </p:nvSpPr>
        <p:spPr>
          <a:xfrm>
            <a:off x="1066800" y="4566543"/>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EFE6"/>
                </a:solidFill>
                <a:latin typeface="IBM Plex Sans" pitchFamily="34" charset="0"/>
                <a:ea typeface="IBM Plex Sans" pitchFamily="34" charset="-122"/>
                <a:cs typeface="IBM Plex Sans" pitchFamily="34" charset="-120"/>
              </a:rPr>
              <a:t>Final model: log scale · 32 calendar regressors · month-end profile within 0.996–1.04</a:t>
            </a:r>
            <a:endParaRPr lang="en-US" sz="15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E17"/>
                </a:solidFill>
                <a:latin typeface="IBM Plex Sans" pitchFamily="34" charset="0"/>
                <a:ea typeface="IBM Plex Sans" pitchFamily="34" charset="-122"/>
                <a:cs typeface="IBM Plex Sans" pitchFamily="34" charset="-120"/>
              </a:rPr>
              <a:t>CASE 2 · ELECTRICITY DEMAND</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Electricity: same checks, different calendar</a:t>
            </a:r>
            <a:endParaRPr lang="en-US" sz="3200" dirty="0"/>
          </a:p>
        </p:txBody>
      </p:sp>
      <p:sp>
        <p:nvSpPr>
          <p:cNvPr id="4" name="Shape 2"/>
          <p:cNvSpPr/>
          <p:nvPr/>
        </p:nvSpPr>
        <p:spPr>
          <a:xfrm>
            <a:off x="812800" y="1803301"/>
            <a:ext cx="3048000" cy="2648148"/>
          </a:xfrm>
          <a:prstGeom prst="roundRect">
            <a:avLst>
              <a:gd name="adj" fmla="val 3837"/>
            </a:avLst>
          </a:prstGeom>
          <a:solidFill>
            <a:srgbClr val="ECE9E0"/>
          </a:solidFill>
          <a:ln/>
        </p:spPr>
      </p:sp>
      <p:sp>
        <p:nvSpPr>
          <p:cNvPr id="5" name="Text 3"/>
          <p:cNvSpPr/>
          <p:nvPr/>
        </p:nvSpPr>
        <p:spPr>
          <a:xfrm>
            <a:off x="1016000" y="2006501"/>
            <a:ext cx="27208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Not needed</a:t>
            </a:r>
            <a:endParaRPr lang="en-US" sz="1500" dirty="0"/>
          </a:p>
        </p:txBody>
      </p:sp>
      <p:sp>
        <p:nvSpPr>
          <p:cNvPr id="6" name="Text 4"/>
          <p:cNvSpPr/>
          <p:nvPr/>
        </p:nvSpPr>
        <p:spPr>
          <a:xfrm>
            <a:off x="1016000" y="2336701"/>
            <a:ext cx="272084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Profiles by day of month and by days to month end are flat (0.996–1.004): no month-end or mid-month regressors.</a:t>
            </a:r>
            <a:endParaRPr lang="en-US" sz="1200" dirty="0"/>
          </a:p>
        </p:txBody>
      </p:sp>
      <p:sp>
        <p:nvSpPr>
          <p:cNvPr id="7" name="Text 5"/>
          <p:cNvSpPr/>
          <p:nvPr/>
        </p:nvSpPr>
        <p:spPr>
          <a:xfrm>
            <a:off x="1016000" y="3291582"/>
            <a:ext cx="27208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Additive model · 2012–2025 · 23 calendar regressors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076700" y="1816001"/>
          <a:ext cx="7302500" cy="2635448"/>
        </p:xfrm>
        <a:graphic>
          <a:graphicData uri="http://schemas.openxmlformats.org/drawingml/2006/table">
            <a:tbl>
              <a:tblPr/>
              <a:tblGrid>
                <a:gridCol w="2190750"/>
                <a:gridCol w="5111750"/>
              </a:tblGrid>
              <a:tr h="545902">
                <a:tc>
                  <a:txBody>
                    <a:bodyPr/>
                    <a:lstStyle/>
                    <a:p>
                      <a:pPr indent="0" marL="0">
                        <a:lnSpc>
                          <a:spcPts val="1680"/>
                        </a:lnSpc>
                        <a:buNone/>
                      </a:pPr>
                      <a:r>
                        <a:rPr lang="en-US" sz="1200" b="1" dirty="0">
                          <a:solidFill>
                            <a:srgbClr val="1E2A3B"/>
                          </a:solidFill>
                          <a:latin typeface="IBM Plex Sans" pitchFamily="34" charset="0"/>
                          <a:ea typeface="IBM Plex Sans" pitchFamily="34" charset="-122"/>
                          <a:cs typeface="IBM Plex Sans" pitchFamily="34" charset="-120"/>
                        </a:rPr>
                        <a:t>Needed: production calendar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indent="0" marL="0">
                        <a:lnSpc>
                          <a:spcPts val="1680"/>
                        </a:lnSpc>
                        <a:buNone/>
                      </a:pPr>
                      <a:r>
                        <a:rPr lang="en-US" sz="1200" b="1" dirty="0">
                          <a:solidFill>
                            <a:srgbClr val="1E2A3B"/>
                          </a:solidFill>
                          <a:latin typeface="IBM Plex Sans" pitchFamily="34" charset="0"/>
                          <a:ea typeface="IBM Plex Sans" pitchFamily="34" charset="-122"/>
                          <a:cs typeface="IBM Plex Sans" pitchFamily="34" charset="-120"/>
                        </a:rPr>
                        <a:t>Before modelling (SA_CA ÷ monthly median)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r>
              <a:tr h="545902">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Bridges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Monday before a Tuesday holiday −10%; Friday after a Thursday holiday −9%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545902">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Semi-closure days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24 and 31 December (−7%, −6%); 27–30 December and 2–5 January; 14 and 16 August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Saturday holidays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−5% compared with a normal Saturday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Midweek holidays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Larger drop: Tuesday to Thursday is peak demand (additive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Easter window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Good Friday to Easter Tuesday (next slide)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9" name="Shape 6"/>
          <p:cNvSpPr/>
          <p:nvPr/>
        </p:nvSpPr>
        <p:spPr>
          <a:xfrm>
            <a:off x="812800" y="4705449"/>
            <a:ext cx="10566400" cy="571500"/>
          </a:xfrm>
          <a:prstGeom prst="roundRect">
            <a:avLst>
              <a:gd name="adj" fmla="val 8889"/>
            </a:avLst>
          </a:prstGeom>
          <a:solidFill>
            <a:srgbClr val="FBFAF6"/>
          </a:solidFill>
          <a:ln/>
        </p:spPr>
      </p:sp>
      <p:sp>
        <p:nvSpPr>
          <p:cNvPr id="10" name="Shape 7"/>
          <p:cNvSpPr/>
          <p:nvPr/>
        </p:nvSpPr>
        <p:spPr>
          <a:xfrm>
            <a:off x="812800" y="4705449"/>
            <a:ext cx="10566400" cy="571500"/>
          </a:xfrm>
          <a:custGeom>
            <a:avLst/>
            <a:gdLst/>
            <a:ahLst/>
            <a:cxnLst/>
            <a:rect l="l" t="t" r="r" b="b"/>
            <a:pathLst>
              <a:path w="10566400" h="571500">
                <a:moveTo>
                  <a:pt x="50800" y="571500"/>
                </a:moveTo>
                <a:lnTo>
                  <a:pt x="50800" y="571500"/>
                </a:lnTo>
                <a:arcTo hR="50800" wR="50800" stAng="5400000" swAng="5400000"/>
                <a:lnTo>
                  <a:pt x="0" y="50800"/>
                </a:lnTo>
                <a:arcTo hR="50800" wR="50800" stAng="10800000" swAng="5400000"/>
                <a:lnTo>
                  <a:pt x="50800" y="0"/>
                </a:lnTo>
                <a:arcTo hR="50800" wR="12700" stAng="16200000" swAng="-5400000"/>
                <a:lnTo>
                  <a:pt x="38100" y="520700"/>
                </a:lnTo>
                <a:arcTo hR="50800" wR="12700" stAng="10800000" swAng="-5400000"/>
                <a:close/>
              </a:path>
            </a:pathLst>
          </a:custGeom>
          <a:solidFill>
            <a:srgbClr val="A34E17"/>
          </a:solidFill>
          <a:ln/>
        </p:spPr>
      </p:sp>
      <p:sp>
        <p:nvSpPr>
          <p:cNvPr id="11" name="Text 8"/>
          <p:cNvSpPr/>
          <p:nvPr/>
        </p:nvSpPr>
        <p:spPr>
          <a:xfrm>
            <a:off x="1054100" y="4857849"/>
            <a:ext cx="1042555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A3B"/>
                </a:solidFill>
                <a:latin typeface="IBM Plex Sans" pitchFamily="34" charset="0"/>
                <a:ea typeface="IBM Plex Sans" pitchFamily="34" charset="-122"/>
                <a:cs typeface="IBM Plex Sans" pitchFamily="34" charset="-120"/>
              </a:rPr>
              <a:t>Fixed date ≠ seasonal:</a:t>
            </a:r>
            <a:r>
              <a:rPr lang="en-US" sz="1500" dirty="0">
                <a:solidFill>
                  <a:srgbClr val="1E2A3B"/>
                </a:solidFill>
                <a:latin typeface="IBM Plex Sans" pitchFamily="34" charset="0"/>
                <a:ea typeface="IBM Plex Sans" pitchFamily="34" charset="-122"/>
                <a:cs typeface="IBM Plex Sans" pitchFamily="34" charset="-120"/>
              </a:rPr>
              <a:t> if an effect exists only on weekdays, the annual component absorbs just its average.</a:t>
            </a:r>
            <a:endParaRPr lang="en-US" sz="1500"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E17"/>
                </a:solidFill>
                <a:latin typeface="IBM Plex Sans" pitchFamily="34" charset="0"/>
                <a:ea typeface="IBM Plex Sans" pitchFamily="34" charset="-122"/>
                <a:cs typeface="IBM Plex Sans" pitchFamily="34" charset="-120"/>
              </a:rPr>
              <a:t>CASE 2 · ELECTRICITY DEMAND</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Model the days around holidays: Easter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01"/>
          <a:ext cx="4813300" cy="2315766"/>
        </p:xfrm>
        <a:graphic>
          <a:graphicData uri="http://schemas.openxmlformats.org/drawingml/2006/table">
            <a:tbl>
              <a:tblPr/>
              <a:tblGrid>
                <a:gridCol w="2406650"/>
                <a:gridCol w="1203325"/>
                <a:gridCol w="1203325"/>
              </a:tblGrid>
              <a:tr h="385961">
                <a:tc>
                  <a:txBody>
                    <a:bodyPr/>
                    <a:lstStyle/>
                    <a:p>
                      <a:pPr indent="0" marL="0">
                        <a:lnSpc>
                          <a:spcPts val="1960"/>
                        </a:lnSpc>
                        <a:buNone/>
                      </a:pPr>
                      <a:r>
                        <a:rPr lang="en-US" sz="1400" b="1" dirty="0">
                          <a:solidFill>
                            <a:srgbClr val="1E2A3B"/>
                          </a:solidFill>
                          <a:latin typeface="IBM Plex Sans" pitchFamily="34" charset="0"/>
                          <a:ea typeface="IBM Plex Sans" pitchFamily="34" charset="-122"/>
                          <a:cs typeface="IBM Plex Sans" pitchFamily="34" charset="-120"/>
                        </a:rPr>
                        <a:t>SA_CA ÷ monthly median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960"/>
                        </a:lnSpc>
                        <a:buNone/>
                      </a:pPr>
                      <a:r>
                        <a:rPr lang="en-US" sz="1400" b="1" dirty="0">
                          <a:solidFill>
                            <a:srgbClr val="1E2A3B"/>
                          </a:solidFill>
                          <a:latin typeface="IBM Plex Sans" pitchFamily="34" charset="0"/>
                          <a:ea typeface="IBM Plex Sans" pitchFamily="34" charset="-122"/>
                          <a:cs typeface="IBM Plex Sans" pitchFamily="34" charset="-120"/>
                        </a:rPr>
                        <a:t>Before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960"/>
                        </a:lnSpc>
                        <a:buNone/>
                      </a:pPr>
                      <a:r>
                        <a:rPr lang="en-US" sz="1400" b="1" dirty="0">
                          <a:solidFill>
                            <a:srgbClr val="1E2A3B"/>
                          </a:solidFill>
                          <a:latin typeface="IBM Plex Sans" pitchFamily="34" charset="0"/>
                          <a:ea typeface="IBM Plex Sans" pitchFamily="34" charset="-122"/>
                          <a:cs typeface="IBM Plex Sans" pitchFamily="34" charset="-120"/>
                        </a:rPr>
                        <a:t>After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r>
              <a:tr h="385961">
                <a:tc>
                  <a:txBody>
                    <a:bodyPr/>
                    <a:lstStyle/>
                    <a:p>
                      <a:pP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Good Friday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0.974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0.997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Holy Saturday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0.961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0.996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Easter Sunday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0.979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0.995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Easter Monday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0.956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0.990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85961">
                <a:tc>
                  <a:txBody>
                    <a:bodyPr/>
                    <a:lstStyle/>
                    <a:p>
                      <a:pP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Easter Tuesday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0.937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960"/>
                        </a:lnSpc>
                        <a:buNone/>
                      </a:pPr>
                      <a:r>
                        <a:rPr lang="en-US" sz="1400" dirty="0">
                          <a:solidFill>
                            <a:srgbClr val="1E2A3B"/>
                          </a:solidFill>
                          <a:latin typeface="IBM Plex Sans" pitchFamily="34" charset="0"/>
                          <a:ea typeface="IBM Plex Sans" pitchFamily="34" charset="-122"/>
                          <a:cs typeface="IBM Plex Sans" pitchFamily="34" charset="-120"/>
                        </a:rPr>
                        <a:t>0.989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4258766"/>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 Already had their own regressor. Model with fixed coefficients.</a:t>
            </a:r>
            <a:endParaRPr lang="en-US" sz="1200" dirty="0"/>
          </a:p>
        </p:txBody>
      </p:sp>
      <p:sp>
        <p:nvSpPr>
          <p:cNvPr id="6" name="Text 3"/>
          <p:cNvSpPr/>
          <p:nvPr/>
        </p:nvSpPr>
        <p:spPr>
          <a:xfrm>
            <a:off x="5994400" y="1803301"/>
            <a:ext cx="5546344"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A34E17"/>
                </a:solidFill>
                <a:latin typeface="Source Serif 4" pitchFamily="34" charset="0"/>
                <a:ea typeface="Source Serif 4" pitchFamily="34" charset="-122"/>
                <a:cs typeface="Source Serif 4" pitchFamily="34" charset="-120"/>
              </a:rPr>
              <a:t>−195 → −226</a:t>
            </a:r>
            <a:endParaRPr lang="en-US" sz="3200" dirty="0"/>
          </a:p>
        </p:txBody>
      </p:sp>
      <p:sp>
        <p:nvSpPr>
          <p:cNvPr id="7" name="Text 4"/>
          <p:cNvSpPr/>
          <p:nvPr/>
        </p:nvSpPr>
        <p:spPr>
          <a:xfrm>
            <a:off x="5994400" y="2402681"/>
            <a:ext cx="554634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A3B"/>
                </a:solidFill>
                <a:latin typeface="IBM Plex Sans" pitchFamily="34" charset="0"/>
                <a:ea typeface="IBM Plex Sans" pitchFamily="34" charset="-122"/>
                <a:cs typeface="IBM Plex Sans" pitchFamily="34" charset="-120"/>
              </a:rPr>
              <a:t>thousand MWh: the Easter Monday effect, once the surrounding days were modelled</a:t>
            </a:r>
            <a:endParaRPr lang="en-US" sz="1500" dirty="0"/>
          </a:p>
        </p:txBody>
      </p:sp>
      <p:sp>
        <p:nvSpPr>
          <p:cNvPr id="8" name="Text 5"/>
          <p:cNvSpPr/>
          <p:nvPr/>
        </p:nvSpPr>
        <p:spPr>
          <a:xfrm>
            <a:off x="5994400" y="3088481"/>
            <a:ext cx="554634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An unmodelled multi-day drop is partly absorbed by the local level of the model, and biases the effects of the days that are modelled.</a:t>
            </a:r>
            <a:endParaRPr lang="en-US" sz="1500" dirty="0"/>
          </a:p>
        </p:txBody>
      </p:sp>
      <p:sp>
        <p:nvSpPr>
          <p:cNvPr id="9" name="Text 6"/>
          <p:cNvSpPr/>
          <p:nvPr/>
        </p:nvSpPr>
        <p:spPr>
          <a:xfrm>
            <a:off x="5994400" y="4040981"/>
            <a:ext cx="554634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Same at Christmas: −105 → −162 thousand MWh after adding the Christmas-period working days.</a:t>
            </a:r>
            <a:endParaRPr lang="en-US" sz="12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E17"/>
                </a:solidFill>
                <a:latin typeface="IBM Plex Sans" pitchFamily="34" charset="0"/>
                <a:ea typeface="IBM Plex Sans" pitchFamily="34" charset="-122"/>
                <a:cs typeface="IBM Plex Sans" pitchFamily="34" charset="-120"/>
              </a:rPr>
              <a:t>CASE 2 · ELECTRICITY DEMAND</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Holiday effects over time: artefact, then real</a:t>
            </a:r>
            <a:endParaRPr lang="en-US" sz="3200" dirty="0"/>
          </a:p>
        </p:txBody>
      </p:sp>
      <p:sp>
        <p:nvSpPr>
          <p:cNvPr id="4" name="Shape 2"/>
          <p:cNvSpPr/>
          <p:nvPr/>
        </p:nvSpPr>
        <p:spPr>
          <a:xfrm>
            <a:off x="815975" y="1806476"/>
            <a:ext cx="5200650" cy="1570831"/>
          </a:xfrm>
          <a:prstGeom prst="roundRect">
            <a:avLst>
              <a:gd name="adj" fmla="val 6266"/>
            </a:avLst>
          </a:prstGeom>
          <a:solidFill>
            <a:srgbClr val="FBFAF6"/>
          </a:solidFill>
          <a:ln w="6350">
            <a:solidFill>
              <a:srgbClr val="DDD8CC"/>
            </a:solidFill>
            <a:prstDash val="solid"/>
          </a:ln>
        </p:spPr>
      </p:sp>
      <p:sp>
        <p:nvSpPr>
          <p:cNvPr id="5" name="Text 3"/>
          <p:cNvSpPr/>
          <p:nvPr/>
        </p:nvSpPr>
        <p:spPr>
          <a:xfrm>
            <a:off x="1022350" y="2012851"/>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1 · Holidays active on weekends</a:t>
            </a:r>
            <a:endParaRPr lang="en-US" sz="1500" dirty="0"/>
          </a:p>
        </p:txBody>
      </p:sp>
      <p:sp>
        <p:nvSpPr>
          <p:cNvPr id="6" name="Text 4"/>
          <p:cNvSpPr/>
          <p:nvPr/>
        </p:nvSpPr>
        <p:spPr>
          <a:xfrm>
            <a:off x="1022350" y="2317651"/>
            <a:ext cx="493153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Coefficient paths ranged over 135–190 thousand MWh, as much as the effects themselves. All Saints' Day 2025 fell on a Saturday: its end-of-sample effect was −54 instead of −154. Zeroing weekend holidays cut the range by 75–90%.</a:t>
            </a:r>
            <a:endParaRPr lang="en-US" sz="1200" dirty="0"/>
          </a:p>
        </p:txBody>
      </p:sp>
      <p:sp>
        <p:nvSpPr>
          <p:cNvPr id="7" name="Shape 5"/>
          <p:cNvSpPr/>
          <p:nvPr/>
        </p:nvSpPr>
        <p:spPr>
          <a:xfrm>
            <a:off x="6175375" y="1806476"/>
            <a:ext cx="5200650" cy="1570831"/>
          </a:xfrm>
          <a:prstGeom prst="roundRect">
            <a:avLst>
              <a:gd name="adj" fmla="val 6266"/>
            </a:avLst>
          </a:prstGeom>
          <a:solidFill>
            <a:srgbClr val="FBFAF6"/>
          </a:solidFill>
          <a:ln w="6350">
            <a:solidFill>
              <a:srgbClr val="DDD8CC"/>
            </a:solidFill>
            <a:prstDash val="solid"/>
          </a:ln>
        </p:spPr>
      </p:sp>
      <p:sp>
        <p:nvSpPr>
          <p:cNvPr id="8" name="Text 6"/>
          <p:cNvSpPr/>
          <p:nvPr/>
        </p:nvSpPr>
        <p:spPr>
          <a:xfrm>
            <a:off x="6381750" y="2012851"/>
            <a:ext cx="493153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2 · Complete calendar</a:t>
            </a:r>
            <a:endParaRPr lang="en-US" sz="1500" dirty="0"/>
          </a:p>
        </p:txBody>
      </p:sp>
      <p:sp>
        <p:nvSpPr>
          <p:cNvPr id="9" name="Text 7"/>
          <p:cNvSpPr/>
          <p:nvPr/>
        </p:nvSpPr>
        <p:spPr>
          <a:xfrm>
            <a:off x="6381750" y="2317651"/>
            <a:ext cx="49315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 smooth drift, common to most holidays, remains, mainly since 2018: effects shrink by about 10–18% over the sample.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3647182"/>
          <a:ext cx="4813300" cy="1662906"/>
        </p:xfrm>
        <a:graphic>
          <a:graphicData uri="http://schemas.openxmlformats.org/drawingml/2006/table">
            <a:tbl>
              <a:tblPr/>
              <a:tblGrid>
                <a:gridCol w="2887980"/>
                <a:gridCol w="962660"/>
                <a:gridCol w="962660"/>
              </a:tblGrid>
              <a:tr h="332581">
                <a:tc>
                  <a:txBody>
                    <a:bodyPr/>
                    <a:lstStyle/>
                    <a:p>
                      <a:pPr indent="0" marL="0">
                        <a:lnSpc>
                          <a:spcPts val="1680"/>
                        </a:lnSpc>
                        <a:buNone/>
                      </a:pPr>
                      <a:r>
                        <a:rPr lang="en-US" sz="1200" b="1" dirty="0">
                          <a:solidFill>
                            <a:srgbClr val="1E2A3B"/>
                          </a:solidFill>
                          <a:latin typeface="IBM Plex Sans" pitchFamily="34" charset="0"/>
                          <a:ea typeface="IBM Plex Sans" pitchFamily="34" charset="-122"/>
                          <a:cs typeface="IBM Plex Sans" pitchFamily="34" charset="-120"/>
                        </a:rPr>
                        <a:t>Holiday effect, thousand MWh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680"/>
                        </a:lnSpc>
                        <a:buNone/>
                      </a:pPr>
                      <a:r>
                        <a:rPr lang="en-US" sz="1200" b="1" dirty="0">
                          <a:solidFill>
                            <a:srgbClr val="1E2A3B"/>
                          </a:solidFill>
                          <a:latin typeface="IBM Plex Sans" pitchFamily="34" charset="0"/>
                          <a:ea typeface="IBM Plex Sans" pitchFamily="34" charset="-122"/>
                          <a:cs typeface="IBM Plex Sans" pitchFamily="34" charset="-120"/>
                        </a:rPr>
                        <a:t>2012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680"/>
                        </a:lnSpc>
                        <a:buNone/>
                      </a:pPr>
                      <a:r>
                        <a:rPr lang="en-US" sz="1200" b="1" dirty="0">
                          <a:solidFill>
                            <a:srgbClr val="1E2A3B"/>
                          </a:solidFill>
                          <a:latin typeface="IBM Plex Sans" pitchFamily="34" charset="0"/>
                          <a:ea typeface="IBM Plex Sans" pitchFamily="34" charset="-122"/>
                          <a:cs typeface="IBM Plex Sans" pitchFamily="34" charset="-120"/>
                        </a:rPr>
                        <a:t>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Republic 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−174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−143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Immaculate Conception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−173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−153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Easter Monday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−221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−198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Assumption of Mary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−132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−128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11" name="Shape 8"/>
          <p:cNvSpPr/>
          <p:nvPr/>
        </p:nvSpPr>
        <p:spPr>
          <a:xfrm>
            <a:off x="5851525" y="3644007"/>
            <a:ext cx="5518150" cy="1568450"/>
          </a:xfrm>
          <a:prstGeom prst="roundRect">
            <a:avLst>
              <a:gd name="adj" fmla="val 5870"/>
            </a:avLst>
          </a:prstGeom>
          <a:solidFill>
            <a:srgbClr val="EFECE4"/>
          </a:solidFill>
          <a:ln w="19050">
            <a:solidFill>
              <a:srgbClr val="B8B2A3"/>
            </a:solidFill>
            <a:prstDash val="dash"/>
          </a:ln>
        </p:spPr>
      </p:sp>
      <p:sp>
        <p:nvSpPr>
          <p:cNvPr id="12" name="Text 9"/>
          <p:cNvSpPr/>
          <p:nvPr/>
        </p:nvSpPr>
        <p:spPr>
          <a:xfrm>
            <a:off x="6798166" y="4312642"/>
            <a:ext cx="3624868"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F6773"/>
                </a:solidFill>
                <a:latin typeface="IBM Plex Sans" pitchFamily="34" charset="0"/>
                <a:ea typeface="IBM Plex Sans" pitchFamily="34" charset="-122"/>
                <a:cs typeface="IBM Plex Sans" pitchFamily="34" charset="-120"/>
              </a:rPr>
              <a:t>[Plot: time-varying holiday effects, 2012–2025]</a:t>
            </a:r>
            <a:endParaRPr lang="en-US" sz="1300" dirty="0"/>
          </a:p>
        </p:txBody>
      </p:sp>
      <p:sp>
        <p:nvSpPr>
          <p:cNvPr id="13"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34E17"/>
                </a:solidFill>
                <a:latin typeface="IBM Plex Sans" pitchFamily="34" charset="0"/>
                <a:ea typeface="IBM Plex Sans" pitchFamily="34" charset="-122"/>
                <a:cs typeface="IBM Plex Sans" pitchFamily="34" charset="-120"/>
              </a:rPr>
              <a:t>CASE 2 · ELECTRICITY DEMAND</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Fixed or time-varying coefficients?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01"/>
          <a:ext cx="10553700" cy="1796355"/>
        </p:xfrm>
        <a:graphic>
          <a:graphicData uri="http://schemas.openxmlformats.org/drawingml/2006/table">
            <a:tbl>
              <a:tblPr/>
              <a:tblGrid>
                <a:gridCol w="4221480"/>
                <a:gridCol w="3166110"/>
                <a:gridCol w="3166110"/>
              </a:tblGrid>
              <a:tr h="359271">
                <a:tc>
                  <a:txBody>
                    <a:bodyPr/>
                    <a:lstStyle/>
                    <a:p>
                      <a:pPr indent="0" marL="0">
                        <a:lnSpc>
                          <a:spcPts val="1820"/>
                        </a:lnSpc>
                        <a:buNone/>
                      </a:pPr>
                      <a:r>
                        <a:rPr lang="en-US" sz="1300" b="1" dirty="0">
                          <a:solidFill>
                            <a:srgbClr val="1E2A3B"/>
                          </a:solidFill>
                          <a:latin typeface="IBM Plex Sans" pitchFamily="34" charset="0"/>
                          <a:ea typeface="IBM Plex Sans" pitchFamily="34" charset="-122"/>
                          <a:cs typeface="IBM Plex Sans" pitchFamily="34" charset="-120"/>
                        </a:rPr>
                        <a:t>SA_CA ÷ monthly median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820"/>
                        </a:lnSpc>
                        <a:buNone/>
                      </a:pPr>
                      <a:r>
                        <a:rPr lang="en-US" sz="1300" b="1" dirty="0">
                          <a:solidFill>
                            <a:srgbClr val="1E2A3B"/>
                          </a:solidFill>
                          <a:latin typeface="IBM Plex Sans" pitchFamily="34" charset="0"/>
                          <a:ea typeface="IBM Plex Sans" pitchFamily="34" charset="-122"/>
                          <a:cs typeface="IBM Plex Sans" pitchFamily="34" charset="-120"/>
                        </a:rPr>
                        <a:t>Fixed (joint estimation)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c>
                  <a:txBody>
                    <a:bodyPr/>
                    <a:lstStyle/>
                    <a:p>
                      <a:pPr algn="r" indent="0" marL="0">
                        <a:lnSpc>
                          <a:spcPts val="1820"/>
                        </a:lnSpc>
                        <a:buNone/>
                      </a:pPr>
                      <a:r>
                        <a:rPr lang="en-US" sz="1300" b="1" dirty="0">
                          <a:solidFill>
                            <a:srgbClr val="1E2A3B"/>
                          </a:solidFill>
                          <a:latin typeface="IBM Plex Sans" pitchFamily="34" charset="0"/>
                          <a:ea typeface="IBM Plex Sans" pitchFamily="34" charset="-122"/>
                          <a:cs typeface="IBM Plex Sans" pitchFamily="34" charset="-120"/>
                        </a:rPr>
                        <a:t>Time-varying (two-step)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5AD"/>
                      </a:solidFill>
                      <a:prstDash val="solid"/>
                      <a:round/>
                      <a:headEnd type="none" w="med" len="med"/>
                      <a:tailEnd type="none" w="med" len="med"/>
                    </a:lnL>
                    <a:lnR w="12700" cap="flat" cmpd="sng" algn="ctr">
                      <a:solidFill>
                        <a:srgbClr val="B9B5AD"/>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9B5AD"/>
                      </a:solidFill>
                      <a:prstDash val="solid"/>
                      <a:round/>
                      <a:headEnd type="none" w="med" len="med"/>
                      <a:tailEnd type="none" w="med" len="med"/>
                    </a:lnB>
                    <a:solidFill>
                      <a:srgbClr val="E7E3D8"/>
                    </a:solidFill>
                  </a:tcPr>
                </a:tc>
              </a:tr>
              <a:tr h="359271">
                <a:tc>
                  <a:txBody>
                    <a:bodyPr/>
                    <a:lstStyle/>
                    <a:p>
                      <a:pP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Tuesday / Wednesday holidays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0.965 / 0.960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0.977 / 0.977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9B5AD"/>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Bridges: Monday / Friday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0.993 / 0.987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1.000 / 0.993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Easter Sunday / Monday / Tuesday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0.995 / 0.990 / 0.988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0.983 / 0.978 / 0.977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Christmas period, August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similar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r"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similar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Shape 2"/>
          <p:cNvSpPr/>
          <p:nvPr/>
        </p:nvSpPr>
        <p:spPr>
          <a:xfrm>
            <a:off x="815975" y="3869531"/>
            <a:ext cx="5207000" cy="1410791"/>
          </a:xfrm>
          <a:prstGeom prst="roundRect">
            <a:avLst>
              <a:gd name="adj" fmla="val 6977"/>
            </a:avLst>
          </a:prstGeom>
          <a:solidFill>
            <a:srgbClr val="FBFAF6"/>
          </a:solidFill>
          <a:ln w="6350">
            <a:solidFill>
              <a:srgbClr val="DDD8CC"/>
            </a:solidFill>
            <a:prstDash val="solid"/>
          </a:ln>
        </p:spPr>
      </p:sp>
      <p:sp>
        <p:nvSpPr>
          <p:cNvPr id="6" name="Text 3"/>
          <p:cNvSpPr/>
          <p:nvPr/>
        </p:nvSpPr>
        <p:spPr>
          <a:xfrm>
            <a:off x="1022350" y="4075906"/>
            <a:ext cx="49380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3A"/>
                </a:solidFill>
                <a:latin typeface="Source Serif 4" pitchFamily="34" charset="0"/>
                <a:ea typeface="Source Serif 4" pitchFamily="34" charset="-122"/>
                <a:cs typeface="Source Serif 4" pitchFamily="34" charset="-120"/>
              </a:rPr>
              <a:t>Where the two series differ</a:t>
            </a:r>
            <a:endParaRPr lang="en-US" sz="1500" dirty="0"/>
          </a:p>
        </p:txBody>
      </p:sp>
      <p:sp>
        <p:nvSpPr>
          <p:cNvPr id="7" name="Text 4"/>
          <p:cNvSpPr/>
          <p:nvPr/>
        </p:nvSpPr>
        <p:spPr>
          <a:xfrm>
            <a:off x="1022350" y="4380706"/>
            <a:ext cx="4938078"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Less than 0.2% on most days. 3–4% on the 2024–2025 holidays, where time-varying coefficients use current values instead of a 14-year average.</a:t>
            </a:r>
            <a:endParaRPr lang="en-US" sz="1300" dirty="0"/>
          </a:p>
        </p:txBody>
      </p:sp>
      <p:sp>
        <p:nvSpPr>
          <p:cNvPr id="8" name="Shape 5"/>
          <p:cNvSpPr/>
          <p:nvPr/>
        </p:nvSpPr>
        <p:spPr>
          <a:xfrm>
            <a:off x="6178550" y="3866356"/>
            <a:ext cx="5200650" cy="1417141"/>
          </a:xfrm>
          <a:prstGeom prst="roundRect">
            <a:avLst>
              <a:gd name="adj" fmla="val 7169"/>
            </a:avLst>
          </a:prstGeom>
          <a:solidFill>
            <a:srgbClr val="16233A"/>
          </a:solidFill>
          <a:ln/>
        </p:spPr>
      </p:sp>
      <p:sp>
        <p:nvSpPr>
          <p:cNvPr id="9" name="Text 6"/>
          <p:cNvSpPr/>
          <p:nvPr/>
        </p:nvSpPr>
        <p:spPr>
          <a:xfrm>
            <a:off x="6381750" y="4069556"/>
            <a:ext cx="49380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EFE6"/>
                </a:solidFill>
                <a:latin typeface="Source Serif 4" pitchFamily="34" charset="0"/>
                <a:ea typeface="Source Serif 4" pitchFamily="34" charset="-122"/>
                <a:cs typeface="Source Serif 4" pitchFamily="34" charset="-120"/>
              </a:rPr>
              <a:t>Choice: time-varying</a:t>
            </a:r>
            <a:endParaRPr lang="en-US" sz="1500" dirty="0"/>
          </a:p>
        </p:txBody>
      </p:sp>
      <p:sp>
        <p:nvSpPr>
          <p:cNvPr id="10" name="Text 7"/>
          <p:cNvSpPr/>
          <p:nvPr/>
        </p:nvSpPr>
        <p:spPr>
          <a:xfrm>
            <a:off x="6381750" y="4374356"/>
            <a:ext cx="4938078"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Consistent with the observed drift. Cost: a slightly weaker Easter window, because the calendar model has weekly seasonality only.</a:t>
            </a:r>
            <a:endParaRPr lang="en-US" sz="1300" dirty="0"/>
          </a:p>
        </p:txBody>
      </p:sp>
      <p:sp>
        <p:nvSpPr>
          <p:cNvPr id="11"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9E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A6B82"/>
                </a:solidFill>
                <a:latin typeface="IBM Plex Sans" pitchFamily="34" charset="0"/>
                <a:ea typeface="IBM Plex Sans" pitchFamily="34" charset="-122"/>
                <a:cs typeface="IBM Plex Sans" pitchFamily="34" charset="-120"/>
              </a:rPr>
              <a:t>SYNTHESIS</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Two series, two calendars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01"/>
          <a:ext cx="10553700" cy="2660650"/>
        </p:xfrm>
        <a:graphic>
          <a:graphicData uri="http://schemas.openxmlformats.org/drawingml/2006/table">
            <a:tbl>
              <a:tblPr/>
              <a:tblGrid>
                <a:gridCol w="2743962"/>
                <a:gridCol w="3904869"/>
                <a:gridCol w="3904869"/>
              </a:tblGrid>
              <a:tr h="332581">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162031"/>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162031"/>
                      </a:solidFill>
                      <a:prstDash val="solid"/>
                      <a:round/>
                      <a:headEnd type="none" w="med" len="med"/>
                      <a:tailEnd type="none" w="med" len="med"/>
                    </a:lnB>
                    <a:solidFill>
                      <a:srgbClr val="16233A"/>
                    </a:solidFill>
                  </a:tcPr>
                </a:tc>
                <a:tc>
                  <a:txBody>
                    <a:bodyPr/>
                    <a:lstStyle/>
                    <a:p>
                      <a:pPr indent="0" marL="0">
                        <a:lnSpc>
                          <a:spcPts val="1680"/>
                        </a:lnSpc>
                        <a:buNone/>
                      </a:pPr>
                      <a:r>
                        <a:rPr lang="en-US" sz="1200" b="1" dirty="0">
                          <a:solidFill>
                            <a:srgbClr val="8FB4E6"/>
                          </a:solidFill>
                          <a:latin typeface="IBM Plex Sans" pitchFamily="34" charset="0"/>
                          <a:ea typeface="IBM Plex Sans" pitchFamily="34" charset="-122"/>
                          <a:cs typeface="IBM Plex Sans" pitchFamily="34" charset="-120"/>
                        </a:rPr>
                        <a:t>E-invoicing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031"/>
                      </a:solidFill>
                      <a:prstDash val="solid"/>
                      <a:round/>
                      <a:headEnd type="none" w="med" len="med"/>
                      <a:tailEnd type="none" w="med" len="med"/>
                    </a:lnL>
                    <a:lnR w="12700" cap="flat" cmpd="sng" algn="ctr">
                      <a:solidFill>
                        <a:srgbClr val="162031"/>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162031"/>
                      </a:solidFill>
                      <a:prstDash val="solid"/>
                      <a:round/>
                      <a:headEnd type="none" w="med" len="med"/>
                      <a:tailEnd type="none" w="med" len="med"/>
                    </a:lnB>
                    <a:solidFill>
                      <a:srgbClr val="16233A"/>
                    </a:solidFill>
                  </a:tcPr>
                </a:tc>
                <a:tc>
                  <a:txBody>
                    <a:bodyPr/>
                    <a:lstStyle/>
                    <a:p>
                      <a:pPr indent="0" marL="0">
                        <a:lnSpc>
                          <a:spcPts val="1680"/>
                        </a:lnSpc>
                        <a:buNone/>
                      </a:pPr>
                      <a:r>
                        <a:rPr lang="en-US" sz="1200" b="1" dirty="0">
                          <a:solidFill>
                            <a:srgbClr val="E8A76B"/>
                          </a:solidFill>
                          <a:latin typeface="IBM Plex Sans" pitchFamily="34" charset="0"/>
                          <a:ea typeface="IBM Plex Sans" pitchFamily="34" charset="-122"/>
                          <a:cs typeface="IBM Plex Sans" pitchFamily="34" charset="-120"/>
                        </a:rPr>
                        <a:t>Electricity demand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62031"/>
                      </a:solidFill>
                      <a:prstDash val="solid"/>
                      <a:round/>
                      <a:headEnd type="none" w="med" len="med"/>
                      <a:tailEnd type="none" w="med" len="med"/>
                    </a:lnL>
                    <a:lnR w="12700" cap="flat" cmpd="sng" algn="ctr">
                      <a:solidFill>
                        <a:srgbClr val="162031"/>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162031"/>
                      </a:solidFill>
                      <a:prstDash val="solid"/>
                      <a:round/>
                      <a:headEnd type="none" w="med" len="med"/>
                      <a:tailEnd type="none" w="med" len="med"/>
                    </a:lnB>
                    <a:solidFill>
                      <a:srgbClr val="16233A"/>
                    </a:solidFill>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Calendar driver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162031"/>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Administrative: billing rules, fiscal deadlines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162031"/>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Production: plant activity, closures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162031"/>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Multiplicative (log)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Additive (MWh)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Intra-month effects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Strong: month end ×8.6, day 15, pre-month-end ramp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Around special days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Last working day before a weekend month end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Bridges, Easter window, Christmas period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Weekends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Sunday month end: 69 times a normal Sunday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Saturday holidays: −5% on a normal Saturday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Effects over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Stable (time variation estimated at zero)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Smooth drift: about −10% to −18% since 2012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2581">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Calendar regressors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c>
                  <a:txBody>
                    <a:bodyPr/>
                    <a:lstStyle/>
                    <a:p>
                      <a:pPr indent="0" marL="0">
                        <a:lnSpc>
                          <a:spcPts val="1680"/>
                        </a:lnSpc>
                        <a:buNone/>
                      </a:pPr>
                      <a:r>
                        <a:rPr lang="en-US" sz="1200" dirty="0">
                          <a:solidFill>
                            <a:srgbClr val="1E2A3B"/>
                          </a:solidFill>
                          <a:latin typeface="IBM Plex Sans" pitchFamily="34" charset="0"/>
                          <a:ea typeface="IBM Plex Sans" pitchFamily="34" charset="-122"/>
                          <a:cs typeface="IBM Plex Sans" pitchFamily="34" charset="-120"/>
                        </a:rPr>
                        <a:t>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3"/>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A6B82"/>
                </a:solidFill>
                <a:latin typeface="IBM Plex Sans" pitchFamily="34" charset="0"/>
                <a:ea typeface="IBM Plex Sans" pitchFamily="34" charset="-122"/>
                <a:cs typeface="IBM Plex Sans" pitchFamily="34" charset="-120"/>
              </a:rPr>
              <a:t>PROCESS</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A process for building a good calendar</a:t>
            </a:r>
            <a:endParaRPr lang="en-US" sz="3200" dirty="0"/>
          </a:p>
        </p:txBody>
      </p:sp>
      <p:sp>
        <p:nvSpPr>
          <p:cNvPr id="4" name="Shape 2"/>
          <p:cNvSpPr/>
          <p:nvPr/>
        </p:nvSpPr>
        <p:spPr>
          <a:xfrm>
            <a:off x="815975" y="1806476"/>
            <a:ext cx="10560050" cy="615950"/>
          </a:xfrm>
          <a:prstGeom prst="roundRect">
            <a:avLst>
              <a:gd name="adj" fmla="val 15979"/>
            </a:avLst>
          </a:prstGeom>
          <a:solidFill>
            <a:srgbClr val="FBFAF6"/>
          </a:solidFill>
          <a:ln w="6350">
            <a:solidFill>
              <a:srgbClr val="DDD8CC"/>
            </a:solidFill>
            <a:prstDash val="solid"/>
          </a:ln>
        </p:spPr>
      </p:sp>
      <p:sp>
        <p:nvSpPr>
          <p:cNvPr id="5" name="Text 3"/>
          <p:cNvSpPr/>
          <p:nvPr/>
        </p:nvSpPr>
        <p:spPr>
          <a:xfrm>
            <a:off x="1022350" y="1936651"/>
            <a:ext cx="43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DA8"/>
                </a:solidFill>
                <a:latin typeface="Source Serif 4" pitchFamily="34" charset="0"/>
                <a:ea typeface="Source Serif 4" pitchFamily="34" charset="-122"/>
                <a:cs typeface="Source Serif 4" pitchFamily="34" charset="-120"/>
              </a:rPr>
              <a:t>1</a:t>
            </a:r>
            <a:endParaRPr lang="en-US" sz="2000" dirty="0"/>
          </a:p>
        </p:txBody>
      </p:sp>
      <p:sp>
        <p:nvSpPr>
          <p:cNvPr id="6" name="Text 4"/>
          <p:cNvSpPr/>
          <p:nvPr/>
        </p:nvSpPr>
        <p:spPr>
          <a:xfrm>
            <a:off x="1606550" y="198110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33A"/>
                </a:solidFill>
                <a:latin typeface="IBM Plex Sans" pitchFamily="34" charset="0"/>
                <a:ea typeface="IBM Plex Sans" pitchFamily="34" charset="-122"/>
                <a:cs typeface="IBM Plex Sans" pitchFamily="34" charset="-120"/>
              </a:rPr>
              <a:t>Explore</a:t>
            </a:r>
            <a:endParaRPr lang="en-US" sz="1500" dirty="0"/>
          </a:p>
        </p:txBody>
      </p:sp>
      <p:sp>
        <p:nvSpPr>
          <p:cNvPr id="7" name="Text 5"/>
          <p:cNvSpPr/>
          <p:nvPr/>
        </p:nvSpPr>
        <p:spPr>
          <a:xfrm>
            <a:off x="3714750" y="2007791"/>
            <a:ext cx="76785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Profiles and periodogram of the raw series. For every recurring anomaly, ask why that day is special.</a:t>
            </a:r>
            <a:endParaRPr lang="en-US" sz="1200" dirty="0"/>
          </a:p>
        </p:txBody>
      </p:sp>
      <p:sp>
        <p:nvSpPr>
          <p:cNvPr id="8" name="Shape 6"/>
          <p:cNvSpPr/>
          <p:nvPr/>
        </p:nvSpPr>
        <p:spPr>
          <a:xfrm>
            <a:off x="815975" y="2504976"/>
            <a:ext cx="10560050" cy="686991"/>
          </a:xfrm>
          <a:prstGeom prst="roundRect">
            <a:avLst>
              <a:gd name="adj" fmla="val 14327"/>
            </a:avLst>
          </a:prstGeom>
          <a:solidFill>
            <a:srgbClr val="FBFAF6"/>
          </a:solidFill>
          <a:ln w="6350">
            <a:solidFill>
              <a:srgbClr val="DDD8CC"/>
            </a:solidFill>
            <a:prstDash val="solid"/>
          </a:ln>
        </p:spPr>
      </p:sp>
      <p:sp>
        <p:nvSpPr>
          <p:cNvPr id="9" name="Text 7"/>
          <p:cNvSpPr/>
          <p:nvPr/>
        </p:nvSpPr>
        <p:spPr>
          <a:xfrm>
            <a:off x="1022350" y="2670671"/>
            <a:ext cx="43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DA8"/>
                </a:solidFill>
                <a:latin typeface="Source Serif 4" pitchFamily="34" charset="0"/>
                <a:ea typeface="Source Serif 4" pitchFamily="34" charset="-122"/>
                <a:cs typeface="Source Serif 4" pitchFamily="34" charset="-120"/>
              </a:rPr>
              <a:t>2</a:t>
            </a:r>
            <a:endParaRPr lang="en-US" sz="2000" dirty="0"/>
          </a:p>
        </p:txBody>
      </p:sp>
      <p:sp>
        <p:nvSpPr>
          <p:cNvPr id="10" name="Text 8"/>
          <p:cNvSpPr/>
          <p:nvPr/>
        </p:nvSpPr>
        <p:spPr>
          <a:xfrm>
            <a:off x="1606550" y="271512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33A"/>
                </a:solidFill>
                <a:latin typeface="IBM Plex Sans" pitchFamily="34" charset="0"/>
                <a:ea typeface="IBM Plex Sans" pitchFamily="34" charset="-122"/>
                <a:cs typeface="IBM Plex Sans" pitchFamily="34" charset="-120"/>
              </a:rPr>
              <a:t>Specify</a:t>
            </a:r>
            <a:endParaRPr lang="en-US" sz="1500" dirty="0"/>
          </a:p>
        </p:txBody>
      </p:sp>
      <p:sp>
        <p:nvSpPr>
          <p:cNvPr id="11" name="Text 9"/>
          <p:cNvSpPr/>
          <p:nvPr/>
        </p:nvSpPr>
        <p:spPr>
          <a:xfrm>
            <a:off x="3714750" y="2635151"/>
            <a:ext cx="767854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Minimal and motivated: holidays on working days, known domain effects. Estimate jointly with the seasonal model; check how every regressor is built.</a:t>
            </a:r>
            <a:endParaRPr lang="en-US" sz="1200" dirty="0"/>
          </a:p>
        </p:txBody>
      </p:sp>
      <p:sp>
        <p:nvSpPr>
          <p:cNvPr id="12" name="Shape 10"/>
          <p:cNvSpPr/>
          <p:nvPr/>
        </p:nvSpPr>
        <p:spPr>
          <a:xfrm>
            <a:off x="815975" y="3274516"/>
            <a:ext cx="10560050" cy="686991"/>
          </a:xfrm>
          <a:prstGeom prst="roundRect">
            <a:avLst>
              <a:gd name="adj" fmla="val 14327"/>
            </a:avLst>
          </a:prstGeom>
          <a:solidFill>
            <a:srgbClr val="FBFAF6"/>
          </a:solidFill>
          <a:ln w="6350">
            <a:solidFill>
              <a:srgbClr val="DDD8CC"/>
            </a:solidFill>
            <a:prstDash val="solid"/>
          </a:ln>
        </p:spPr>
      </p:sp>
      <p:sp>
        <p:nvSpPr>
          <p:cNvPr id="13" name="Text 11"/>
          <p:cNvSpPr/>
          <p:nvPr/>
        </p:nvSpPr>
        <p:spPr>
          <a:xfrm>
            <a:off x="1022350" y="3440212"/>
            <a:ext cx="43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DA8"/>
                </a:solidFill>
                <a:latin typeface="Source Serif 4" pitchFamily="34" charset="0"/>
                <a:ea typeface="Source Serif 4" pitchFamily="34" charset="-122"/>
                <a:cs typeface="Source Serif 4" pitchFamily="34" charset="-120"/>
              </a:rPr>
              <a:t>3</a:t>
            </a:r>
            <a:endParaRPr lang="en-US" sz="2000" dirty="0"/>
          </a:p>
        </p:txBody>
      </p:sp>
      <p:sp>
        <p:nvSpPr>
          <p:cNvPr id="14" name="Text 12"/>
          <p:cNvSpPr/>
          <p:nvPr/>
        </p:nvSpPr>
        <p:spPr>
          <a:xfrm>
            <a:off x="1606550" y="3484662"/>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33A"/>
                </a:solidFill>
                <a:latin typeface="IBM Plex Sans" pitchFamily="34" charset="0"/>
                <a:ea typeface="IBM Plex Sans" pitchFamily="34" charset="-122"/>
                <a:cs typeface="IBM Plex Sans" pitchFamily="34" charset="-120"/>
              </a:rPr>
              <a:t>Diagnose</a:t>
            </a:r>
            <a:endParaRPr lang="en-US" sz="1500" dirty="0"/>
          </a:p>
        </p:txBody>
      </p:sp>
      <p:sp>
        <p:nvSpPr>
          <p:cNvPr id="15" name="Text 13"/>
          <p:cNvSpPr/>
          <p:nvPr/>
        </p:nvSpPr>
        <p:spPr>
          <a:xfrm>
            <a:off x="3714750" y="3404691"/>
            <a:ext cx="767854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SA_CA ÷ monthly median by weekday, day of month, days to month end and around holidays; split weekday / Saturday / Sunday; read the outliers.</a:t>
            </a:r>
            <a:endParaRPr lang="en-US" sz="1200" dirty="0"/>
          </a:p>
        </p:txBody>
      </p:sp>
      <p:sp>
        <p:nvSpPr>
          <p:cNvPr id="16" name="Shape 14"/>
          <p:cNvSpPr/>
          <p:nvPr/>
        </p:nvSpPr>
        <p:spPr>
          <a:xfrm>
            <a:off x="815975" y="4044057"/>
            <a:ext cx="10560050" cy="615950"/>
          </a:xfrm>
          <a:prstGeom prst="roundRect">
            <a:avLst>
              <a:gd name="adj" fmla="val 15979"/>
            </a:avLst>
          </a:prstGeom>
          <a:solidFill>
            <a:srgbClr val="FBFAF6"/>
          </a:solidFill>
          <a:ln w="6350">
            <a:solidFill>
              <a:srgbClr val="DDD8CC"/>
            </a:solidFill>
            <a:prstDash val="solid"/>
          </a:ln>
        </p:spPr>
      </p:sp>
      <p:sp>
        <p:nvSpPr>
          <p:cNvPr id="17" name="Text 15"/>
          <p:cNvSpPr/>
          <p:nvPr/>
        </p:nvSpPr>
        <p:spPr>
          <a:xfrm>
            <a:off x="1022350" y="4174232"/>
            <a:ext cx="43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DA8"/>
                </a:solidFill>
                <a:latin typeface="Source Serif 4" pitchFamily="34" charset="0"/>
                <a:ea typeface="Source Serif 4" pitchFamily="34" charset="-122"/>
                <a:cs typeface="Source Serif 4" pitchFamily="34" charset="-120"/>
              </a:rPr>
              <a:t>4</a:t>
            </a:r>
            <a:endParaRPr lang="en-US" sz="2000" dirty="0"/>
          </a:p>
        </p:txBody>
      </p:sp>
      <p:sp>
        <p:nvSpPr>
          <p:cNvPr id="18" name="Text 16"/>
          <p:cNvSpPr/>
          <p:nvPr/>
        </p:nvSpPr>
        <p:spPr>
          <a:xfrm>
            <a:off x="1606550" y="4218682"/>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33A"/>
                </a:solidFill>
                <a:latin typeface="IBM Plex Sans" pitchFamily="34" charset="0"/>
                <a:ea typeface="IBM Plex Sans" pitchFamily="34" charset="-122"/>
                <a:cs typeface="IBM Plex Sans" pitchFamily="34" charset="-120"/>
              </a:rPr>
              <a:t>Refine</a:t>
            </a:r>
            <a:endParaRPr lang="en-US" sz="1500" dirty="0"/>
          </a:p>
        </p:txBody>
      </p:sp>
      <p:sp>
        <p:nvSpPr>
          <p:cNvPr id="19" name="Text 17"/>
          <p:cNvSpPr/>
          <p:nvPr/>
        </p:nvSpPr>
        <p:spPr>
          <a:xfrm>
            <a:off x="3714750" y="4245372"/>
            <a:ext cx="76785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Economic hypothesis → targeted table → one regressor at a time → re-run all profiles, then back to step 3.</a:t>
            </a:r>
            <a:endParaRPr lang="en-US" sz="1200" dirty="0"/>
          </a:p>
        </p:txBody>
      </p:sp>
      <p:sp>
        <p:nvSpPr>
          <p:cNvPr id="20" name="Shape 18"/>
          <p:cNvSpPr/>
          <p:nvPr/>
        </p:nvSpPr>
        <p:spPr>
          <a:xfrm>
            <a:off x="815975" y="4742557"/>
            <a:ext cx="10560050" cy="686991"/>
          </a:xfrm>
          <a:prstGeom prst="roundRect">
            <a:avLst>
              <a:gd name="adj" fmla="val 14327"/>
            </a:avLst>
          </a:prstGeom>
          <a:solidFill>
            <a:srgbClr val="FBFAF6"/>
          </a:solidFill>
          <a:ln w="6350">
            <a:solidFill>
              <a:srgbClr val="DDD8CC"/>
            </a:solidFill>
            <a:prstDash val="solid"/>
          </a:ln>
        </p:spPr>
      </p:sp>
      <p:sp>
        <p:nvSpPr>
          <p:cNvPr id="21" name="Text 19"/>
          <p:cNvSpPr/>
          <p:nvPr/>
        </p:nvSpPr>
        <p:spPr>
          <a:xfrm>
            <a:off x="1022350" y="4908252"/>
            <a:ext cx="43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A5DA8"/>
                </a:solidFill>
                <a:latin typeface="Source Serif 4" pitchFamily="34" charset="0"/>
                <a:ea typeface="Source Serif 4" pitchFamily="34" charset="-122"/>
                <a:cs typeface="Source Serif 4" pitchFamily="34" charset="-120"/>
              </a:rPr>
              <a:t>5</a:t>
            </a:r>
            <a:endParaRPr lang="en-US" sz="2000" dirty="0"/>
          </a:p>
        </p:txBody>
      </p:sp>
      <p:sp>
        <p:nvSpPr>
          <p:cNvPr id="22" name="Text 20"/>
          <p:cNvSpPr/>
          <p:nvPr/>
        </p:nvSpPr>
        <p:spPr>
          <a:xfrm>
            <a:off x="1606550" y="4952702"/>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33A"/>
                </a:solidFill>
                <a:latin typeface="IBM Plex Sans" pitchFamily="34" charset="0"/>
                <a:ea typeface="IBM Plex Sans" pitchFamily="34" charset="-122"/>
                <a:cs typeface="IBM Plex Sans" pitchFamily="34" charset="-120"/>
              </a:rPr>
              <a:t>Simplify and stop</a:t>
            </a:r>
            <a:endParaRPr lang="en-US" sz="1500" dirty="0"/>
          </a:p>
        </p:txBody>
      </p:sp>
      <p:sp>
        <p:nvSpPr>
          <p:cNvPr id="23" name="Text 21"/>
          <p:cNvSpPr/>
          <p:nvPr/>
        </p:nvSpPr>
        <p:spPr>
          <a:xfrm>
            <a:off x="3714750" y="4872732"/>
            <a:ext cx="767854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Drop non-significant regressors, merge similar ones, test time variation on the full calendar. Stop within ±5%; document what is left.</a:t>
            </a:r>
            <a:endParaRPr lang="en-US" sz="12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A6B82"/>
                </a:solidFill>
                <a:latin typeface="IBM Plex Sans" pitchFamily="34" charset="0"/>
                <a:ea typeface="IBM Plex Sans" pitchFamily="34" charset="-122"/>
                <a:cs typeface="IBM Plex Sans" pitchFamily="34" charset="-120"/>
              </a:rPr>
              <a:t>GOOD PRACTICE</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33A"/>
                </a:solidFill>
                <a:latin typeface="Source Serif 4" pitchFamily="34" charset="0"/>
                <a:ea typeface="Source Serif 4" pitchFamily="34" charset="-122"/>
                <a:cs typeface="Source Serif 4" pitchFamily="34" charset="-120"/>
              </a:rPr>
              <a:t>Lessons for good practice</a:t>
            </a:r>
            <a:endParaRPr lang="en-US" sz="3200" dirty="0"/>
          </a:p>
        </p:txBody>
      </p:sp>
      <p:sp>
        <p:nvSpPr>
          <p:cNvPr id="4" name="Shape 2"/>
          <p:cNvSpPr/>
          <p:nvPr/>
        </p:nvSpPr>
        <p:spPr>
          <a:xfrm>
            <a:off x="815975" y="1806476"/>
            <a:ext cx="5226050" cy="577850"/>
          </a:xfrm>
          <a:prstGeom prst="roundRect">
            <a:avLst>
              <a:gd name="adj" fmla="val 17033"/>
            </a:avLst>
          </a:prstGeom>
          <a:solidFill>
            <a:srgbClr val="FBFAF6"/>
          </a:solidFill>
          <a:ln w="6350">
            <a:solidFill>
              <a:srgbClr val="DDD8CC"/>
            </a:solidFill>
            <a:prstDash val="solid"/>
          </a:ln>
        </p:spPr>
      </p:sp>
      <p:sp>
        <p:nvSpPr>
          <p:cNvPr id="5" name="Text 3"/>
          <p:cNvSpPr/>
          <p:nvPr/>
        </p:nvSpPr>
        <p:spPr>
          <a:xfrm>
            <a:off x="971550" y="1962051"/>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DA8"/>
                </a:solidFill>
                <a:latin typeface="Source Serif 4" pitchFamily="34" charset="0"/>
                <a:ea typeface="Source Serif 4" pitchFamily="34" charset="-122"/>
                <a:cs typeface="Source Serif 4" pitchFamily="34" charset="-120"/>
              </a:rPr>
              <a:t>1</a:t>
            </a:r>
            <a:endParaRPr lang="en-US" sz="1500" dirty="0"/>
          </a:p>
        </p:txBody>
      </p:sp>
      <p:sp>
        <p:nvSpPr>
          <p:cNvPr id="6" name="Text 4"/>
          <p:cNvSpPr/>
          <p:nvPr/>
        </p:nvSpPr>
        <p:spPr>
          <a:xfrm>
            <a:off x="1352550" y="1962051"/>
            <a:ext cx="4669917" cy="292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Diagnostics transfer; the calendar does not.</a:t>
            </a:r>
            <a:endParaRPr lang="en-US" sz="1300" dirty="0"/>
          </a:p>
        </p:txBody>
      </p:sp>
      <p:sp>
        <p:nvSpPr>
          <p:cNvPr id="7" name="Shape 5"/>
          <p:cNvSpPr/>
          <p:nvPr/>
        </p:nvSpPr>
        <p:spPr>
          <a:xfrm>
            <a:off x="6149975" y="1806476"/>
            <a:ext cx="5226050" cy="577850"/>
          </a:xfrm>
          <a:prstGeom prst="roundRect">
            <a:avLst>
              <a:gd name="adj" fmla="val 17033"/>
            </a:avLst>
          </a:prstGeom>
          <a:solidFill>
            <a:srgbClr val="FBFAF6"/>
          </a:solidFill>
          <a:ln w="6350">
            <a:solidFill>
              <a:srgbClr val="DDD8CC"/>
            </a:solidFill>
            <a:prstDash val="solid"/>
          </a:ln>
        </p:spPr>
      </p:sp>
      <p:sp>
        <p:nvSpPr>
          <p:cNvPr id="8" name="Text 6"/>
          <p:cNvSpPr/>
          <p:nvPr/>
        </p:nvSpPr>
        <p:spPr>
          <a:xfrm>
            <a:off x="6305550" y="1962051"/>
            <a:ext cx="304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DA8"/>
                </a:solidFill>
                <a:latin typeface="Source Serif 4" pitchFamily="34" charset="0"/>
                <a:ea typeface="Source Serif 4" pitchFamily="34" charset="-122"/>
                <a:cs typeface="Source Serif 4" pitchFamily="34" charset="-120"/>
              </a:rPr>
              <a:t>2</a:t>
            </a:r>
            <a:endParaRPr lang="en-US" sz="1500" dirty="0"/>
          </a:p>
        </p:txBody>
      </p:sp>
      <p:sp>
        <p:nvSpPr>
          <p:cNvPr id="9" name="Text 7"/>
          <p:cNvSpPr/>
          <p:nvPr/>
        </p:nvSpPr>
        <p:spPr>
          <a:xfrm>
            <a:off x="6686550" y="1962051"/>
            <a:ext cx="4669917" cy="292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A special day's effect depends on the day it falls on.</a:t>
            </a:r>
            <a:endParaRPr lang="en-US" sz="1300" dirty="0"/>
          </a:p>
        </p:txBody>
      </p:sp>
      <p:sp>
        <p:nvSpPr>
          <p:cNvPr id="10" name="Shape 8"/>
          <p:cNvSpPr/>
          <p:nvPr/>
        </p:nvSpPr>
        <p:spPr>
          <a:xfrm>
            <a:off x="815975" y="2492276"/>
            <a:ext cx="5226050" cy="773311"/>
          </a:xfrm>
          <a:prstGeom prst="roundRect">
            <a:avLst>
              <a:gd name="adj" fmla="val 12728"/>
            </a:avLst>
          </a:prstGeom>
          <a:solidFill>
            <a:srgbClr val="FBFAF6"/>
          </a:solidFill>
          <a:ln w="6350">
            <a:solidFill>
              <a:srgbClr val="DDD8CC"/>
            </a:solidFill>
            <a:prstDash val="solid"/>
          </a:ln>
        </p:spPr>
      </p:sp>
      <p:sp>
        <p:nvSpPr>
          <p:cNvPr id="11" name="Text 9"/>
          <p:cNvSpPr/>
          <p:nvPr/>
        </p:nvSpPr>
        <p:spPr>
          <a:xfrm>
            <a:off x="971550" y="2647851"/>
            <a:ext cx="304800" cy="487561"/>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DA8"/>
                </a:solidFill>
                <a:latin typeface="Source Serif 4" pitchFamily="34" charset="0"/>
                <a:ea typeface="Source Serif 4" pitchFamily="34" charset="-122"/>
                <a:cs typeface="Source Serif 4" pitchFamily="34" charset="-120"/>
              </a:rPr>
              <a:t>3</a:t>
            </a:r>
            <a:endParaRPr lang="en-US" sz="1500" dirty="0"/>
          </a:p>
        </p:txBody>
      </p:sp>
      <p:sp>
        <p:nvSpPr>
          <p:cNvPr id="12" name="Text 10"/>
          <p:cNvSpPr/>
          <p:nvPr/>
        </p:nvSpPr>
        <p:spPr>
          <a:xfrm>
            <a:off x="1352550" y="2647851"/>
            <a:ext cx="466991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A fixed date is not seasonal if its effect depends on the weekday.</a:t>
            </a:r>
            <a:endParaRPr lang="en-US" sz="1300" dirty="0"/>
          </a:p>
        </p:txBody>
      </p:sp>
      <p:sp>
        <p:nvSpPr>
          <p:cNvPr id="13" name="Shape 11"/>
          <p:cNvSpPr/>
          <p:nvPr/>
        </p:nvSpPr>
        <p:spPr>
          <a:xfrm>
            <a:off x="6149975" y="2492276"/>
            <a:ext cx="5226050" cy="773311"/>
          </a:xfrm>
          <a:prstGeom prst="roundRect">
            <a:avLst>
              <a:gd name="adj" fmla="val 12728"/>
            </a:avLst>
          </a:prstGeom>
          <a:solidFill>
            <a:srgbClr val="FBFAF6"/>
          </a:solidFill>
          <a:ln w="6350">
            <a:solidFill>
              <a:srgbClr val="DDD8CC"/>
            </a:solidFill>
            <a:prstDash val="solid"/>
          </a:ln>
        </p:spPr>
      </p:sp>
      <p:sp>
        <p:nvSpPr>
          <p:cNvPr id="14" name="Text 12"/>
          <p:cNvSpPr/>
          <p:nvPr/>
        </p:nvSpPr>
        <p:spPr>
          <a:xfrm>
            <a:off x="6305550" y="2647851"/>
            <a:ext cx="304800" cy="487561"/>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DA8"/>
                </a:solidFill>
                <a:latin typeface="Source Serif 4" pitchFamily="34" charset="0"/>
                <a:ea typeface="Source Serif 4" pitchFamily="34" charset="-122"/>
                <a:cs typeface="Source Serif 4" pitchFamily="34" charset="-120"/>
              </a:rPr>
              <a:t>4</a:t>
            </a:r>
            <a:endParaRPr lang="en-US" sz="1500" dirty="0"/>
          </a:p>
        </p:txBody>
      </p:sp>
      <p:sp>
        <p:nvSpPr>
          <p:cNvPr id="15" name="Text 13"/>
          <p:cNvSpPr/>
          <p:nvPr/>
        </p:nvSpPr>
        <p:spPr>
          <a:xfrm>
            <a:off x="6686550" y="2647851"/>
            <a:ext cx="466991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Model the days around special days: missing neighbours bias the modelled ones.</a:t>
            </a:r>
            <a:endParaRPr lang="en-US" sz="1300" dirty="0"/>
          </a:p>
        </p:txBody>
      </p:sp>
      <p:sp>
        <p:nvSpPr>
          <p:cNvPr id="16" name="Shape 14"/>
          <p:cNvSpPr/>
          <p:nvPr/>
        </p:nvSpPr>
        <p:spPr>
          <a:xfrm>
            <a:off x="815975" y="3373537"/>
            <a:ext cx="5226050" cy="773311"/>
          </a:xfrm>
          <a:prstGeom prst="roundRect">
            <a:avLst>
              <a:gd name="adj" fmla="val 12728"/>
            </a:avLst>
          </a:prstGeom>
          <a:solidFill>
            <a:srgbClr val="FBFAF6"/>
          </a:solidFill>
          <a:ln w="6350">
            <a:solidFill>
              <a:srgbClr val="DDD8CC"/>
            </a:solidFill>
            <a:prstDash val="solid"/>
          </a:ln>
        </p:spPr>
      </p:sp>
      <p:sp>
        <p:nvSpPr>
          <p:cNvPr id="17" name="Text 15"/>
          <p:cNvSpPr/>
          <p:nvPr/>
        </p:nvSpPr>
        <p:spPr>
          <a:xfrm>
            <a:off x="971550" y="3529112"/>
            <a:ext cx="304800" cy="487561"/>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DA8"/>
                </a:solidFill>
                <a:latin typeface="Source Serif 4" pitchFamily="34" charset="0"/>
                <a:ea typeface="Source Serif 4" pitchFamily="34" charset="-122"/>
                <a:cs typeface="Source Serif 4" pitchFamily="34" charset="-120"/>
              </a:rPr>
              <a:t>5</a:t>
            </a:r>
            <a:endParaRPr lang="en-US" sz="1500" dirty="0"/>
          </a:p>
        </p:txBody>
      </p:sp>
      <p:sp>
        <p:nvSpPr>
          <p:cNvPr id="18" name="Text 16"/>
          <p:cNvSpPr/>
          <p:nvPr/>
        </p:nvSpPr>
        <p:spPr>
          <a:xfrm>
            <a:off x="1352550" y="3529112"/>
            <a:ext cx="466991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The operational calendar beats the official one: last working day, bridges.</a:t>
            </a:r>
            <a:endParaRPr lang="en-US" sz="1300" dirty="0"/>
          </a:p>
        </p:txBody>
      </p:sp>
      <p:sp>
        <p:nvSpPr>
          <p:cNvPr id="19" name="Shape 17"/>
          <p:cNvSpPr/>
          <p:nvPr/>
        </p:nvSpPr>
        <p:spPr>
          <a:xfrm>
            <a:off x="6149975" y="3373537"/>
            <a:ext cx="5226050" cy="773311"/>
          </a:xfrm>
          <a:prstGeom prst="roundRect">
            <a:avLst>
              <a:gd name="adj" fmla="val 12728"/>
            </a:avLst>
          </a:prstGeom>
          <a:solidFill>
            <a:srgbClr val="FBFAF6"/>
          </a:solidFill>
          <a:ln w="6350">
            <a:solidFill>
              <a:srgbClr val="DDD8CC"/>
            </a:solidFill>
            <a:prstDash val="solid"/>
          </a:ln>
        </p:spPr>
      </p:sp>
      <p:sp>
        <p:nvSpPr>
          <p:cNvPr id="20" name="Text 18"/>
          <p:cNvSpPr/>
          <p:nvPr/>
        </p:nvSpPr>
        <p:spPr>
          <a:xfrm>
            <a:off x="6305550" y="3529112"/>
            <a:ext cx="304800" cy="487561"/>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DA8"/>
                </a:solidFill>
                <a:latin typeface="Source Serif 4" pitchFamily="34" charset="0"/>
                <a:ea typeface="Source Serif 4" pitchFamily="34" charset="-122"/>
                <a:cs typeface="Source Serif 4" pitchFamily="34" charset="-120"/>
              </a:rPr>
              <a:t>6</a:t>
            </a:r>
            <a:endParaRPr lang="en-US" sz="1500" dirty="0"/>
          </a:p>
        </p:txBody>
      </p:sp>
      <p:sp>
        <p:nvSpPr>
          <p:cNvPr id="21" name="Text 19"/>
          <p:cNvSpPr/>
          <p:nvPr/>
        </p:nvSpPr>
        <p:spPr>
          <a:xfrm>
            <a:off x="6686550" y="3529112"/>
            <a:ext cx="466991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Flexible coefficients hide misspecification: test time variation on the full calendar.</a:t>
            </a:r>
            <a:endParaRPr lang="en-US" sz="1300" dirty="0"/>
          </a:p>
        </p:txBody>
      </p:sp>
      <p:sp>
        <p:nvSpPr>
          <p:cNvPr id="22" name="Shape 20"/>
          <p:cNvSpPr/>
          <p:nvPr/>
        </p:nvSpPr>
        <p:spPr>
          <a:xfrm>
            <a:off x="815975" y="4254798"/>
            <a:ext cx="5226050" cy="773311"/>
          </a:xfrm>
          <a:prstGeom prst="roundRect">
            <a:avLst>
              <a:gd name="adj" fmla="val 12728"/>
            </a:avLst>
          </a:prstGeom>
          <a:solidFill>
            <a:srgbClr val="FBFAF6"/>
          </a:solidFill>
          <a:ln w="6350">
            <a:solidFill>
              <a:srgbClr val="DDD8CC"/>
            </a:solidFill>
            <a:prstDash val="solid"/>
          </a:ln>
        </p:spPr>
      </p:sp>
      <p:sp>
        <p:nvSpPr>
          <p:cNvPr id="23" name="Text 21"/>
          <p:cNvSpPr/>
          <p:nvPr/>
        </p:nvSpPr>
        <p:spPr>
          <a:xfrm>
            <a:off x="971550" y="4410373"/>
            <a:ext cx="304800" cy="487561"/>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DA8"/>
                </a:solidFill>
                <a:latin typeface="Source Serif 4" pitchFamily="34" charset="0"/>
                <a:ea typeface="Source Serif 4" pitchFamily="34" charset="-122"/>
                <a:cs typeface="Source Serif 4" pitchFamily="34" charset="-120"/>
              </a:rPr>
              <a:t>7</a:t>
            </a:r>
            <a:endParaRPr lang="en-US" sz="1500" dirty="0"/>
          </a:p>
        </p:txBody>
      </p:sp>
      <p:sp>
        <p:nvSpPr>
          <p:cNvPr id="24" name="Text 22"/>
          <p:cNvSpPr/>
          <p:nvPr/>
        </p:nvSpPr>
        <p:spPr>
          <a:xfrm>
            <a:off x="1352550" y="4410373"/>
            <a:ext cx="466991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Outliers tell you what is missing: weekend holidays, bridges, heat waves.</a:t>
            </a:r>
            <a:endParaRPr lang="en-US" sz="1300" dirty="0"/>
          </a:p>
        </p:txBody>
      </p:sp>
      <p:sp>
        <p:nvSpPr>
          <p:cNvPr id="25" name="Shape 23"/>
          <p:cNvSpPr/>
          <p:nvPr/>
        </p:nvSpPr>
        <p:spPr>
          <a:xfrm>
            <a:off x="6149975" y="4254798"/>
            <a:ext cx="5226050" cy="773311"/>
          </a:xfrm>
          <a:prstGeom prst="roundRect">
            <a:avLst>
              <a:gd name="adj" fmla="val 12728"/>
            </a:avLst>
          </a:prstGeom>
          <a:solidFill>
            <a:srgbClr val="FBFAF6"/>
          </a:solidFill>
          <a:ln w="6350">
            <a:solidFill>
              <a:srgbClr val="DDD8CC"/>
            </a:solidFill>
            <a:prstDash val="solid"/>
          </a:ln>
        </p:spPr>
      </p:sp>
      <p:sp>
        <p:nvSpPr>
          <p:cNvPr id="26" name="Text 24"/>
          <p:cNvSpPr/>
          <p:nvPr/>
        </p:nvSpPr>
        <p:spPr>
          <a:xfrm>
            <a:off x="6305550" y="4410373"/>
            <a:ext cx="304800" cy="487561"/>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A5DA8"/>
                </a:solidFill>
                <a:latin typeface="Source Serif 4" pitchFamily="34" charset="0"/>
                <a:ea typeface="Source Serif 4" pitchFamily="34" charset="-122"/>
                <a:cs typeface="Source Serif 4" pitchFamily="34" charset="-120"/>
              </a:rPr>
              <a:t>8</a:t>
            </a:r>
            <a:endParaRPr lang="en-US" sz="1500" dirty="0"/>
          </a:p>
        </p:txBody>
      </p:sp>
      <p:sp>
        <p:nvSpPr>
          <p:cNvPr id="27" name="Text 25"/>
          <p:cNvSpPr/>
          <p:nvPr/>
        </p:nvSpPr>
        <p:spPr>
          <a:xfrm>
            <a:off x="6686550" y="4410373"/>
            <a:ext cx="466991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A3B"/>
                </a:solidFill>
                <a:latin typeface="IBM Plex Sans" pitchFamily="34" charset="0"/>
                <a:ea typeface="IBM Plex Sans" pitchFamily="34" charset="-122"/>
                <a:cs typeface="IBM Plex Sans" pitchFamily="34" charset="-120"/>
              </a:rPr>
              <a:t>Verify what software options really do, e.g. with holidays on weekends.</a:t>
            </a:r>
            <a:endParaRPr lang="en-US" sz="13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3"/>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D3E0"/>
                </a:solidFill>
                <a:latin typeface="IBM Plex Sans" pitchFamily="34" charset="0"/>
                <a:ea typeface="IBM Plex Sans" pitchFamily="34" charset="-122"/>
                <a:cs typeface="IBM Plex Sans" pitchFamily="34" charset="-120"/>
              </a:rPr>
              <a:t>NEXT STEPS</a:t>
            </a:r>
            <a:endParaRPr lang="en-US" sz="1200" dirty="0"/>
          </a:p>
        </p:txBody>
      </p:sp>
      <p:sp>
        <p:nvSpPr>
          <p:cNvPr id="3" name="Text 1"/>
          <p:cNvSpPr/>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3EFE6"/>
                </a:solidFill>
                <a:latin typeface="Source Serif 4" pitchFamily="34" charset="0"/>
                <a:ea typeface="Source Serif 4" pitchFamily="34" charset="-122"/>
                <a:cs typeface="Source Serif 4" pitchFamily="34" charset="-120"/>
              </a:rPr>
              <a:t>Open questions</a:t>
            </a:r>
            <a:endParaRPr lang="en-US" sz="3200" dirty="0"/>
          </a:p>
        </p:txBody>
      </p:sp>
      <p:sp>
        <p:nvSpPr>
          <p:cNvPr id="4" name="Text 2"/>
          <p:cNvSpPr/>
          <p:nvPr/>
        </p:nvSpPr>
        <p:spPr>
          <a:xfrm>
            <a:off x="812800" y="1854101"/>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8A76B"/>
                </a:solidFill>
                <a:latin typeface="IBM Plex Sans" pitchFamily="34" charset="0"/>
                <a:ea typeface="IBM Plex Sans" pitchFamily="34" charset="-122"/>
                <a:cs typeface="IBM Plex Sans" pitchFamily="34" charset="-120"/>
              </a:rPr>
              <a:t>ELECTRICITY DEMAND</a:t>
            </a:r>
            <a:endParaRPr lang="en-US" sz="1200" dirty="0"/>
          </a:p>
        </p:txBody>
      </p:sp>
      <p:sp>
        <p:nvSpPr>
          <p:cNvPr id="5" name="Text 3"/>
          <p:cNvSpPr/>
          <p:nvPr/>
        </p:nvSpPr>
        <p:spPr>
          <a:xfrm>
            <a:off x="812800" y="2169021"/>
            <a:ext cx="5232400" cy="1180802"/>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D9E0EA"/>
                </a:solidFill>
                <a:latin typeface="IBM Plex Sans" pitchFamily="34" charset="0"/>
                <a:ea typeface="IBM Plex Sans" pitchFamily="34" charset="-122"/>
                <a:cs typeface="IBM Plex Sans" pitchFamily="34" charset="-120"/>
              </a:rPr>
              <a:t>Temperature: heating and cooling degree days. Pairs of summer level shifts (2014 cool summer; 2023–2025 heat waves) point to weather effects.</a:t>
            </a:r>
            <a:endParaRPr lang="en-US" sz="1300" dirty="0"/>
          </a:p>
          <a:p>
            <a:pPr algn="l" marL="198120" indent="-168656">
              <a:lnSpc>
                <a:spcPts val="1820"/>
              </a:lnSpc>
              <a:buSzPct val="100000"/>
              <a:buChar char="•"/>
            </a:pPr>
            <a:r>
              <a:rPr lang="en-US" sz="1300" dirty="0">
                <a:solidFill>
                  <a:srgbClr val="D9E0EA"/>
                </a:solidFill>
                <a:latin typeface="IBM Plex Sans" pitchFamily="34" charset="0"/>
                <a:ea typeface="IBM Plex Sans" pitchFamily="34" charset="-122"/>
                <a:cs typeface="IBM Plex Sans" pitchFamily="34" charset="-120"/>
              </a:rPr>
              <a:t>Why are holiday effects shrinking? A lower industrial share of consumption? Self-generation from rooftop solar?</a:t>
            </a:r>
            <a:endParaRPr lang="en-US" sz="1300" dirty="0"/>
          </a:p>
        </p:txBody>
      </p:sp>
      <p:sp>
        <p:nvSpPr>
          <p:cNvPr id="6" name="Text 4"/>
          <p:cNvSpPr/>
          <p:nvPr/>
        </p:nvSpPr>
        <p:spPr>
          <a:xfrm>
            <a:off x="6299200" y="1854101"/>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B4E6"/>
                </a:solidFill>
                <a:latin typeface="IBM Plex Sans" pitchFamily="34" charset="0"/>
                <a:ea typeface="IBM Plex Sans" pitchFamily="34" charset="-122"/>
                <a:cs typeface="IBM Plex Sans" pitchFamily="34" charset="-120"/>
              </a:rPr>
              <a:t>E-INVOICING</a:t>
            </a:r>
            <a:endParaRPr lang="en-US" sz="1200" dirty="0"/>
          </a:p>
        </p:txBody>
      </p:sp>
      <p:sp>
        <p:nvSpPr>
          <p:cNvPr id="7" name="Text 5"/>
          <p:cNvSpPr/>
          <p:nvPr/>
        </p:nvSpPr>
        <p:spPr>
          <a:xfrm>
            <a:off x="6299200" y="2169021"/>
            <a:ext cx="5232400" cy="1180802"/>
          </a:xfrm>
          <a:prstGeom prst="rect">
            <a:avLst/>
          </a:prstGeom>
          <a:noFill/>
          <a:ln/>
        </p:spPr>
        <p:txBody>
          <a:bodyPr wrap="square" lIns="0" tIns="0" rIns="0" bIns="0" rtlCol="0" anchor="t">
            <a:normAutofit/>
          </a:bodyPr>
          <a:lstStyle/>
          <a:p>
            <a:pPr algn="l" marL="198120" indent="-168656">
              <a:lnSpc>
                <a:spcPts val="1820"/>
              </a:lnSpc>
              <a:buSzPct val="100000"/>
              <a:buChar char="•"/>
            </a:pPr>
            <a:r>
              <a:rPr lang="en-US" sz="1300" dirty="0">
                <a:solidFill>
                  <a:srgbClr val="D9E0EA"/>
                </a:solidFill>
                <a:latin typeface="IBM Plex Sans" pitchFamily="34" charset="0"/>
                <a:ea typeface="IBM Plex Sans" pitchFamily="34" charset="-122"/>
                <a:cs typeface="IBM Plex Sans" pitchFamily="34" charset="-120"/>
              </a:rPr>
              <a:t>The day-20 peak: ten-day billing cycles? Not verified.</a:t>
            </a:r>
            <a:endParaRPr lang="en-US" sz="1300" dirty="0"/>
          </a:p>
          <a:p>
            <a:pPr algn="l" marL="198120" indent="-168656">
              <a:lnSpc>
                <a:spcPts val="1820"/>
              </a:lnSpc>
              <a:buSzPct val="100000"/>
              <a:buChar char="•"/>
            </a:pPr>
            <a:r>
              <a:rPr lang="en-US" sz="1300" dirty="0">
                <a:solidFill>
                  <a:srgbClr val="D9E0EA"/>
                </a:solidFill>
                <a:latin typeface="IBM Plex Sans" pitchFamily="34" charset="0"/>
                <a:ea typeface="IBM Plex Sans" pitchFamily="34" charset="-122"/>
                <a:cs typeface="IBM Plex Sans" pitchFamily="34" charset="-120"/>
              </a:rPr>
              <a:t>Sundays 2 to 5 days before month end are 18% below a normal Sunday: unexplained.</a:t>
            </a:r>
            <a:endParaRPr lang="en-US" sz="1300" dirty="0"/>
          </a:p>
          <a:p>
            <a:pPr algn="l" marL="198120" indent="-168656">
              <a:lnSpc>
                <a:spcPts val="1820"/>
              </a:lnSpc>
              <a:buSzPct val="100000"/>
              <a:buChar char="•"/>
            </a:pPr>
            <a:r>
              <a:rPr lang="en-US" sz="1300" dirty="0">
                <a:solidFill>
                  <a:srgbClr val="D9E0EA"/>
                </a:solidFill>
                <a:latin typeface="IBM Plex Sans" pitchFamily="34" charset="0"/>
                <a:ea typeface="IBM Plex Sans" pitchFamily="34" charset="-122"/>
                <a:cs typeface="IBM Plex Sans" pitchFamily="34" charset="-120"/>
              </a:rPr>
              <a:t>Outliers on the first Sundays of February 2019 and 2020 (about +220%).</a:t>
            </a:r>
            <a:endParaRPr lang="en-US" sz="1300" dirty="0"/>
          </a:p>
        </p:txBody>
      </p:sp>
      <p:sp>
        <p:nvSpPr>
          <p:cNvPr id="8" name="Text 6"/>
          <p:cNvSpPr/>
          <p:nvPr/>
        </p:nvSpPr>
        <p:spPr>
          <a:xfrm>
            <a:off x="812800" y="3629223"/>
            <a:ext cx="4020364" cy="381000"/>
          </a:xfrm>
          <a:prstGeom prst="rect">
            <a:avLst/>
          </a:prstGeom>
          <a:noFill/>
          <a:ln/>
        </p:spPr>
        <p:txBody>
          <a:bodyPr wrap="square" lIns="0" tIns="0" rIns="0" bIns="0" rtlCol="0" anchor="t">
            <a:normAutofit/>
          </a:bodyPr>
          <a:lstStyle/>
          <a:p>
            <a:pPr algn="l" indent="0" marL="0">
              <a:lnSpc>
                <a:spcPts val="2800"/>
              </a:lnSpc>
              <a:buNone/>
            </a:pPr>
            <a:r>
              <a:rPr lang="en-US" sz="2000" i="1" dirty="0">
                <a:solidFill>
                  <a:srgbClr val="F3EFE6"/>
                </a:solidFill>
                <a:latin typeface="Source Serif 4" pitchFamily="34" charset="0"/>
                <a:ea typeface="Source Serif 4" pitchFamily="34" charset="-122"/>
                <a:cs typeface="Source Serif 4" pitchFamily="34" charset="-120"/>
              </a:rPr>
              <a:t>Thank you. Questions are welcome.</a:t>
            </a:r>
            <a:endParaRPr lang="en-US" sz="2000" dirty="0"/>
          </a:p>
        </p:txBody>
      </p:sp>
      <p:sp>
        <p:nvSpPr>
          <p:cNvPr id="9" name="Text 7"/>
          <p:cNvSpPr/>
          <p:nvPr/>
        </p:nvSpPr>
        <p:spPr>
          <a:xfrm>
            <a:off x="4919266" y="3737173"/>
            <a:ext cx="11360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[contact e-mail]</a:t>
            </a:r>
            <a:endParaRPr lang="en-US" sz="12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Building a calendar for daily data</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calendars for daily seasonal adjustment</dc:title>
  <dc:subject>PptxGenJS Presentation</dc:subject>
  <dc:creator>PptxGenJS</dc:creator>
  <cp:lastModifiedBy>PptxGenJS</cp:lastModifiedBy>
  <cp:revision>1</cp:revision>
  <dcterms:created xsi:type="dcterms:W3CDTF">2026-09-26T13:16:22Z</dcterms:created>
  <dcterms:modified xsi:type="dcterms:W3CDTF">2026-09-26T13:16:22Z</dcterms:modified>
</cp:coreProperties>
</file>